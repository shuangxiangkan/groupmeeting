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58" r:id="rId3"/>
    <p:sldId id="260" r:id="rId4"/>
    <p:sldId id="274" r:id="rId5"/>
    <p:sldId id="275" r:id="rId6"/>
    <p:sldId id="262" r:id="rId7"/>
    <p:sldId id="263" r:id="rId8"/>
    <p:sldId id="273" r:id="rId9"/>
    <p:sldId id="269" r:id="rId10"/>
    <p:sldId id="270" r:id="rId11"/>
    <p:sldId id="271" r:id="rId12"/>
    <p:sldId id="259" r:id="rId13"/>
    <p:sldId id="272" r:id="rId14"/>
  </p:sldIdLst>
  <p:sldSz cx="6153150" cy="3460750"/>
  <p:notesSz cx="4610100" cy="34607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E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86"/>
    <p:restoredTop sz="59567"/>
  </p:normalViewPr>
  <p:slideViewPr>
    <p:cSldViewPr>
      <p:cViewPr>
        <p:scale>
          <a:sx n="146" d="100"/>
          <a:sy n="146" d="100"/>
        </p:scale>
        <p:origin x="2152" y="176"/>
      </p:cViewPr>
      <p:guideLst>
        <p:guide orient="horz" pos="2880"/>
        <p:guide pos="2883"/>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94083B-95B3-1DEF-582C-F5F4DB754BF0}"/>
              </a:ext>
            </a:extLst>
          </p:cNvPr>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A4E38F3-456B-719D-9543-DFF262B7947A}"/>
              </a:ext>
            </a:extLst>
          </p:cNvPr>
          <p:cNvSpPr>
            <a:spLocks noGrp="1"/>
          </p:cNvSpPr>
          <p:nvPr>
            <p:ph type="dt" sz="quarter" idx="1"/>
          </p:nvPr>
        </p:nvSpPr>
        <p:spPr>
          <a:xfrm>
            <a:off x="2611438" y="0"/>
            <a:ext cx="1997075" cy="173038"/>
          </a:xfrm>
          <a:prstGeom prst="rect">
            <a:avLst/>
          </a:prstGeom>
        </p:spPr>
        <p:txBody>
          <a:bodyPr vert="horz" lIns="91440" tIns="45720" rIns="91440" bIns="45720" rtlCol="0"/>
          <a:lstStyle>
            <a:lvl1pPr algn="r">
              <a:defRPr sz="1200"/>
            </a:lvl1pPr>
          </a:lstStyle>
          <a:p>
            <a:fld id="{D0A070BE-55C5-F542-AB00-859A9749F3AC}" type="datetimeFigureOut">
              <a:rPr lang="en-US" smtClean="0"/>
              <a:t>10/18/25</a:t>
            </a:fld>
            <a:endParaRPr lang="en-US"/>
          </a:p>
        </p:txBody>
      </p:sp>
      <p:sp>
        <p:nvSpPr>
          <p:cNvPr id="4" name="Footer Placeholder 3">
            <a:extLst>
              <a:ext uri="{FF2B5EF4-FFF2-40B4-BE49-F238E27FC236}">
                <a16:creationId xmlns:a16="http://schemas.microsoft.com/office/drawing/2014/main" id="{972B0B47-FF27-77E8-6551-73963D6B5BC6}"/>
              </a:ext>
            </a:extLst>
          </p:cNvPr>
          <p:cNvSpPr>
            <a:spLocks noGrp="1"/>
          </p:cNvSpPr>
          <p:nvPr>
            <p:ph type="ftr" sz="quarter" idx="2"/>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CAE2C82-4765-4F41-69BB-3DEAD772B0EE}"/>
              </a:ext>
            </a:extLst>
          </p:cNvPr>
          <p:cNvSpPr>
            <a:spLocks noGrp="1"/>
          </p:cNvSpPr>
          <p:nvPr>
            <p:ph type="sldNum" sz="quarter" idx="3"/>
          </p:nvPr>
        </p:nvSpPr>
        <p:spPr>
          <a:xfrm>
            <a:off x="2611438" y="3287713"/>
            <a:ext cx="1997075" cy="173037"/>
          </a:xfrm>
          <a:prstGeom prst="rect">
            <a:avLst/>
          </a:prstGeom>
        </p:spPr>
        <p:txBody>
          <a:bodyPr vert="horz" lIns="91440" tIns="45720" rIns="91440" bIns="45720" rtlCol="0" anchor="b"/>
          <a:lstStyle>
            <a:lvl1pPr algn="r">
              <a:defRPr sz="1200"/>
            </a:lvl1pPr>
          </a:lstStyle>
          <a:p>
            <a:fld id="{91FF4E76-D277-FF44-966A-1C0BB5D378B1}" type="slidenum">
              <a:rPr lang="en-US" smtClean="0"/>
              <a:t>‹#›</a:t>
            </a:fld>
            <a:endParaRPr lang="en-US"/>
          </a:p>
        </p:txBody>
      </p:sp>
    </p:spTree>
    <p:extLst>
      <p:ext uri="{BB962C8B-B14F-4D97-AF65-F5344CB8AC3E}">
        <p14:creationId xmlns:p14="http://schemas.microsoft.com/office/powerpoint/2010/main" val="2828045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A915D385-E980-C04B-BC3C-7276C641BB80}" type="datetimeFigureOut">
              <a:rPr lang="en-US" smtClean="0"/>
              <a:t>10/18/25</a:t>
            </a:fld>
            <a:endParaRPr lang="en-US"/>
          </a:p>
        </p:txBody>
      </p:sp>
      <p:sp>
        <p:nvSpPr>
          <p:cNvPr id="4" name="Slide Image Placeholder 3"/>
          <p:cNvSpPr>
            <a:spLocks noGrp="1" noRot="1" noChangeAspect="1"/>
          </p:cNvSpPr>
          <p:nvPr>
            <p:ph type="sldImg" idx="2"/>
          </p:nvPr>
        </p:nvSpPr>
        <p:spPr>
          <a:xfrm>
            <a:off x="1268413" y="433388"/>
            <a:ext cx="2073275"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EFFEE75C-7A64-E84F-9D30-B12661672EEA}" type="slidenum">
              <a:rPr lang="en-US" smtClean="0"/>
              <a:t>‹#›</a:t>
            </a:fld>
            <a:endParaRPr lang="en-US"/>
          </a:p>
        </p:txBody>
      </p:sp>
    </p:spTree>
    <p:extLst>
      <p:ext uri="{BB962C8B-B14F-4D97-AF65-F5344CB8AC3E}">
        <p14:creationId xmlns:p14="http://schemas.microsoft.com/office/powerpoint/2010/main" val="35693057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Good afternoon everyone. Today I’m going to present our paper, </a:t>
            </a:r>
            <a:r>
              <a:rPr lang="en-AU" sz="1200" i="1" kern="1200" dirty="0">
                <a:solidFill>
                  <a:schemeClr val="tx1"/>
                </a:solidFill>
                <a:effectLst/>
                <a:latin typeface="+mn-lt"/>
                <a:ea typeface="+mn-ea"/>
                <a:cs typeface="+mn-cs"/>
              </a:rPr>
              <a:t>Efficient Abstract Interpretation via Selective Widening</a:t>
            </a:r>
            <a:r>
              <a:rPr lang="en-AU" sz="1200" kern="1200" dirty="0">
                <a:solidFill>
                  <a:schemeClr val="tx1"/>
                </a:solidFill>
                <a:effectLst/>
                <a:latin typeface="+mn-lt"/>
                <a:ea typeface="+mn-ea"/>
                <a:cs typeface="+mn-cs"/>
              </a:rPr>
              <a:t>, joint work with Xiao and </a:t>
            </a:r>
            <a:r>
              <a:rPr lang="en-AU" sz="1200" kern="1200" dirty="0" err="1">
                <a:solidFill>
                  <a:schemeClr val="tx1"/>
                </a:solidFill>
                <a:effectLst/>
                <a:latin typeface="+mn-lt"/>
                <a:ea typeface="+mn-ea"/>
                <a:cs typeface="+mn-cs"/>
              </a:rPr>
              <a:t>Yulei</a:t>
            </a:r>
            <a:r>
              <a:rPr lang="en-AU" sz="1200" kern="1200" dirty="0">
                <a:solidFill>
                  <a:schemeClr val="tx1"/>
                </a:solidFill>
                <a:effectLst/>
                <a:latin typeface="+mn-lt"/>
                <a:ea typeface="+mn-ea"/>
                <a:cs typeface="+mn-cs"/>
              </a:rPr>
              <a:t>.</a:t>
            </a:r>
          </a:p>
          <a:p>
            <a:r>
              <a:rPr lang="en-AU" sz="1200" kern="1200" dirty="0">
                <a:solidFill>
                  <a:schemeClr val="tx1"/>
                </a:solidFill>
                <a:effectLst/>
                <a:latin typeface="+mn-lt"/>
                <a:ea typeface="+mn-ea"/>
                <a:cs typeface="+mn-cs"/>
              </a:rPr>
              <a:t>In this paper, we propose a selective widening strategy guided by value-flow analysis, reducing time consumption while preserving precision. </a:t>
            </a:r>
          </a:p>
          <a:p>
            <a:r>
              <a:rPr lang="en-AU"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EFFEE75C-7A64-E84F-9D30-B12661672EEA}" type="slidenum">
              <a:rPr lang="en-US" smtClean="0"/>
              <a:t>1</a:t>
            </a:fld>
            <a:endParaRPr lang="en-US"/>
          </a:p>
        </p:txBody>
      </p:sp>
    </p:spTree>
    <p:extLst>
      <p:ext uri="{BB962C8B-B14F-4D97-AF65-F5344CB8AC3E}">
        <p14:creationId xmlns:p14="http://schemas.microsoft.com/office/powerpoint/2010/main" val="888080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Abstract interpretation is a framework for static analysis</a:t>
            </a:r>
            <a:r>
              <a:rPr lang="zh-CN" altLang="en-US" sz="1200" kern="1200" dirty="0">
                <a:solidFill>
                  <a:schemeClr val="tx1"/>
                </a:solidFill>
                <a:effectLst/>
                <a:latin typeface="+mn-lt"/>
                <a:ea typeface="+mn-ea"/>
                <a:cs typeface="+mn-cs"/>
              </a:rPr>
              <a:t> </a:t>
            </a:r>
            <a:r>
              <a:rPr lang="en-AU" altLang="zh-CN" sz="1200" kern="1200" dirty="0">
                <a:solidFill>
                  <a:schemeClr val="tx1"/>
                </a:solidFill>
                <a:effectLst/>
                <a:latin typeface="+mn-lt"/>
                <a:ea typeface="+mn-ea"/>
                <a:cs typeface="+mn-cs"/>
              </a:rPr>
              <a:t>to infer over-approximate program </a:t>
            </a:r>
            <a:r>
              <a:rPr lang="en-AU" altLang="zh-CN" sz="1200" kern="1200" dirty="0" err="1">
                <a:solidFill>
                  <a:schemeClr val="tx1"/>
                </a:solidFill>
                <a:effectLst/>
                <a:latin typeface="+mn-lt"/>
                <a:ea typeface="+mn-ea"/>
                <a:cs typeface="+mn-cs"/>
              </a:rPr>
              <a:t>behaviors</a:t>
            </a:r>
            <a:r>
              <a:rPr lang="en-AU" altLang="zh-CN" sz="1200" kern="1200" dirty="0">
                <a:solidFill>
                  <a:schemeClr val="tx1"/>
                </a:solidFill>
                <a:effectLst/>
                <a:latin typeface="+mn-lt"/>
                <a:ea typeface="+mn-ea"/>
                <a:cs typeface="+mn-cs"/>
              </a:rPr>
              <a:t>.</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The widening operation plays a key role here.  we put the definition for interval widening.</a:t>
            </a:r>
            <a:r>
              <a:rPr lang="en-US" sz="1200" kern="1200" dirty="0">
                <a:solidFill>
                  <a:schemeClr val="tx1"/>
                </a:solidFill>
                <a:effectLst/>
                <a:latin typeface="+mn-lt"/>
                <a:ea typeface="+mn-ea"/>
                <a:cs typeface="+mn-cs"/>
              </a:rPr>
              <a:t> According to this definition. </a:t>
            </a:r>
            <a:r>
              <a:rPr lang="en-AU" sz="1200" kern="1200" dirty="0">
                <a:solidFill>
                  <a:schemeClr val="tx1"/>
                </a:solidFill>
                <a:effectLst/>
                <a:latin typeface="+mn-lt"/>
                <a:ea typeface="+mn-ea"/>
                <a:cs typeface="+mn-cs"/>
              </a:rPr>
              <a:t>The value could extend to infinity in one step. So the widening helps the analysis to reach the fixpoint and terminate quickly, and safely over-approximating the program’s behaviour.</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problem is , in real</a:t>
            </a:r>
            <a:r>
              <a:rPr lang="en-US" altLang="zh-CN"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world programming,  we find large amount of redundant widenings that result in computational overhead.</a:t>
            </a:r>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(Animation 1)</a:t>
            </a:r>
          </a:p>
          <a:p>
            <a:r>
              <a:rPr lang="en-US" sz="1200" kern="1200" dirty="0">
                <a:solidFill>
                  <a:schemeClr val="tx1"/>
                </a:solidFill>
                <a:effectLst/>
                <a:latin typeface="+mn-lt"/>
                <a:ea typeface="+mn-ea"/>
                <a:cs typeface="+mn-cs"/>
              </a:rPr>
              <a:t>Example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loop l3/l6 – current loc l3 – trace 5 variables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AU" altLang="zh-CN" sz="1200" kern="1200" dirty="0">
                <a:solidFill>
                  <a:schemeClr val="tx1"/>
                </a:solidFill>
                <a:effectLst/>
                <a:latin typeface="+mn-lt"/>
                <a:ea typeface="+mn-ea"/>
                <a:cs typeface="+mn-cs"/>
              </a:rPr>
              <a:t>l3: </a:t>
            </a:r>
            <a:r>
              <a:rPr lang="en-AU" altLang="zh-CN" sz="1200" kern="1200" dirty="0" err="1">
                <a:solidFill>
                  <a:schemeClr val="tx1"/>
                </a:solidFill>
                <a:effectLst/>
                <a:latin typeface="+mn-lt"/>
                <a:ea typeface="+mn-ea"/>
                <a:cs typeface="+mn-cs"/>
              </a:rPr>
              <a:t>cmp</a:t>
            </a:r>
            <a:r>
              <a:rPr lang="en-AU" altLang="zh-CN" sz="1200" kern="1200" dirty="0">
                <a:solidFill>
                  <a:schemeClr val="tx1"/>
                </a:solidFill>
                <a:effectLst/>
                <a:latin typeface="+mn-lt"/>
                <a:ea typeface="+mn-ea"/>
                <a:cs typeface="+mn-cs"/>
              </a:rPr>
              <a:t> </a:t>
            </a:r>
            <a:r>
              <a:rPr lang="en-AU" altLang="zh-CN" sz="1200" kern="1200" dirty="0" err="1">
                <a:solidFill>
                  <a:schemeClr val="tx1"/>
                </a:solidFill>
                <a:effectLst/>
                <a:latin typeface="+mn-lt"/>
                <a:ea typeface="+mn-ea"/>
                <a:cs typeface="+mn-cs"/>
              </a:rPr>
              <a:t>stmt</a:t>
            </a:r>
            <a:r>
              <a:rPr lang="en-AU" altLang="zh-CN" sz="1200" kern="1200" dirty="0">
                <a:solidFill>
                  <a:schemeClr val="tx1"/>
                </a:solidFill>
                <a:effectLst/>
                <a:latin typeface="+mn-lt"/>
                <a:ea typeface="+mn-ea"/>
                <a:cs typeface="+mn-cs"/>
              </a:rPr>
              <a:t> – analyse every instruction inside the loop during the iteration, in the first 3 iter value grow</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in order to reach the fixpoint earlier</a:t>
            </a:r>
            <a:r>
              <a:rPr lang="en-AU" altLang="zh-CN" sz="1200" kern="1200" dirty="0">
                <a:solidFill>
                  <a:schemeClr val="tx1"/>
                </a:solidFill>
                <a:effectLst/>
                <a:latin typeface="+mn-lt"/>
                <a:ea typeface="+mn-ea"/>
                <a:cs typeface="+mn-cs"/>
              </a:rPr>
              <a:t> – apply widen btw 2 traces – 5 interval in one trace – one widening operation is for one interval pair --so 5 widening. -&gt; some extend to infinity. – compare to previous trace , not </a:t>
            </a:r>
            <a:r>
              <a:rPr lang="en-AU" altLang="zh-CN" sz="1200" kern="1200" dirty="0" err="1">
                <a:solidFill>
                  <a:schemeClr val="tx1"/>
                </a:solidFill>
                <a:effectLst/>
                <a:latin typeface="+mn-lt"/>
                <a:ea typeface="+mn-ea"/>
                <a:cs typeface="+mn-cs"/>
              </a:rPr>
              <a:t>equivilant</a:t>
            </a:r>
            <a:r>
              <a:rPr lang="en-AU" altLang="zh-CN" sz="1200" kern="1200" dirty="0">
                <a:solidFill>
                  <a:schemeClr val="tx1"/>
                </a:solidFill>
                <a:effectLst/>
                <a:latin typeface="+mn-lt"/>
                <a:ea typeface="+mn-ea"/>
                <a:cs typeface="+mn-cs"/>
              </a:rPr>
              <a:t>, not fixpoint – </a:t>
            </a:r>
            <a:r>
              <a:rPr lang="en-AU" altLang="zh-CN" sz="1200" kern="1200" dirty="0" err="1">
                <a:solidFill>
                  <a:schemeClr val="tx1"/>
                </a:solidFill>
                <a:effectLst/>
                <a:latin typeface="+mn-lt"/>
                <a:ea typeface="+mn-ea"/>
                <a:cs typeface="+mn-cs"/>
              </a:rPr>
              <a:t>analyze</a:t>
            </a:r>
            <a:r>
              <a:rPr lang="en-AU" altLang="zh-CN" sz="1200" kern="1200" dirty="0">
                <a:solidFill>
                  <a:schemeClr val="tx1"/>
                </a:solidFill>
                <a:effectLst/>
                <a:latin typeface="+mn-lt"/>
                <a:ea typeface="+mn-ea"/>
                <a:cs typeface="+mn-cs"/>
              </a:rPr>
              <a:t> one more loop iteration </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(Animation 2)</a:t>
            </a: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zh-CN" sz="1200" kern="1200" dirty="0">
                <a:solidFill>
                  <a:schemeClr val="tx1"/>
                </a:solidFill>
                <a:effectLst/>
                <a:latin typeface="+mn-lt"/>
                <a:ea typeface="+mn-ea"/>
                <a:cs typeface="+mn-cs"/>
              </a:rPr>
              <a:t>widen</a:t>
            </a:r>
            <a:r>
              <a:rPr lang="zh-CN" altLang="en-US" sz="1200" kern="1200" dirty="0">
                <a:solidFill>
                  <a:schemeClr val="tx1"/>
                </a:solidFill>
                <a:effectLst/>
                <a:latin typeface="+mn-lt"/>
                <a:ea typeface="+mn-ea"/>
                <a:cs typeface="+mn-cs"/>
              </a:rPr>
              <a:t> </a:t>
            </a:r>
            <a:r>
              <a:rPr lang="en-AU" altLang="zh-CN" sz="1200" kern="1200" dirty="0">
                <a:solidFill>
                  <a:schemeClr val="tx1"/>
                </a:solidFill>
                <a:effectLst/>
                <a:latin typeface="+mn-lt"/>
                <a:ea typeface="+mn-ea"/>
                <a:cs typeface="+mn-cs"/>
              </a:rPr>
              <a:t>again – </a:t>
            </a:r>
            <a:r>
              <a:rPr lang="en-AU" altLang="zh-CN" sz="1200" kern="1200" dirty="0" err="1">
                <a:solidFill>
                  <a:schemeClr val="tx1"/>
                </a:solidFill>
                <a:effectLst/>
                <a:latin typeface="+mn-lt"/>
                <a:ea typeface="+mn-ea"/>
                <a:cs typeface="+mn-cs"/>
              </a:rPr>
              <a:t>stablises</a:t>
            </a:r>
            <a:r>
              <a:rPr lang="en-AU"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equivilant</a:t>
            </a:r>
            <a:r>
              <a:rPr lang="en-US" altLang="zh-CN" sz="1200" kern="1200" dirty="0">
                <a:solidFill>
                  <a:schemeClr val="tx1"/>
                </a:solidFill>
                <a:effectLst/>
                <a:latin typeface="+mn-lt"/>
                <a:ea typeface="+mn-ea"/>
                <a:cs typeface="+mn-cs"/>
              </a:rPr>
              <a:t> to previous one – fixpoint – termination.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(Animation 3)</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we call it state-wise widening strategy. 10 widenings are performed under state-wise strategy.</a:t>
            </a:r>
            <a:r>
              <a:rPr lang="zh-CN" altLang="en-US" sz="1200" kern="1200" dirty="0">
                <a:solidFill>
                  <a:schemeClr val="tx1"/>
                </a:solidFill>
                <a:effectLst/>
                <a:latin typeface="+mn-lt"/>
                <a:ea typeface="+mn-ea"/>
                <a:cs typeface="+mn-cs"/>
              </a:rPr>
              <a:t> </a:t>
            </a:r>
            <a:r>
              <a:rPr lang="en-AU" altLang="zh-CN" sz="1200" kern="1200" dirty="0">
                <a:solidFill>
                  <a:schemeClr val="tx1"/>
                </a:solidFill>
                <a:effectLst/>
                <a:latin typeface="+mn-lt"/>
                <a:ea typeface="+mn-ea"/>
                <a:cs typeface="+mn-cs"/>
              </a:rPr>
              <a:t>B</a:t>
            </a:r>
            <a:r>
              <a:rPr lang="en-AU" sz="1200" kern="1200" dirty="0">
                <a:solidFill>
                  <a:schemeClr val="tx1"/>
                </a:solidFill>
                <a:effectLst/>
                <a:latin typeface="+mn-lt"/>
                <a:ea typeface="+mn-ea"/>
                <a:cs typeface="+mn-cs"/>
              </a:rPr>
              <a:t>ecause the size of widening ties to the whole program size, state-wise strategy results in redundant widening in every loop. Of course, State-wise strategy can ensure the soundness, </a:t>
            </a:r>
            <a:r>
              <a:rPr lang="en-AU" sz="1200" kern="1200" dirty="0" err="1">
                <a:solidFill>
                  <a:schemeClr val="tx1"/>
                </a:solidFill>
                <a:effectLst/>
                <a:latin typeface="+mn-lt"/>
                <a:ea typeface="+mn-ea"/>
                <a:cs typeface="+mn-cs"/>
              </a:rPr>
              <a:t>bu</a:t>
            </a:r>
            <a:r>
              <a:rPr lang="en-AU" sz="1200" kern="1200" dirty="0">
                <a:solidFill>
                  <a:schemeClr val="tx1"/>
                </a:solidFill>
                <a:effectLst/>
                <a:latin typeface="+mn-lt"/>
                <a:ea typeface="+mn-ea"/>
                <a:cs typeface="+mn-cs"/>
              </a:rPr>
              <a:t> accumulated redundant widening operations waste a significant amount of time.</a:t>
            </a:r>
            <a:r>
              <a:rPr lang="zh-CN" altLang="en-US" sz="1200"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FFEE75C-7A64-E84F-9D30-B12661672EEA}" type="slidenum">
              <a:rPr lang="en-US" smtClean="0"/>
              <a:t>2</a:t>
            </a:fld>
            <a:endParaRPr lang="en-US"/>
          </a:p>
        </p:txBody>
      </p:sp>
    </p:spTree>
    <p:extLst>
      <p:ext uri="{BB962C8B-B14F-4D97-AF65-F5344CB8AC3E}">
        <p14:creationId xmlns:p14="http://schemas.microsoft.com/office/powerpoint/2010/main" val="3125762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In another work, </a:t>
            </a:r>
            <a:r>
              <a:rPr lang="en-AU" sz="1200" b="1" kern="1200" dirty="0">
                <a:solidFill>
                  <a:schemeClr val="tx1"/>
                </a:solidFill>
                <a:effectLst/>
                <a:latin typeface="+mn-lt"/>
                <a:ea typeface="+mn-ea"/>
                <a:cs typeface="+mn-cs"/>
              </a:rPr>
              <a:t>CSA</a:t>
            </a:r>
            <a:r>
              <a:rPr lang="en-AU" sz="1200" kern="1200" dirty="0">
                <a:solidFill>
                  <a:schemeClr val="tx1"/>
                </a:solidFill>
                <a:effectLst/>
                <a:latin typeface="+mn-lt"/>
                <a:ea typeface="+mn-ea"/>
                <a:cs typeface="+mn-cs"/>
              </a:rPr>
              <a:t> or </a:t>
            </a:r>
            <a:r>
              <a:rPr lang="en-AU" sz="1200" b="1" kern="1200" dirty="0">
                <a:solidFill>
                  <a:schemeClr val="tx1"/>
                </a:solidFill>
                <a:effectLst/>
                <a:latin typeface="+mn-lt"/>
                <a:ea typeface="+mn-ea"/>
                <a:cs typeface="+mn-cs"/>
              </a:rPr>
              <a:t>Cross Domain Sparse Abstract Interpretation,</a:t>
            </a:r>
            <a:r>
              <a:rPr lang="en-AU" altLang="zh-CN" sz="1200" kern="1200" dirty="0">
                <a:solidFill>
                  <a:schemeClr val="tx1"/>
                </a:solidFill>
                <a:effectLst/>
                <a:latin typeface="+mn-lt"/>
                <a:ea typeface="+mn-ea"/>
                <a:cs typeface="+mn-cs"/>
              </a:rPr>
              <a:t> uses Inter-procedural Value Flow Graph or IVFG to propagate abstract states along def-use chains.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&lt;</a:t>
            </a:r>
            <a:r>
              <a:rPr lang="en-AU" sz="1200" kern="1200" dirty="0">
                <a:solidFill>
                  <a:schemeClr val="tx1"/>
                </a:solidFill>
                <a:effectLst/>
                <a:latin typeface="+mn-lt"/>
                <a:ea typeface="+mn-ea"/>
                <a:cs typeface="+mn-cs"/>
              </a:rPr>
              <a:t>Introduce node – introduce edge&gt;</a:t>
            </a:r>
            <a:endParaRPr lang="en-AU"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zh-CN" sz="1200" kern="1200" dirty="0">
                <a:solidFill>
                  <a:schemeClr val="tx1"/>
                </a:solidFill>
                <a:effectLst/>
                <a:latin typeface="+mn-lt"/>
                <a:ea typeface="+mn-ea"/>
                <a:cs typeface="+mn-cs"/>
              </a:rPr>
              <a:t>Let's see how CSA handle loops, it perform widening exclusively on CFG-loop defined variables, illustrated in blue circle.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CSA</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widens all variables inside loop (blue circle)– smaller, 4 vars.</a:t>
            </a:r>
            <a:endParaRPr lang="en-AU"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altLang="zh-CN" sz="1200" kern="1200" dirty="0">
                <a:solidFill>
                  <a:schemeClr val="tx1"/>
                </a:solidFill>
                <a:effectLst/>
                <a:latin typeface="+mn-lt"/>
                <a:ea typeface="+mn-ea"/>
                <a:cs typeface="+mn-cs"/>
              </a:rPr>
              <a:t>e.g. </a:t>
            </a:r>
            <a:r>
              <a:rPr lang="en-AU" sz="1200" kern="1200" dirty="0">
                <a:solidFill>
                  <a:schemeClr val="tx1"/>
                </a:solidFill>
                <a:effectLst/>
                <a:latin typeface="+mn-lt"/>
                <a:ea typeface="+mn-ea"/>
                <a:cs typeface="+mn-cs"/>
              </a:rPr>
              <a:t>y @l5 defined inside the loop, k@ l2 is not inside the loop.</a:t>
            </a:r>
          </a:p>
          <a:p>
            <a:endParaRPr lang="en-AU" altLang="zh-CN"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1) k is removed.</a:t>
            </a:r>
          </a:p>
          <a:p>
            <a:r>
              <a:rPr lang="en-AU" sz="1200" kern="1200" dirty="0">
                <a:solidFill>
                  <a:schemeClr val="tx1"/>
                </a:solidFill>
                <a:effectLst/>
                <a:latin typeface="+mn-lt"/>
                <a:ea typeface="+mn-ea"/>
                <a:cs typeface="+mn-cs"/>
              </a:rPr>
              <a:t>8 widenings – better than state-wise – not efficient - CSA does not fully utilize the potentials of IVFG, it mainly focus on </a:t>
            </a:r>
            <a:r>
              <a:rPr lang="en-US" sz="1200" kern="1200" dirty="0">
                <a:solidFill>
                  <a:schemeClr val="tx1"/>
                </a:solidFill>
                <a:effectLst/>
                <a:latin typeface="+mn-lt"/>
                <a:ea typeface="+mn-ea"/>
                <a:cs typeface="+mn-cs"/>
              </a:rPr>
              <a:t>reducing </a:t>
            </a:r>
            <a:r>
              <a:rPr lang="en-AU" sz="1200" i="1" kern="1200" dirty="0">
                <a:solidFill>
                  <a:schemeClr val="tx1"/>
                </a:solidFill>
                <a:effectLst/>
                <a:latin typeface="+mn-lt"/>
                <a:ea typeface="+mn-ea"/>
                <a:cs typeface="+mn-cs"/>
              </a:rPr>
              <a:t>the cost of propagating data-flow fact</a:t>
            </a:r>
            <a:r>
              <a:rPr lang="en-US" sz="1200" kern="1200" dirty="0">
                <a:solidFill>
                  <a:schemeClr val="tx1"/>
                </a:solidFill>
                <a:effectLst/>
                <a:latin typeface="+mn-lt"/>
                <a:ea typeface="+mn-ea"/>
                <a:cs typeface="+mn-cs"/>
              </a:rPr>
              <a:t>, instead of loop analysis. </a:t>
            </a:r>
          </a:p>
          <a:p>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FFEE75C-7A64-E84F-9D30-B12661672EEA}" type="slidenum">
              <a:rPr lang="en-US" smtClean="0"/>
              <a:t>3</a:t>
            </a:fld>
            <a:endParaRPr lang="en-US"/>
          </a:p>
        </p:txBody>
      </p:sp>
    </p:spTree>
    <p:extLst>
      <p:ext uri="{BB962C8B-B14F-4D97-AF65-F5344CB8AC3E}">
        <p14:creationId xmlns:p14="http://schemas.microsoft.com/office/powerpoint/2010/main" val="3054717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A121C-D115-8925-1A58-73829CDFA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F3FC8-DD3C-58E6-C891-0F7F97B9C856}"/>
              </a:ext>
            </a:extLst>
          </p:cNvPr>
          <p:cNvSpPr>
            <a:spLocks noGrp="1" noRot="1" noChangeAspect="1"/>
          </p:cNvSpPr>
          <p:nvPr>
            <p:ph type="sldImg"/>
          </p:nvPr>
        </p:nvSpPr>
        <p:spPr>
          <a:xfrm>
            <a:off x="1268413" y="433388"/>
            <a:ext cx="2073275" cy="1166812"/>
          </a:xfrm>
        </p:spPr>
      </p:sp>
      <p:sp>
        <p:nvSpPr>
          <p:cNvPr id="3" name="Notes Placeholder 2">
            <a:extLst>
              <a:ext uri="{FF2B5EF4-FFF2-40B4-BE49-F238E27FC236}">
                <a16:creationId xmlns:a16="http://schemas.microsoft.com/office/drawing/2014/main" id="{2BC064DD-1034-14FA-3EBD-3B421C14B88E}"/>
              </a:ext>
            </a:extLst>
          </p:cNvPr>
          <p:cNvSpPr>
            <a:spLocks noGrp="1"/>
          </p:cNvSpPr>
          <p:nvPr>
            <p:ph type="body" idx="1"/>
          </p:nvPr>
        </p:nvSpPr>
        <p:spPr/>
        <p:txBody>
          <a:bodyPr/>
          <a:lstStyle/>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Can we do even more selectively</a:t>
            </a:r>
            <a:r>
              <a:rPr lang="zh-CN" altLang="en-US"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 other than the CFG-loop defined variables?</a:t>
            </a:r>
          </a:p>
          <a:p>
            <a:r>
              <a:rPr lang="en-AU" sz="1200" kern="1200" dirty="0">
                <a:solidFill>
                  <a:schemeClr val="tx1"/>
                </a:solidFill>
                <a:effectLst/>
                <a:latin typeface="+mn-lt"/>
                <a:ea typeface="+mn-ea"/>
                <a:cs typeface="+mn-cs"/>
              </a:rPr>
              <a:t>Our central idea is simple but powerful: infinite ascending chains don‘t come from control-flow loops themselves, but from cyclic data dependencies within those loops.</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We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call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these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value-flow</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cycles.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If we look at y@l5 and x@l4, we would find that the value of y is dependent on x whose value, in turn, relies on y, forming a value-flow cycle as illustrated in the yellow circle.</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and the thing is that, the ascending chains of abstract interpretation are essentially related exclusively to the variables residing in these value-flow cycles.</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1)</a:t>
            </a:r>
          </a:p>
          <a:p>
            <a:r>
              <a:rPr lang="en-AU" sz="1200" kern="1200" dirty="0">
                <a:solidFill>
                  <a:schemeClr val="tx1"/>
                </a:solidFill>
                <a:effectLst/>
                <a:latin typeface="+mn-lt"/>
                <a:ea typeface="+mn-ea"/>
                <a:cs typeface="+mn-cs"/>
              </a:rPr>
              <a:t>In another word, the variables outside the value-flow cycle, such as variable z defined at l6, is not responsible for ascending chain, because its value will always be updated by the value of x, which is in the value-flow cycle.</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It is the same regarding the loop guard at l3.</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2)</a:t>
            </a:r>
          </a:p>
          <a:p>
            <a:r>
              <a:rPr lang="en-AU" sz="1200" kern="1200" dirty="0">
                <a:solidFill>
                  <a:schemeClr val="tx1"/>
                </a:solidFill>
                <a:effectLst/>
                <a:latin typeface="+mn-lt"/>
                <a:ea typeface="+mn-ea"/>
                <a:cs typeface="+mn-cs"/>
              </a:rPr>
              <a:t>We also find that, in the value-flow cycle, only x@l4 contributes to the real widening set. </a:t>
            </a:r>
          </a:p>
          <a:p>
            <a:r>
              <a:rPr lang="en-AU" sz="1200" kern="1200" dirty="0">
                <a:solidFill>
                  <a:schemeClr val="tx1"/>
                </a:solidFill>
                <a:effectLst/>
                <a:latin typeface="+mn-lt"/>
                <a:ea typeface="+mn-ea"/>
                <a:cs typeface="+mn-cs"/>
              </a:rPr>
              <a:t>(Animation 3) </a:t>
            </a:r>
          </a:p>
          <a:p>
            <a:r>
              <a:rPr lang="en-AU" sz="1200" kern="1200" dirty="0">
                <a:solidFill>
                  <a:schemeClr val="tx1"/>
                </a:solidFill>
                <a:effectLst/>
                <a:latin typeface="+mn-lt"/>
                <a:ea typeface="+mn-ea"/>
                <a:cs typeface="+mn-cs"/>
              </a:rPr>
              <a:t>even y@l5 is redundant because it will be re-assigned and propagated through the def-use chain from x@l4 anyway </a:t>
            </a:r>
          </a:p>
          <a:p>
            <a:r>
              <a:rPr lang="en-AU" sz="1200" kern="1200" dirty="0">
                <a:solidFill>
                  <a:schemeClr val="tx1"/>
                </a:solidFill>
                <a:effectLst/>
                <a:latin typeface="+mn-lt"/>
                <a:ea typeface="+mn-ea"/>
                <a:cs typeface="+mn-cs"/>
              </a:rPr>
              <a:t>(Animation 4 5)</a:t>
            </a:r>
          </a:p>
          <a:p>
            <a:r>
              <a:rPr lang="en-AU" sz="1200" kern="1200" dirty="0">
                <a:solidFill>
                  <a:schemeClr val="tx1"/>
                </a:solidFill>
                <a:effectLst/>
                <a:latin typeface="+mn-lt"/>
                <a:ea typeface="+mn-ea"/>
                <a:cs typeface="+mn-cs"/>
              </a:rPr>
              <a:t>so we claim selective widening strategy performs only  2 widenings and preserves the precision</a:t>
            </a:r>
          </a:p>
        </p:txBody>
      </p:sp>
      <p:sp>
        <p:nvSpPr>
          <p:cNvPr id="4" name="Slide Number Placeholder 3">
            <a:extLst>
              <a:ext uri="{FF2B5EF4-FFF2-40B4-BE49-F238E27FC236}">
                <a16:creationId xmlns:a16="http://schemas.microsoft.com/office/drawing/2014/main" id="{C11AF366-A875-1CEA-D063-26F2AE204075}"/>
              </a:ext>
            </a:extLst>
          </p:cNvPr>
          <p:cNvSpPr>
            <a:spLocks noGrp="1"/>
          </p:cNvSpPr>
          <p:nvPr>
            <p:ph type="sldNum" sz="quarter" idx="5"/>
          </p:nvPr>
        </p:nvSpPr>
        <p:spPr/>
        <p:txBody>
          <a:bodyPr/>
          <a:lstStyle/>
          <a:p>
            <a:fld id="{EFFEE75C-7A64-E84F-9D30-B12661672EEA}" type="slidenum">
              <a:rPr lang="en-US" smtClean="0"/>
              <a:t>4</a:t>
            </a:fld>
            <a:endParaRPr lang="en-US"/>
          </a:p>
        </p:txBody>
      </p:sp>
    </p:spTree>
    <p:extLst>
      <p:ext uri="{BB962C8B-B14F-4D97-AF65-F5344CB8AC3E}">
        <p14:creationId xmlns:p14="http://schemas.microsoft.com/office/powerpoint/2010/main" val="2762395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F322-5343-20A1-D616-0C473EB44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9F5B1-9D0C-5106-0C24-8FA154E3E5F9}"/>
              </a:ext>
            </a:extLst>
          </p:cNvPr>
          <p:cNvSpPr>
            <a:spLocks noGrp="1" noRot="1" noChangeAspect="1"/>
          </p:cNvSpPr>
          <p:nvPr>
            <p:ph type="sldImg"/>
          </p:nvPr>
        </p:nvSpPr>
        <p:spPr>
          <a:xfrm>
            <a:off x="1268413" y="433388"/>
            <a:ext cx="2073275" cy="1166812"/>
          </a:xfrm>
        </p:spPr>
      </p:sp>
      <p:sp>
        <p:nvSpPr>
          <p:cNvPr id="3" name="Notes Placeholder 2">
            <a:extLst>
              <a:ext uri="{FF2B5EF4-FFF2-40B4-BE49-F238E27FC236}">
                <a16:creationId xmlns:a16="http://schemas.microsoft.com/office/drawing/2014/main" id="{58E99E33-3A4D-AF70-04BF-DAA3F39ADC41}"/>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(Animation 7 )</a:t>
            </a:r>
          </a:p>
          <a:p>
            <a:r>
              <a:rPr lang="en-AU" sz="1200" kern="1200" dirty="0">
                <a:solidFill>
                  <a:schemeClr val="tx1"/>
                </a:solidFill>
                <a:effectLst/>
                <a:latin typeface="+mn-lt"/>
                <a:ea typeface="+mn-ea"/>
                <a:cs typeface="+mn-cs"/>
              </a:rPr>
              <a:t> since the abstract traces produced by the two different approaches are identical when reaching the fixpoint. At the same time, we reduce the number of  widening operations from 8 to 2.</a:t>
            </a:r>
          </a:p>
        </p:txBody>
      </p:sp>
      <p:sp>
        <p:nvSpPr>
          <p:cNvPr id="4" name="Slide Number Placeholder 3">
            <a:extLst>
              <a:ext uri="{FF2B5EF4-FFF2-40B4-BE49-F238E27FC236}">
                <a16:creationId xmlns:a16="http://schemas.microsoft.com/office/drawing/2014/main" id="{99857E19-968F-DBA3-B953-896B6F476209}"/>
              </a:ext>
            </a:extLst>
          </p:cNvPr>
          <p:cNvSpPr>
            <a:spLocks noGrp="1"/>
          </p:cNvSpPr>
          <p:nvPr>
            <p:ph type="sldNum" sz="quarter" idx="5"/>
          </p:nvPr>
        </p:nvSpPr>
        <p:spPr/>
        <p:txBody>
          <a:bodyPr/>
          <a:lstStyle/>
          <a:p>
            <a:fld id="{EFFEE75C-7A64-E84F-9D30-B12661672EEA}" type="slidenum">
              <a:rPr lang="en-US" smtClean="0"/>
              <a:t>5</a:t>
            </a:fld>
            <a:endParaRPr lang="en-US"/>
          </a:p>
        </p:txBody>
      </p:sp>
    </p:spTree>
    <p:extLst>
      <p:ext uri="{BB962C8B-B14F-4D97-AF65-F5344CB8AC3E}">
        <p14:creationId xmlns:p14="http://schemas.microsoft.com/office/powerpoint/2010/main" val="25250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When it comes to value-flow cycle, naturally we think of cycle detection algorithm, and get this challenge about spurious inter-procedural cycles. In this real-world example, the source code simplified from a computer vision C library is a bit long. at line 1 and 2, we simplify the function trans() which should do some transformation, and </a:t>
            </a:r>
          </a:p>
          <a:p>
            <a:r>
              <a:rPr lang="en-AU" sz="1200" kern="1200" dirty="0">
                <a:solidFill>
                  <a:schemeClr val="tx1"/>
                </a:solidFill>
                <a:effectLst/>
                <a:latin typeface="+mn-lt"/>
                <a:ea typeface="+mn-ea"/>
                <a:cs typeface="+mn-cs"/>
              </a:rPr>
              <a:t>(Animation 1)</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You can assume there is a data flow (this dashed arrow) from x at line 1 to the result at line 2.  In terms of </a:t>
            </a:r>
            <a:r>
              <a:rPr lang="en-AU" sz="1200" kern="1200" dirty="0" err="1">
                <a:solidFill>
                  <a:schemeClr val="tx1"/>
                </a:solidFill>
                <a:effectLst/>
                <a:latin typeface="+mn-lt"/>
                <a:ea typeface="+mn-ea"/>
                <a:cs typeface="+mn-cs"/>
              </a:rPr>
              <a:t>multi_trans</a:t>
            </a:r>
            <a:r>
              <a:rPr lang="en-AU" sz="1200" kern="1200" dirty="0">
                <a:solidFill>
                  <a:schemeClr val="tx1"/>
                </a:solidFill>
                <a:effectLst/>
                <a:latin typeface="+mn-lt"/>
                <a:ea typeface="+mn-ea"/>
                <a:cs typeface="+mn-cs"/>
              </a:rPr>
              <a:t> function at line 3 to line 11.</a:t>
            </a:r>
            <a:r>
              <a:rPr lang="en-US" sz="1200" kern="1200" dirty="0">
                <a:solidFill>
                  <a:schemeClr val="tx1"/>
                </a:solidFill>
                <a:effectLst/>
                <a:latin typeface="+mn-lt"/>
                <a:ea typeface="+mn-ea"/>
                <a:cs typeface="+mn-cs"/>
              </a:rPr>
              <a:t>, we just need to focus on line 8 – line 11 which  is </a:t>
            </a:r>
            <a:r>
              <a:rPr lang="en-AU" sz="1200" kern="1200" dirty="0">
                <a:solidFill>
                  <a:schemeClr val="tx1"/>
                </a:solidFill>
                <a:effectLst/>
                <a:latin typeface="+mn-lt"/>
                <a:ea typeface="+mn-ea"/>
                <a:cs typeface="+mn-cs"/>
              </a:rPr>
              <a:t>a loop with two continuous function calls, this pattern bring about spurious cycle. Why? look at IVFG. Along with two continuous function call, </a:t>
            </a:r>
            <a:r>
              <a:rPr lang="en-US" sz="1200" kern="1200" dirty="0">
                <a:solidFill>
                  <a:schemeClr val="tx1"/>
                </a:solidFill>
                <a:effectLst/>
                <a:latin typeface="+mn-lt"/>
                <a:ea typeface="+mn-ea"/>
                <a:cs typeface="+mn-cs"/>
              </a:rPr>
              <a:t>Red and blue edges are call and return edge. 1 and 2 here means the first and second call at l9 and l10.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(Animation 2)</a:t>
            </a:r>
          </a:p>
          <a:p>
            <a:r>
              <a:rPr lang="en-AU" sz="1200" kern="1200" dirty="0">
                <a:solidFill>
                  <a:schemeClr val="tx1"/>
                </a:solidFill>
                <a:effectLst/>
                <a:latin typeface="+mn-lt"/>
                <a:ea typeface="+mn-ea"/>
                <a:cs typeface="+mn-cs"/>
              </a:rPr>
              <a:t>we apply cycle detection. some cycles are real in green circle, but others are spurious in red circle.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en-AU" altLang="zh-CN" sz="1200" kern="1200" dirty="0">
                <a:solidFill>
                  <a:schemeClr val="tx1"/>
                </a:solidFill>
                <a:effectLst/>
                <a:latin typeface="+mn-lt"/>
                <a:ea typeface="+mn-ea"/>
                <a:cs typeface="+mn-cs"/>
              </a:rPr>
              <a:t>&gt;why?</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src</a:t>
            </a:r>
            <a:r>
              <a:rPr lang="en-US" altLang="zh-CN" sz="1200" kern="1200" dirty="0">
                <a:solidFill>
                  <a:schemeClr val="tx1"/>
                </a:solidFill>
                <a:effectLst/>
                <a:latin typeface="+mn-lt"/>
                <a:ea typeface="+mn-ea"/>
                <a:cs typeface="+mn-cs"/>
              </a:rPr>
              <a:t> code,  </a:t>
            </a:r>
            <a:r>
              <a:rPr lang="en-AU" altLang="zh-CN" sz="1200" kern="1200" dirty="0">
                <a:solidFill>
                  <a:schemeClr val="tx1"/>
                </a:solidFill>
                <a:effectLst/>
                <a:latin typeface="+mn-lt"/>
                <a:ea typeface="+mn-ea"/>
                <a:cs typeface="+mn-cs"/>
              </a:rPr>
              <a:t>continuous function calls, which bring about 2 pairs of call return edges -&gt; two call return edge may mismatch in cycle detection.</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3, 4,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E.g. call 1 matches return 1, call 2 matches return 2. If call 2 mismatches return 1, this is mismatch to form spurious cycle. </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6)</a:t>
            </a:r>
          </a:p>
          <a:p>
            <a:r>
              <a:rPr lang="en-AU" sz="1200" kern="1200" dirty="0">
                <a:solidFill>
                  <a:schemeClr val="tx1"/>
                </a:solidFill>
                <a:effectLst/>
                <a:latin typeface="+mn-lt"/>
                <a:ea typeface="+mn-ea"/>
                <a:cs typeface="+mn-cs"/>
              </a:rPr>
              <a:t>Why does this matter? Because the widening set is derived from cycles in the value-flow graph. Our ultimate goal is to make the widening set as small as possible. If we include spurious cycles, the widening set becomes unnecessarily large, of course the redundant widening operations are unnecessarily huge.</a:t>
            </a:r>
          </a:p>
          <a:p>
            <a:r>
              <a:rPr lang="en-AU" sz="1200" kern="1200" dirty="0">
                <a:solidFill>
                  <a:schemeClr val="tx1"/>
                </a:solidFill>
                <a:effectLst/>
                <a:latin typeface="+mn-lt"/>
                <a:ea typeface="+mn-ea"/>
                <a:cs typeface="+mn-cs"/>
              </a:rPr>
              <a:t>One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naive</a:t>
            </a:r>
            <a:r>
              <a:rPr lang="en-AU" sz="1200" kern="1200" dirty="0">
                <a:solidFill>
                  <a:schemeClr val="tx1"/>
                </a:solidFill>
                <a:effectLst/>
                <a:latin typeface="+mn-lt"/>
                <a:ea typeface="+mn-ea"/>
                <a:cs typeface="+mn-cs"/>
              </a:rPr>
              <a:t> solution to resolve it is fully context-sensitive analysis, which guarantees call-return strict matching. But the time complexity is at exponential level due to call return matches in the call chain stack. That’s why we propose a new algorithm to handle spurious cycles efficiently. </a:t>
            </a:r>
            <a:endParaRPr lang="en-AU" dirty="0"/>
          </a:p>
        </p:txBody>
      </p:sp>
      <p:sp>
        <p:nvSpPr>
          <p:cNvPr id="4" name="Slide Number Placeholder 3"/>
          <p:cNvSpPr>
            <a:spLocks noGrp="1"/>
          </p:cNvSpPr>
          <p:nvPr>
            <p:ph type="sldNum" sz="quarter" idx="5"/>
          </p:nvPr>
        </p:nvSpPr>
        <p:spPr/>
        <p:txBody>
          <a:bodyPr/>
          <a:lstStyle/>
          <a:p>
            <a:fld id="{EFFEE75C-7A64-E84F-9D30-B12661672EEA}" type="slidenum">
              <a:rPr lang="en-US" smtClean="0"/>
              <a:t>6</a:t>
            </a:fld>
            <a:endParaRPr lang="en-US"/>
          </a:p>
        </p:txBody>
      </p:sp>
    </p:spTree>
    <p:extLst>
      <p:ext uri="{BB962C8B-B14F-4D97-AF65-F5344CB8AC3E}">
        <p14:creationId xmlns:p14="http://schemas.microsoft.com/office/powerpoint/2010/main" val="3622111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approach to challenge 1 is modular value flow graph construction.</a:t>
            </a:r>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algorithm is </a:t>
            </a:r>
            <a:r>
              <a:rPr lang="en-US" sz="1200" kern="1200" dirty="0" err="1">
                <a:solidFill>
                  <a:schemeClr val="tx1"/>
                </a:solidFill>
                <a:effectLst/>
                <a:latin typeface="+mn-lt"/>
                <a:ea typeface="+mn-ea"/>
                <a:cs typeface="+mn-cs"/>
              </a:rPr>
              <a:t>strightforward</a:t>
            </a:r>
            <a:r>
              <a:rPr lang="en-US" sz="1200" kern="1200" dirty="0">
                <a:solidFill>
                  <a:schemeClr val="tx1"/>
                </a:solidFill>
                <a:effectLst/>
                <a:latin typeface="+mn-lt"/>
                <a:ea typeface="+mn-ea"/>
                <a:cs typeface="+mn-cs"/>
              </a:rPr>
              <a:t>. we search this IVFG and get the pairs of call edge and return edge. </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1)</a:t>
            </a:r>
          </a:p>
          <a:p>
            <a:r>
              <a:rPr lang="en-US" sz="1200" kern="1200" dirty="0">
                <a:solidFill>
                  <a:schemeClr val="tx1"/>
                </a:solidFill>
                <a:effectLst/>
                <a:latin typeface="+mn-lt"/>
                <a:ea typeface="+mn-ea"/>
                <a:cs typeface="+mn-cs"/>
              </a:rPr>
              <a:t>We simplify the </a:t>
            </a:r>
            <a:r>
              <a:rPr lang="en-US" sz="1200" kern="1200" dirty="0" err="1">
                <a:solidFill>
                  <a:schemeClr val="tx1"/>
                </a:solidFill>
                <a:effectLst/>
                <a:latin typeface="+mn-lt"/>
                <a:ea typeface="+mn-ea"/>
                <a:cs typeface="+mn-cs"/>
              </a:rPr>
              <a:t>interprocedural</a:t>
            </a:r>
            <a:r>
              <a:rPr lang="en-US" sz="1200" kern="1200" dirty="0">
                <a:solidFill>
                  <a:schemeClr val="tx1"/>
                </a:solidFill>
                <a:effectLst/>
                <a:latin typeface="+mn-lt"/>
                <a:ea typeface="+mn-ea"/>
                <a:cs typeface="+mn-cs"/>
              </a:rPr>
              <a:t> data flow by removing the call and return edge pair, and introduce a new shortcut value-flow edges (the green edges).</a:t>
            </a:r>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(Animation 2 and 3)</a:t>
            </a:r>
          </a:p>
          <a:p>
            <a:r>
              <a:rPr lang="en-AU"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Okay. this is the final version of Modular value flow graph (or MVFG). There no longer exists spurious cycle, but remains the genuine cycle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line8.</a:t>
            </a:r>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widening set of loop l8-l11 is i@l8. </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EFFEE75C-7A64-E84F-9D30-B12661672EEA}" type="slidenum">
              <a:rPr lang="en-US" smtClean="0"/>
              <a:t>7</a:t>
            </a:fld>
            <a:endParaRPr lang="en-US"/>
          </a:p>
        </p:txBody>
      </p:sp>
    </p:spTree>
    <p:extLst>
      <p:ext uri="{BB962C8B-B14F-4D97-AF65-F5344CB8AC3E}">
        <p14:creationId xmlns:p14="http://schemas.microsoft.com/office/powerpoint/2010/main" val="315059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7250-DF9E-F8AA-5910-14D02E01F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2F1AE-2D08-DA8A-B8F4-C9927E2C4BA9}"/>
              </a:ext>
            </a:extLst>
          </p:cNvPr>
          <p:cNvSpPr>
            <a:spLocks noGrp="1" noRot="1" noChangeAspect="1"/>
          </p:cNvSpPr>
          <p:nvPr>
            <p:ph type="sldImg"/>
          </p:nvPr>
        </p:nvSpPr>
        <p:spPr>
          <a:xfrm>
            <a:off x="1268413" y="433388"/>
            <a:ext cx="2073275" cy="1166812"/>
          </a:xfrm>
        </p:spPr>
      </p:sp>
      <p:sp>
        <p:nvSpPr>
          <p:cNvPr id="3" name="Notes Placeholder 2">
            <a:extLst>
              <a:ext uri="{FF2B5EF4-FFF2-40B4-BE49-F238E27FC236}">
                <a16:creationId xmlns:a16="http://schemas.microsoft.com/office/drawing/2014/main" id="{187B9FCB-D5C4-7F57-F114-D7507E9D4B5B}"/>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(Animation 1)</a:t>
            </a:r>
          </a:p>
          <a:p>
            <a:r>
              <a:rPr lang="en-AU" sz="1200" kern="1200" dirty="0">
                <a:solidFill>
                  <a:schemeClr val="tx1"/>
                </a:solidFill>
                <a:effectLst/>
                <a:latin typeface="+mn-lt"/>
                <a:ea typeface="+mn-ea"/>
                <a:cs typeface="+mn-cs"/>
              </a:rPr>
              <a:t>Then we assume/ we have got all the genuine cycles. we talk about how our approach works. The analyse order is weak topological order, or WTO on Control flow graph at the right, which has a cycle from line 3 - 6. In this value flow cycle, x at line 4 and y at line 5.  We find we can/ pick the earliest definition on each value flow cycle and other elements can be broadcasted from this value. For example, Because Y at line 5 is the successor of x line 4 in control flow order, Y can be broadcasted from X. that’s why we only need to widen X , instead of widening all nodes in this cycles. </a:t>
            </a:r>
          </a:p>
          <a:p>
            <a:r>
              <a:rPr lang="en-AU" sz="1200" kern="1200" dirty="0">
                <a:solidFill>
                  <a:schemeClr val="tx1"/>
                </a:solidFill>
                <a:effectLst/>
                <a:latin typeface="+mn-lt"/>
                <a:ea typeface="+mn-ea"/>
                <a:cs typeface="+mn-cs"/>
              </a:rPr>
              <a:t>(Animation 2)</a:t>
            </a:r>
          </a:p>
          <a:p>
            <a:r>
              <a:rPr lang="en-AU" sz="1200" kern="1200" dirty="0">
                <a:solidFill>
                  <a:schemeClr val="tx1"/>
                </a:solidFill>
                <a:effectLst/>
                <a:latin typeface="+mn-lt"/>
                <a:ea typeface="+mn-ea"/>
                <a:cs typeface="+mn-cs"/>
              </a:rPr>
              <a:t>Then we compare the widening sets among all the approaches,</a:t>
            </a:r>
            <a:r>
              <a:rPr lang="en-US"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from</a:t>
            </a:r>
            <a:r>
              <a:rPr lang="en-US"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the</a:t>
            </a:r>
            <a:r>
              <a:rPr lang="en-US"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whole program</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in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the </a:t>
            </a:r>
            <a:r>
              <a:rPr lang="en-US" altLang="zh-CN" sz="1200" kern="1200" dirty="0" err="1">
                <a:solidFill>
                  <a:schemeClr val="tx1"/>
                </a:solidFill>
                <a:effectLst/>
                <a:latin typeface="+mn-lt"/>
                <a:ea typeface="+mn-ea"/>
                <a:cs typeface="+mn-cs"/>
              </a:rPr>
              <a:t>begining</a:t>
            </a:r>
            <a:r>
              <a:rPr lang="en-AU" sz="1200" kern="1200" dirty="0">
                <a:solidFill>
                  <a:schemeClr val="tx1"/>
                </a:solidFill>
                <a:effectLst/>
                <a:latin typeface="+mn-lt"/>
                <a:ea typeface="+mn-ea"/>
                <a:cs typeface="+mn-cs"/>
              </a:rPr>
              <a:t> to only one variable in the end. </a:t>
            </a:r>
          </a:p>
        </p:txBody>
      </p:sp>
      <p:sp>
        <p:nvSpPr>
          <p:cNvPr id="4" name="Slide Number Placeholder 3">
            <a:extLst>
              <a:ext uri="{FF2B5EF4-FFF2-40B4-BE49-F238E27FC236}">
                <a16:creationId xmlns:a16="http://schemas.microsoft.com/office/drawing/2014/main" id="{5BA7DF43-24A8-C6EC-4E88-93040B8FC0A2}"/>
              </a:ext>
            </a:extLst>
          </p:cNvPr>
          <p:cNvSpPr>
            <a:spLocks noGrp="1"/>
          </p:cNvSpPr>
          <p:nvPr>
            <p:ph type="sldNum" sz="quarter" idx="5"/>
          </p:nvPr>
        </p:nvSpPr>
        <p:spPr/>
        <p:txBody>
          <a:bodyPr/>
          <a:lstStyle/>
          <a:p>
            <a:fld id="{EFFEE75C-7A64-E84F-9D30-B12661672EEA}" type="slidenum">
              <a:rPr lang="en-US" smtClean="0"/>
              <a:t>8</a:t>
            </a:fld>
            <a:endParaRPr lang="en-US"/>
          </a:p>
        </p:txBody>
      </p:sp>
    </p:spTree>
    <p:extLst>
      <p:ext uri="{BB962C8B-B14F-4D97-AF65-F5344CB8AC3E}">
        <p14:creationId xmlns:p14="http://schemas.microsoft.com/office/powerpoint/2010/main" val="1292070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Then we come to evaluation, we focus on three research questions.</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First, scalability . we detected buffer overflow and </a:t>
            </a:r>
            <a:r>
              <a:rPr lang="en-AU" sz="1200" kern="1200" dirty="0" err="1">
                <a:solidFill>
                  <a:schemeClr val="tx1"/>
                </a:solidFill>
                <a:effectLst/>
                <a:latin typeface="+mn-lt"/>
                <a:ea typeface="+mn-ea"/>
                <a:cs typeface="+mn-cs"/>
              </a:rPr>
              <a:t>nullptr</a:t>
            </a:r>
            <a:r>
              <a:rPr lang="en-AU" sz="1200" kern="1200" dirty="0">
                <a:solidFill>
                  <a:schemeClr val="tx1"/>
                </a:solidFill>
                <a:effectLst/>
                <a:latin typeface="+mn-lt"/>
                <a:ea typeface="+mn-ea"/>
                <a:cs typeface="+mn-cs"/>
              </a:rPr>
              <a:t> deference bug from these projects, from small ones like md5sum to large ones like </a:t>
            </a:r>
            <a:r>
              <a:rPr lang="en-AU" sz="1200" kern="1200" dirty="0" err="1">
                <a:solidFill>
                  <a:schemeClr val="tx1"/>
                </a:solidFill>
                <a:effectLst/>
                <a:latin typeface="+mn-lt"/>
                <a:ea typeface="+mn-ea"/>
                <a:cs typeface="+mn-cs"/>
              </a:rPr>
              <a:t>redis</a:t>
            </a:r>
            <a:r>
              <a:rPr lang="en-AU" sz="1200" kern="1200" dirty="0">
                <a:solidFill>
                  <a:schemeClr val="tx1"/>
                </a:solidFill>
                <a:effectLst/>
                <a:latin typeface="+mn-lt"/>
                <a:ea typeface="+mn-ea"/>
                <a:cs typeface="+mn-cs"/>
              </a:rPr>
              <a:t>. Two key takeaways: first, our method complete much faster. Second, the number of true positives and false positives remains same to our last work CSA.</a:t>
            </a:r>
          </a:p>
          <a:p>
            <a:r>
              <a:rPr lang="en-AU" sz="1200" kern="1200" dirty="0">
                <a:solidFill>
                  <a:schemeClr val="tx1"/>
                </a:solidFill>
                <a:effectLst/>
                <a:latin typeface="+mn-lt"/>
                <a:ea typeface="+mn-ea"/>
                <a:cs typeface="+mn-cs"/>
              </a:rPr>
              <a:t>So overall, selective widening achieves a big gain in scalability, without hurting accuracy.”</a:t>
            </a:r>
          </a:p>
          <a:p>
            <a:endParaRPr lang="en-US" dirty="0"/>
          </a:p>
        </p:txBody>
      </p:sp>
      <p:sp>
        <p:nvSpPr>
          <p:cNvPr id="4" name="Slide Number Placeholder 3"/>
          <p:cNvSpPr>
            <a:spLocks noGrp="1"/>
          </p:cNvSpPr>
          <p:nvPr>
            <p:ph type="sldNum" sz="quarter" idx="5"/>
          </p:nvPr>
        </p:nvSpPr>
        <p:spPr/>
        <p:txBody>
          <a:bodyPr/>
          <a:lstStyle/>
          <a:p>
            <a:fld id="{EFFEE75C-7A64-E84F-9D30-B12661672EEA}" type="slidenum">
              <a:rPr lang="en-US" smtClean="0"/>
              <a:t>9</a:t>
            </a:fld>
            <a:endParaRPr lang="en-US"/>
          </a:p>
        </p:txBody>
      </p:sp>
    </p:spTree>
    <p:extLst>
      <p:ext uri="{BB962C8B-B14F-4D97-AF65-F5344CB8AC3E}">
        <p14:creationId xmlns:p14="http://schemas.microsoft.com/office/powerpoint/2010/main" val="1530241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For RQ2, we evaluated recall and precision on the small programs named NIST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Juliet</a:t>
            </a:r>
            <a:r>
              <a:rPr lang="en-AU" sz="1200" kern="1200" dirty="0">
                <a:solidFill>
                  <a:schemeClr val="tx1"/>
                </a:solidFill>
                <a:effectLst/>
                <a:latin typeface="+mn-lt"/>
                <a:ea typeface="+mn-ea"/>
                <a:cs typeface="+mn-cs"/>
              </a:rPr>
              <a:t> Test-Suite</a:t>
            </a:r>
            <a:r>
              <a:rPr lang="zh-CN" altLang="en-US" sz="1200"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benchmarks. In the middle, the results show that selective widening maintains high recall, and achieves precision that is same to the baselines.  The bottoms are buffer overflow and </a:t>
            </a:r>
            <a:r>
              <a:rPr lang="en-AU" sz="1200" kern="1200" dirty="0" err="1">
                <a:solidFill>
                  <a:schemeClr val="tx1"/>
                </a:solidFill>
                <a:effectLst/>
                <a:latin typeface="+mn-lt"/>
                <a:ea typeface="+mn-ea"/>
                <a:cs typeface="+mn-cs"/>
              </a:rPr>
              <a:t>nullptr</a:t>
            </a:r>
            <a:r>
              <a:rPr lang="en-AU" sz="1200" kern="1200" dirty="0">
                <a:solidFill>
                  <a:schemeClr val="tx1"/>
                </a:solidFill>
                <a:effectLst/>
                <a:latin typeface="+mn-lt"/>
                <a:ea typeface="+mn-ea"/>
                <a:cs typeface="+mn-cs"/>
              </a:rPr>
              <a:t> dereference examples, we can detect the vulnerabilities in the loops.</a:t>
            </a:r>
          </a:p>
          <a:p>
            <a:endParaRPr lang="en-US" dirty="0"/>
          </a:p>
        </p:txBody>
      </p:sp>
      <p:sp>
        <p:nvSpPr>
          <p:cNvPr id="4" name="Slide Number Placeholder 3"/>
          <p:cNvSpPr>
            <a:spLocks noGrp="1"/>
          </p:cNvSpPr>
          <p:nvPr>
            <p:ph type="sldNum" sz="quarter" idx="5"/>
          </p:nvPr>
        </p:nvSpPr>
        <p:spPr/>
        <p:txBody>
          <a:bodyPr/>
          <a:lstStyle/>
          <a:p>
            <a:fld id="{EFFEE75C-7A64-E84F-9D30-B12661672EEA}" type="slidenum">
              <a:rPr lang="en-US" smtClean="0"/>
              <a:t>10</a:t>
            </a:fld>
            <a:endParaRPr lang="en-US"/>
          </a:p>
        </p:txBody>
      </p:sp>
    </p:spTree>
    <p:extLst>
      <p:ext uri="{BB962C8B-B14F-4D97-AF65-F5344CB8AC3E}">
        <p14:creationId xmlns:p14="http://schemas.microsoft.com/office/powerpoint/2010/main" val="3333138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For RQ3, we break down the impact of each component. </a:t>
            </a:r>
          </a:p>
          <a:p>
            <a:r>
              <a:rPr lang="en-AU" sz="1200" kern="1200" dirty="0">
                <a:solidFill>
                  <a:schemeClr val="tx1"/>
                </a:solidFill>
                <a:effectLst/>
                <a:latin typeface="+mn-lt"/>
                <a:ea typeface="+mn-ea"/>
                <a:cs typeface="+mn-cs"/>
              </a:rPr>
              <a:t>(Action)</a:t>
            </a:r>
          </a:p>
          <a:p>
            <a:r>
              <a:rPr lang="en-AU" sz="1200" kern="1200" dirty="0">
                <a:solidFill>
                  <a:schemeClr val="tx1"/>
                </a:solidFill>
                <a:effectLst/>
                <a:latin typeface="+mn-lt"/>
                <a:ea typeface="+mn-ea"/>
                <a:cs typeface="+mn-cs"/>
              </a:rPr>
              <a:t> The results show that on small programs, the MVFG construction may introduce some overhead, so runtime can even be slightly slower. </a:t>
            </a:r>
          </a:p>
          <a:p>
            <a:endParaRPr lang="en-AU" sz="1200" kern="1200" dirty="0">
              <a:solidFill>
                <a:schemeClr val="tx1"/>
              </a:solidFill>
              <a:effectLst/>
              <a:latin typeface="+mn-lt"/>
              <a:ea typeface="+mn-ea"/>
              <a:cs typeface="+mn-cs"/>
            </a:endParaRPr>
          </a:p>
          <a:p>
            <a:r>
              <a:rPr lang="en-AU" sz="1200" kern="1200" dirty="0">
                <a:solidFill>
                  <a:schemeClr val="tx1"/>
                </a:solidFill>
                <a:effectLst/>
                <a:latin typeface="+mn-lt"/>
                <a:ea typeface="+mn-ea"/>
                <a:cs typeface="+mn-cs"/>
              </a:rPr>
              <a:t>(Action)</a:t>
            </a:r>
          </a:p>
          <a:p>
            <a:r>
              <a:rPr lang="en-AU" sz="1200" kern="1200" dirty="0">
                <a:solidFill>
                  <a:schemeClr val="tx1"/>
                </a:solidFill>
                <a:effectLst/>
                <a:latin typeface="+mn-lt"/>
                <a:ea typeface="+mn-ea"/>
                <a:cs typeface="+mn-cs"/>
              </a:rPr>
              <a:t>Like the speed-up ratio at the bottom right, as program size grows, the benefit becomes clear: the number of widened variables drops dramatically, and the speedup grows larger. </a:t>
            </a:r>
          </a:p>
          <a:p>
            <a:r>
              <a:rPr lang="en-AU" sz="1200" kern="1200" dirty="0">
                <a:solidFill>
                  <a:schemeClr val="tx1"/>
                </a:solidFill>
                <a:effectLst/>
                <a:latin typeface="+mn-lt"/>
                <a:ea typeface="+mn-ea"/>
                <a:cs typeface="+mn-cs"/>
              </a:rPr>
              <a:t>So overall, the method scales better as programs get larger, while still preserve precision. </a:t>
            </a:r>
          </a:p>
          <a:p>
            <a:endParaRPr lang="en-US" dirty="0"/>
          </a:p>
        </p:txBody>
      </p:sp>
      <p:sp>
        <p:nvSpPr>
          <p:cNvPr id="4" name="Slide Number Placeholder 3"/>
          <p:cNvSpPr>
            <a:spLocks noGrp="1"/>
          </p:cNvSpPr>
          <p:nvPr>
            <p:ph type="sldNum" sz="quarter" idx="5"/>
          </p:nvPr>
        </p:nvSpPr>
        <p:spPr/>
        <p:txBody>
          <a:bodyPr/>
          <a:lstStyle/>
          <a:p>
            <a:fld id="{EFFEE75C-7A64-E84F-9D30-B12661672EEA}" type="slidenum">
              <a:rPr lang="en-US" smtClean="0"/>
              <a:t>11</a:t>
            </a:fld>
            <a:endParaRPr lang="en-US"/>
          </a:p>
        </p:txBody>
      </p:sp>
    </p:spTree>
    <p:extLst>
      <p:ext uri="{BB962C8B-B14F-4D97-AF65-F5344CB8AC3E}">
        <p14:creationId xmlns:p14="http://schemas.microsoft.com/office/powerpoint/2010/main" val="35006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To conclude, our work introduces selective widening guided by value-flow analysis, which improves both efficiency and precision in abstract interpretation.</a:t>
            </a:r>
          </a:p>
          <a:p>
            <a:r>
              <a:rPr lang="en-AU" sz="1200" kern="1200" dirty="0">
                <a:solidFill>
                  <a:schemeClr val="tx1"/>
                </a:solidFill>
                <a:effectLst/>
                <a:latin typeface="+mn-lt"/>
                <a:ea typeface="+mn-ea"/>
                <a:cs typeface="+mn-cs"/>
              </a:rPr>
              <a:t>The modular value-flow graph helps us detect cycles more accurately across procedures, avoiding spurious cycles.</a:t>
            </a:r>
            <a:br>
              <a:rPr lang="en-AU" sz="1200" kern="1200" dirty="0">
                <a:solidFill>
                  <a:schemeClr val="tx1"/>
                </a:solidFill>
                <a:effectLst/>
                <a:latin typeface="+mn-lt"/>
                <a:ea typeface="+mn-ea"/>
                <a:cs typeface="+mn-cs"/>
              </a:rPr>
            </a:br>
            <a:r>
              <a:rPr lang="en-AU" sz="1200" kern="1200" dirty="0">
                <a:solidFill>
                  <a:schemeClr val="tx1"/>
                </a:solidFill>
                <a:effectLst/>
                <a:latin typeface="+mn-lt"/>
                <a:ea typeface="+mn-ea"/>
                <a:cs typeface="+mn-cs"/>
              </a:rPr>
              <a:t>Overall, the approach reduces computational overhead while preserving analysis accuracy.</a:t>
            </a:r>
          </a:p>
          <a:p>
            <a:r>
              <a:rPr lang="en-AU" sz="1200" kern="1200" dirty="0">
                <a:solidFill>
                  <a:schemeClr val="tx1"/>
                </a:solidFill>
                <a:effectLst/>
                <a:latin typeface="+mn-lt"/>
                <a:ea typeface="+mn-ea"/>
                <a:cs typeface="+mn-cs"/>
              </a:rPr>
              <a:t>In the future, an exciting direction is to extend this framework to relational domains, which could provide even greater precision.</a:t>
            </a:r>
          </a:p>
          <a:p>
            <a:endParaRPr lang="en-US" dirty="0"/>
          </a:p>
          <a:p>
            <a:endParaRPr lang="en-US" dirty="0"/>
          </a:p>
        </p:txBody>
      </p:sp>
      <p:sp>
        <p:nvSpPr>
          <p:cNvPr id="4" name="Slide Number Placeholder 3"/>
          <p:cNvSpPr>
            <a:spLocks noGrp="1"/>
          </p:cNvSpPr>
          <p:nvPr>
            <p:ph type="sldNum" sz="quarter" idx="5"/>
          </p:nvPr>
        </p:nvSpPr>
        <p:spPr/>
        <p:txBody>
          <a:bodyPr/>
          <a:lstStyle/>
          <a:p>
            <a:fld id="{EFFEE75C-7A64-E84F-9D30-B12661672EEA}" type="slidenum">
              <a:rPr lang="en-US" smtClean="0"/>
              <a:t>12</a:t>
            </a:fld>
            <a:endParaRPr lang="en-US"/>
          </a:p>
        </p:txBody>
      </p:sp>
    </p:spTree>
    <p:extLst>
      <p:ext uri="{BB962C8B-B14F-4D97-AF65-F5344CB8AC3E}">
        <p14:creationId xmlns:p14="http://schemas.microsoft.com/office/powerpoint/2010/main" val="1785060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8413" y="433388"/>
            <a:ext cx="2073275" cy="116681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tx1"/>
                </a:solidFill>
                <a:effectLst/>
                <a:latin typeface="+mn-lt"/>
                <a:ea typeface="+mn-ea"/>
                <a:cs typeface="+mn-cs"/>
              </a:rPr>
              <a:t>Thank you for your listening — I’ll be happy to take questions.</a:t>
            </a:r>
          </a:p>
          <a:p>
            <a:endParaRPr lang="en-US" dirty="0"/>
          </a:p>
        </p:txBody>
      </p:sp>
      <p:sp>
        <p:nvSpPr>
          <p:cNvPr id="4" name="Slide Number Placeholder 3"/>
          <p:cNvSpPr>
            <a:spLocks noGrp="1"/>
          </p:cNvSpPr>
          <p:nvPr>
            <p:ph type="sldNum" sz="quarter" idx="5"/>
          </p:nvPr>
        </p:nvSpPr>
        <p:spPr/>
        <p:txBody>
          <a:bodyPr/>
          <a:lstStyle/>
          <a:p>
            <a:fld id="{EFFEE75C-7A64-E84F-9D30-B12661672EEA}" type="slidenum">
              <a:rPr lang="en-US" smtClean="0"/>
              <a:t>13</a:t>
            </a:fld>
            <a:endParaRPr lang="en-US"/>
          </a:p>
        </p:txBody>
      </p:sp>
    </p:spTree>
    <p:extLst>
      <p:ext uri="{BB962C8B-B14F-4D97-AF65-F5344CB8AC3E}">
        <p14:creationId xmlns:p14="http://schemas.microsoft.com/office/powerpoint/2010/main" val="290983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1487" y="1072834"/>
            <a:ext cx="5230178" cy="215444"/>
          </a:xfrm>
          <a:prstGeom prst="rect">
            <a:avLst/>
          </a:prstGeom>
        </p:spPr>
        <p:txBody>
          <a:bodyPr wrap="square" lIns="0" tIns="0" rIns="0" bIns="0">
            <a:spAutoFit/>
          </a:bodyPr>
          <a:lstStyle>
            <a:lvl1pPr>
              <a:defRPr sz="1400" b="0" i="0">
                <a:solidFill>
                  <a:schemeClr val="bg1"/>
                </a:solidFill>
                <a:latin typeface="Arial"/>
                <a:cs typeface="Arial"/>
              </a:defRPr>
            </a:lvl1pPr>
          </a:lstStyle>
          <a:p>
            <a:endParaRPr/>
          </a:p>
        </p:txBody>
      </p:sp>
      <p:sp>
        <p:nvSpPr>
          <p:cNvPr id="3" name="Holder 3"/>
          <p:cNvSpPr>
            <a:spLocks noGrp="1"/>
          </p:cNvSpPr>
          <p:nvPr>
            <p:ph type="subTitle" idx="4"/>
          </p:nvPr>
        </p:nvSpPr>
        <p:spPr>
          <a:xfrm>
            <a:off x="922974" y="1938020"/>
            <a:ext cx="4307205" cy="169277"/>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91E98DE-5F63-3C43-9C62-7C299D9EB257}" type="datetime1">
              <a:rPr lang="en-AU" smtClean="0"/>
              <a:t>18/10/2025</a:t>
            </a:fld>
            <a:endParaRPr lang="en-US"/>
          </a:p>
        </p:txBody>
      </p:sp>
      <p:sp>
        <p:nvSpPr>
          <p:cNvPr id="8" name="Holder 6">
            <a:extLst>
              <a:ext uri="{FF2B5EF4-FFF2-40B4-BE49-F238E27FC236}">
                <a16:creationId xmlns:a16="http://schemas.microsoft.com/office/drawing/2014/main" id="{DE4B2E60-7944-020D-F4A6-42DDF203CD39}"/>
              </a:ext>
            </a:extLst>
          </p:cNvPr>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a:xfrm>
            <a:off x="833387" y="896671"/>
            <a:ext cx="4775048" cy="169277"/>
          </a:xfrm>
        </p:spPr>
        <p:txBody>
          <a:bodyPr lIns="0" tIns="0" rIns="0" bIns="0"/>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CFE22AB-4A2D-3A41-BD5C-17DA265B7B87}" type="datetime1">
              <a:rPr lang="en-AU" smtClean="0"/>
              <a:t>18/10/2025</a:t>
            </a:fld>
            <a:endParaRPr lang="en-US"/>
          </a:p>
        </p:txBody>
      </p:sp>
      <p:pic>
        <p:nvPicPr>
          <p:cNvPr id="11" name="object 2">
            <a:extLst>
              <a:ext uri="{FF2B5EF4-FFF2-40B4-BE49-F238E27FC236}">
                <a16:creationId xmlns:a16="http://schemas.microsoft.com/office/drawing/2014/main" id="{3329F7FB-D9E3-5DE6-7333-21F2057D9784}"/>
              </a:ext>
            </a:extLst>
          </p:cNvPr>
          <p:cNvPicPr/>
          <p:nvPr userDrawn="1"/>
        </p:nvPicPr>
        <p:blipFill>
          <a:blip r:embed="rId2" cstate="print"/>
          <a:stretch>
            <a:fillRect/>
          </a:stretch>
        </p:blipFill>
        <p:spPr>
          <a:xfrm>
            <a:off x="-137" y="-4942"/>
            <a:ext cx="6153150" cy="311252"/>
          </a:xfrm>
          <a:prstGeom prst="rect">
            <a:avLst/>
          </a:prstGeom>
        </p:spPr>
      </p:pic>
      <p:sp>
        <p:nvSpPr>
          <p:cNvPr id="2" name="Holder 2"/>
          <p:cNvSpPr>
            <a:spLocks noGrp="1"/>
          </p:cNvSpPr>
          <p:nvPr>
            <p:ph type="title"/>
          </p:nvPr>
        </p:nvSpPr>
        <p:spPr>
          <a:xfrm>
            <a:off x="206562" y="-2579"/>
            <a:ext cx="3568149" cy="215444"/>
          </a:xfrm>
        </p:spPr>
        <p:txBody>
          <a:bodyPr lIns="0" tIns="0" rIns="0" bIns="0"/>
          <a:lstStyle>
            <a:lvl1pPr>
              <a:defRPr sz="1400" b="0" i="0">
                <a:solidFill>
                  <a:schemeClr val="bg1"/>
                </a:solidFill>
                <a:latin typeface="Arial"/>
                <a:cs typeface="Arial"/>
              </a:defRPr>
            </a:lvl1pPr>
          </a:lstStyle>
          <a:p>
            <a:endParaRPr dirty="0"/>
          </a:p>
        </p:txBody>
      </p:sp>
      <p:sp>
        <p:nvSpPr>
          <p:cNvPr id="13" name="Holder 6">
            <a:extLst>
              <a:ext uri="{FF2B5EF4-FFF2-40B4-BE49-F238E27FC236}">
                <a16:creationId xmlns:a16="http://schemas.microsoft.com/office/drawing/2014/main" id="{1AEFBF5C-52BE-5D20-E7A8-4958EB134F15}"/>
              </a:ext>
            </a:extLst>
          </p:cNvPr>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06562" y="-2579"/>
            <a:ext cx="3568149" cy="215444"/>
          </a:xfrm>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sz="half" idx="2"/>
          </p:nvPr>
        </p:nvSpPr>
        <p:spPr>
          <a:xfrm>
            <a:off x="307659" y="795974"/>
            <a:ext cx="2676620" cy="1692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168872" y="795974"/>
            <a:ext cx="2676620" cy="169277"/>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2DE5183A-59D6-B143-983E-F723FB620B86}" type="datetime1">
              <a:rPr lang="en-AU" smtClean="0"/>
              <a:t>18/10/2025</a:t>
            </a:fld>
            <a:endParaRPr lang="en-US"/>
          </a:p>
        </p:txBody>
      </p:sp>
      <p:pic>
        <p:nvPicPr>
          <p:cNvPr id="8" name="object 2">
            <a:extLst>
              <a:ext uri="{FF2B5EF4-FFF2-40B4-BE49-F238E27FC236}">
                <a16:creationId xmlns:a16="http://schemas.microsoft.com/office/drawing/2014/main" id="{5A2DCAA6-AE2A-E974-3167-726AAEDA1E92}"/>
              </a:ext>
            </a:extLst>
          </p:cNvPr>
          <p:cNvPicPr/>
          <p:nvPr userDrawn="1"/>
        </p:nvPicPr>
        <p:blipFill>
          <a:blip r:embed="rId2" cstate="print"/>
          <a:stretch>
            <a:fillRect/>
          </a:stretch>
        </p:blipFill>
        <p:spPr>
          <a:xfrm>
            <a:off x="0" y="0"/>
            <a:ext cx="6153150" cy="311252"/>
          </a:xfrm>
          <a:prstGeom prst="rect">
            <a:avLst/>
          </a:prstGeom>
        </p:spPr>
      </p:pic>
      <p:sp>
        <p:nvSpPr>
          <p:cNvPr id="9" name="Holder 6">
            <a:extLst>
              <a:ext uri="{FF2B5EF4-FFF2-40B4-BE49-F238E27FC236}">
                <a16:creationId xmlns:a16="http://schemas.microsoft.com/office/drawing/2014/main" id="{2C4B5B72-C19A-3266-7406-5AF547C77AC8}"/>
              </a:ext>
            </a:extLst>
          </p:cNvPr>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06562" y="-2579"/>
            <a:ext cx="3568149" cy="215444"/>
          </a:xfrm>
        </p:spPr>
        <p:txBody>
          <a:bodyPr lIns="0" tIns="0" rIns="0" bIns="0"/>
          <a:lstStyle>
            <a:lvl1pPr>
              <a:defRPr sz="1400" b="0" i="0">
                <a:solidFill>
                  <a:schemeClr val="bg1"/>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400B3BC-286C-3F45-BF0E-4868BE6FF36D}" type="datetime1">
              <a:rPr lang="en-AU" smtClean="0"/>
              <a:t>18/10/2025</a:t>
            </a:fld>
            <a:endParaRPr lang="en-US"/>
          </a:p>
        </p:txBody>
      </p:sp>
      <p:pic>
        <p:nvPicPr>
          <p:cNvPr id="6" name="object 2">
            <a:extLst>
              <a:ext uri="{FF2B5EF4-FFF2-40B4-BE49-F238E27FC236}">
                <a16:creationId xmlns:a16="http://schemas.microsoft.com/office/drawing/2014/main" id="{380DD41D-798C-F509-B610-D634B7E2DAB0}"/>
              </a:ext>
            </a:extLst>
          </p:cNvPr>
          <p:cNvPicPr/>
          <p:nvPr userDrawn="1"/>
        </p:nvPicPr>
        <p:blipFill>
          <a:blip r:embed="rId2" cstate="print"/>
          <a:stretch>
            <a:fillRect/>
          </a:stretch>
        </p:blipFill>
        <p:spPr>
          <a:xfrm>
            <a:off x="0" y="0"/>
            <a:ext cx="6153150" cy="311252"/>
          </a:xfrm>
          <a:prstGeom prst="rect">
            <a:avLst/>
          </a:prstGeom>
        </p:spPr>
      </p:pic>
      <p:sp>
        <p:nvSpPr>
          <p:cNvPr id="7" name="Holder 6">
            <a:extLst>
              <a:ext uri="{FF2B5EF4-FFF2-40B4-BE49-F238E27FC236}">
                <a16:creationId xmlns:a16="http://schemas.microsoft.com/office/drawing/2014/main" id="{2A93C009-73E4-34DF-92AD-66C41238264B}"/>
              </a:ext>
            </a:extLst>
          </p:cNvPr>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ED9B54BA-4FEF-8E41-9F2D-1115C698370E}" type="datetime1">
              <a:rPr lang="en-AU" smtClean="0"/>
              <a:t>18/10/2025</a:t>
            </a:fld>
            <a:endParaRPr lang="en-US"/>
          </a:p>
        </p:txBody>
      </p:sp>
      <p:sp>
        <p:nvSpPr>
          <p:cNvPr id="5" name="Holder 6">
            <a:extLst>
              <a:ext uri="{FF2B5EF4-FFF2-40B4-BE49-F238E27FC236}">
                <a16:creationId xmlns:a16="http://schemas.microsoft.com/office/drawing/2014/main" id="{16FDAA6E-AD43-CDE6-DBC5-7A8519A6A187}"/>
              </a:ext>
            </a:extLst>
          </p:cNvPr>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 Target="../slides/slide1.xml"/><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096338" y="3248926"/>
            <a:ext cx="57633"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990071" y="3244963"/>
            <a:ext cx="33902" cy="38100"/>
          </a:xfrm>
          <a:custGeom>
            <a:avLst/>
            <a:gdLst/>
            <a:ahLst/>
            <a:cxnLst/>
            <a:rect l="l" t="t" r="r" b="b"/>
            <a:pathLst>
              <a:path w="25400" h="38100">
                <a:moveTo>
                  <a:pt x="25400" y="0"/>
                </a:moveTo>
                <a:lnTo>
                  <a:pt x="0" y="19050"/>
                </a:lnTo>
                <a:lnTo>
                  <a:pt x="25400" y="38100"/>
                </a:lnTo>
                <a:lnTo>
                  <a:pt x="25400" y="0"/>
                </a:lnTo>
                <a:close/>
              </a:path>
            </a:pathLst>
          </a:custGeom>
          <a:solidFill>
            <a:srgbClr val="D6D6F0"/>
          </a:solidFill>
        </p:spPr>
        <p:txBody>
          <a:bodyPr wrap="square" lIns="0" tIns="0" rIns="0" bIns="0" rtlCol="0"/>
          <a:lstStyle/>
          <a:p>
            <a:endParaRPr/>
          </a:p>
        </p:txBody>
      </p:sp>
      <p:sp>
        <p:nvSpPr>
          <p:cNvPr id="18" name="bg object 18"/>
          <p:cNvSpPr/>
          <p:nvPr/>
        </p:nvSpPr>
        <p:spPr>
          <a:xfrm>
            <a:off x="4227386" y="3244963"/>
            <a:ext cx="33902" cy="38100"/>
          </a:xfrm>
          <a:custGeom>
            <a:avLst/>
            <a:gdLst/>
            <a:ahLst/>
            <a:cxnLst/>
            <a:rect l="l" t="t" r="r" b="b"/>
            <a:pathLst>
              <a:path w="25400" h="38100">
                <a:moveTo>
                  <a:pt x="0" y="0"/>
                </a:moveTo>
                <a:lnTo>
                  <a:pt x="0" y="38100"/>
                </a:lnTo>
                <a:lnTo>
                  <a:pt x="25400" y="19050"/>
                </a:lnTo>
                <a:lnTo>
                  <a:pt x="0" y="0"/>
                </a:lnTo>
                <a:close/>
              </a:path>
            </a:pathLst>
          </a:custGeom>
          <a:solidFill>
            <a:srgbClr val="D6D6F0"/>
          </a:solidFill>
        </p:spPr>
        <p:txBody>
          <a:bodyPr wrap="square" lIns="0" tIns="0" rIns="0" bIns="0" rtlCol="0"/>
          <a:lstStyle/>
          <a:p>
            <a:endParaRPr/>
          </a:p>
        </p:txBody>
      </p:sp>
      <p:sp>
        <p:nvSpPr>
          <p:cNvPr id="19" name="bg object 19"/>
          <p:cNvSpPr/>
          <p:nvPr/>
        </p:nvSpPr>
        <p:spPr>
          <a:xfrm>
            <a:off x="4436065" y="3238613"/>
            <a:ext cx="85602"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4351751" y="3244964"/>
            <a:ext cx="271213"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F0"/>
          </a:solidFill>
        </p:spPr>
        <p:txBody>
          <a:bodyPr wrap="square" lIns="0" tIns="0" rIns="0" bIns="0" rtlCol="0"/>
          <a:lstStyle/>
          <a:p>
            <a:endParaRPr/>
          </a:p>
        </p:txBody>
      </p:sp>
      <p:sp>
        <p:nvSpPr>
          <p:cNvPr id="21" name="bg object 21"/>
          <p:cNvSpPr/>
          <p:nvPr/>
        </p:nvSpPr>
        <p:spPr>
          <a:xfrm>
            <a:off x="4832088" y="3251314"/>
            <a:ext cx="50852"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4713431" y="3244964"/>
            <a:ext cx="271213"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F0"/>
          </a:solidFill>
        </p:spPr>
        <p:txBody>
          <a:bodyPr wrap="square" lIns="0" tIns="0" rIns="0" bIns="0" rtlCol="0"/>
          <a:lstStyle/>
          <a:p>
            <a:endParaRPr/>
          </a:p>
        </p:txBody>
      </p:sp>
      <p:sp>
        <p:nvSpPr>
          <p:cNvPr id="23" name="bg object 23"/>
          <p:cNvSpPr/>
          <p:nvPr/>
        </p:nvSpPr>
        <p:spPr>
          <a:xfrm>
            <a:off x="4815137" y="3238613"/>
            <a:ext cx="67803"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F0"/>
            </a:solidFill>
          </a:ln>
        </p:spPr>
        <p:txBody>
          <a:bodyPr wrap="square" lIns="0" tIns="0" rIns="0" bIns="0" rtlCol="0"/>
          <a:lstStyle/>
          <a:p>
            <a:endParaRPr/>
          </a:p>
        </p:txBody>
      </p:sp>
      <p:sp>
        <p:nvSpPr>
          <p:cNvPr id="24" name="bg object 24"/>
          <p:cNvSpPr/>
          <p:nvPr/>
        </p:nvSpPr>
        <p:spPr>
          <a:xfrm>
            <a:off x="5176800" y="3238613"/>
            <a:ext cx="67803"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5075095" y="3244964"/>
            <a:ext cx="271213"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F0"/>
          </a:solidFill>
        </p:spPr>
        <p:txBody>
          <a:bodyPr wrap="square" lIns="0" tIns="0" rIns="0" bIns="0" rtlCol="0"/>
          <a:lstStyle/>
          <a:p>
            <a:endParaRPr/>
          </a:p>
        </p:txBody>
      </p:sp>
      <p:sp>
        <p:nvSpPr>
          <p:cNvPr id="26" name="bg object 26"/>
          <p:cNvSpPr/>
          <p:nvPr/>
        </p:nvSpPr>
        <p:spPr>
          <a:xfrm>
            <a:off x="5176800" y="3276714"/>
            <a:ext cx="67803" cy="12700"/>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F0"/>
            </a:solidFill>
          </a:ln>
        </p:spPr>
        <p:txBody>
          <a:bodyPr wrap="square" lIns="0" tIns="0" rIns="0" bIns="0" rtlCol="0"/>
          <a:lstStyle/>
          <a:p>
            <a:endParaRPr/>
          </a:p>
        </p:txBody>
      </p:sp>
      <p:sp>
        <p:nvSpPr>
          <p:cNvPr id="27" name="bg object 27"/>
          <p:cNvSpPr/>
          <p:nvPr/>
        </p:nvSpPr>
        <p:spPr>
          <a:xfrm>
            <a:off x="5538481" y="3238613"/>
            <a:ext cx="67803"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5940843" y="3269094"/>
            <a:ext cx="27121"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5904719" y="3242599"/>
            <a:ext cx="40682"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5778114" y="3238613"/>
            <a:ext cx="311894"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206562" y="-2579"/>
            <a:ext cx="3568149" cy="215444"/>
          </a:xfrm>
          <a:prstGeom prst="rect">
            <a:avLst/>
          </a:prstGeom>
        </p:spPr>
        <p:txBody>
          <a:bodyPr wrap="square" lIns="0" tIns="0" rIns="0" bIns="0">
            <a:spAutoFit/>
          </a:bodyPr>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a:xfrm>
            <a:off x="833387" y="896671"/>
            <a:ext cx="4775048" cy="169277"/>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708189" y="3347568"/>
            <a:ext cx="1240799" cy="89768"/>
          </a:xfrm>
          <a:prstGeom prst="rect">
            <a:avLst/>
          </a:prstGeom>
        </p:spPr>
        <p:txBody>
          <a:bodyPr wrap="square" lIns="0" tIns="0" rIns="0" bIns="0">
            <a:spAutoFit/>
          </a:bodyPr>
          <a:lstStyle>
            <a:lvl1pPr>
              <a:defRPr sz="600" b="0" i="0">
                <a:solidFill>
                  <a:schemeClr val="bg1"/>
                </a:solidFill>
                <a:latin typeface="Arial"/>
                <a:cs typeface="Arial"/>
              </a:defRPr>
            </a:lvl1pPr>
          </a:lstStyle>
          <a:p>
            <a:pPr marL="12700">
              <a:lnSpc>
                <a:spcPts val="675"/>
              </a:lnSpc>
            </a:pPr>
            <a:r>
              <a:rPr lang="en-AU"/>
              <a:t>J.</a:t>
            </a:r>
            <a:r>
              <a:rPr lang="en-AU" spc="40"/>
              <a:t> </a:t>
            </a:r>
            <a:r>
              <a:rPr lang="en-AU"/>
              <a:t>Wang,</a:t>
            </a:r>
            <a:r>
              <a:rPr lang="en-AU" spc="45"/>
              <a:t> </a:t>
            </a:r>
            <a:r>
              <a:rPr lang="en-AU"/>
              <a:t>X.</a:t>
            </a:r>
            <a:r>
              <a:rPr lang="en-AU" spc="45"/>
              <a:t> </a:t>
            </a:r>
            <a:r>
              <a:rPr lang="en-AU" spc="-20"/>
              <a:t>Cheng,</a:t>
            </a:r>
            <a:r>
              <a:rPr lang="en-AU" spc="45"/>
              <a:t> </a:t>
            </a:r>
            <a:r>
              <a:rPr lang="en-AU"/>
              <a:t>Y.</a:t>
            </a:r>
            <a:r>
              <a:rPr lang="en-AU" spc="50"/>
              <a:t> </a:t>
            </a:r>
            <a:r>
              <a:rPr lang="en-AU" spc="-25"/>
              <a:t>Sui</a:t>
            </a:r>
            <a:endParaRPr lang="en-AU" spc="-25" dirty="0"/>
          </a:p>
        </p:txBody>
      </p:sp>
      <p:sp>
        <p:nvSpPr>
          <p:cNvPr id="5" name="Holder 5"/>
          <p:cNvSpPr>
            <a:spLocks noGrp="1"/>
          </p:cNvSpPr>
          <p:nvPr>
            <p:ph type="dt" sz="half" idx="6"/>
          </p:nvPr>
        </p:nvSpPr>
        <p:spPr>
          <a:xfrm>
            <a:off x="307661" y="3218500"/>
            <a:ext cx="1415225" cy="276999"/>
          </a:xfrm>
          <a:prstGeom prst="rect">
            <a:avLst/>
          </a:prstGeom>
        </p:spPr>
        <p:txBody>
          <a:bodyPr wrap="square" lIns="0" tIns="0" rIns="0" bIns="0">
            <a:spAutoFit/>
          </a:bodyPr>
          <a:lstStyle>
            <a:lvl1pPr algn="l">
              <a:defRPr>
                <a:solidFill>
                  <a:schemeClr val="tx1">
                    <a:tint val="75000"/>
                  </a:schemeClr>
                </a:solidFill>
              </a:defRPr>
            </a:lvl1pPr>
          </a:lstStyle>
          <a:p>
            <a:fld id="{B8B9D0A9-E359-1F48-BC87-EB093ACC3C32}" type="datetime1">
              <a:rPr lang="en-AU" smtClean="0"/>
              <a:t>18/10/2025</a:t>
            </a:fld>
            <a:endParaRPr lang="en-US"/>
          </a:p>
        </p:txBody>
      </p:sp>
      <p:sp>
        <p:nvSpPr>
          <p:cNvPr id="6" name="Holder 6"/>
          <p:cNvSpPr>
            <a:spLocks noGrp="1"/>
          </p:cNvSpPr>
          <p:nvPr>
            <p:ph type="sldNum" sz="quarter" idx="7"/>
          </p:nvPr>
        </p:nvSpPr>
        <p:spPr>
          <a:xfrm>
            <a:off x="5362575" y="3009240"/>
            <a:ext cx="521837" cy="184666"/>
          </a:xfrm>
          <a:prstGeom prst="rect">
            <a:avLst/>
          </a:prstGeom>
        </p:spPr>
        <p:txBody>
          <a:bodyPr wrap="square" lIns="0" tIns="0" rIns="0" bIns="0">
            <a:spAutoFit/>
          </a:bodyPr>
          <a:lstStyle>
            <a:lvl1pPr algn="r">
              <a:defRPr sz="1200">
                <a:solidFill>
                  <a:schemeClr val="tx1">
                    <a:tint val="75000"/>
                  </a:schemeClr>
                </a:solidFill>
              </a:defRPr>
            </a:lvl1pPr>
          </a:lstStyle>
          <a:p>
            <a:fld id="{B6F15528-21DE-4FAA-801E-634DDDAF4B2B}" type="slidenum">
              <a:rPr lang="en-AU" smtClean="0"/>
              <a:pPr/>
              <a:t>‹#›</a:t>
            </a:fld>
            <a:endParaRPr lang="en-AU"/>
          </a:p>
        </p:txBody>
      </p:sp>
      <p:grpSp>
        <p:nvGrpSpPr>
          <p:cNvPr id="7" name="object 34">
            <a:extLst>
              <a:ext uri="{FF2B5EF4-FFF2-40B4-BE49-F238E27FC236}">
                <a16:creationId xmlns:a16="http://schemas.microsoft.com/office/drawing/2014/main" id="{CB7BD6E1-6A5B-0775-A4BF-152700B8765C}"/>
              </a:ext>
            </a:extLst>
          </p:cNvPr>
          <p:cNvGrpSpPr/>
          <p:nvPr userDrawn="1"/>
        </p:nvGrpSpPr>
        <p:grpSpPr>
          <a:xfrm>
            <a:off x="0" y="3326749"/>
            <a:ext cx="6153150" cy="134001"/>
            <a:chOff x="0" y="3333686"/>
            <a:chExt cx="4608195" cy="122555"/>
          </a:xfrm>
        </p:grpSpPr>
        <p:sp>
          <p:nvSpPr>
            <p:cNvPr id="8" name="object 35">
              <a:extLst>
                <a:ext uri="{FF2B5EF4-FFF2-40B4-BE49-F238E27FC236}">
                  <a16:creationId xmlns:a16="http://schemas.microsoft.com/office/drawing/2014/main" id="{02196C91-3F38-A907-C74B-232F509A5F7A}"/>
                </a:ext>
              </a:extLst>
            </p:cNvPr>
            <p:cNvSpPr/>
            <p:nvPr/>
          </p:nvSpPr>
          <p:spPr>
            <a:xfrm>
              <a:off x="0" y="3333686"/>
              <a:ext cx="2304415" cy="122555"/>
            </a:xfrm>
            <a:custGeom>
              <a:avLst/>
              <a:gdLst/>
              <a:ahLst/>
              <a:cxnLst/>
              <a:rect l="l" t="t" r="r" b="b"/>
              <a:pathLst>
                <a:path w="2304415" h="122554">
                  <a:moveTo>
                    <a:pt x="2303995" y="0"/>
                  </a:moveTo>
                  <a:lnTo>
                    <a:pt x="0" y="0"/>
                  </a:lnTo>
                  <a:lnTo>
                    <a:pt x="0" y="122313"/>
                  </a:lnTo>
                  <a:lnTo>
                    <a:pt x="2303995" y="122313"/>
                  </a:lnTo>
                  <a:lnTo>
                    <a:pt x="2303995" y="0"/>
                  </a:lnTo>
                  <a:close/>
                </a:path>
              </a:pathLst>
            </a:custGeom>
            <a:solidFill>
              <a:srgbClr val="000000"/>
            </a:solidFill>
          </p:spPr>
          <p:txBody>
            <a:bodyPr wrap="square" lIns="0" tIns="0" rIns="0" bIns="0" rtlCol="0"/>
            <a:lstStyle/>
            <a:p>
              <a:endParaRPr/>
            </a:p>
          </p:txBody>
        </p:sp>
        <p:sp>
          <p:nvSpPr>
            <p:cNvPr id="9" name="object 36">
              <a:extLst>
                <a:ext uri="{FF2B5EF4-FFF2-40B4-BE49-F238E27FC236}">
                  <a16:creationId xmlns:a16="http://schemas.microsoft.com/office/drawing/2014/main" id="{6B000DD5-D4CE-00F1-79B8-0C6441C57D70}"/>
                </a:ext>
              </a:extLst>
            </p:cNvPr>
            <p:cNvSpPr/>
            <p:nvPr/>
          </p:nvSpPr>
          <p:spPr>
            <a:xfrm>
              <a:off x="2303995" y="3333686"/>
              <a:ext cx="2304415" cy="122555"/>
            </a:xfrm>
            <a:custGeom>
              <a:avLst/>
              <a:gdLst/>
              <a:ahLst/>
              <a:cxnLst/>
              <a:rect l="l" t="t" r="r" b="b"/>
              <a:pathLst>
                <a:path w="2304415" h="122554">
                  <a:moveTo>
                    <a:pt x="2303995" y="0"/>
                  </a:moveTo>
                  <a:lnTo>
                    <a:pt x="0" y="0"/>
                  </a:lnTo>
                  <a:lnTo>
                    <a:pt x="0" y="122313"/>
                  </a:lnTo>
                  <a:lnTo>
                    <a:pt x="2303995" y="122313"/>
                  </a:lnTo>
                  <a:lnTo>
                    <a:pt x="2303995" y="0"/>
                  </a:lnTo>
                  <a:close/>
                </a:path>
              </a:pathLst>
            </a:custGeom>
            <a:solidFill>
              <a:srgbClr val="3333B3"/>
            </a:solidFill>
          </p:spPr>
          <p:txBody>
            <a:bodyPr wrap="square" lIns="0" tIns="0" rIns="0" bIns="0" rtlCol="0"/>
            <a:lstStyle/>
            <a:p>
              <a:endParaRPr/>
            </a:p>
          </p:txBody>
        </p:sp>
      </p:grpSp>
      <p:pic>
        <p:nvPicPr>
          <p:cNvPr id="11" name="Picture 10">
            <a:extLst>
              <a:ext uri="{FF2B5EF4-FFF2-40B4-BE49-F238E27FC236}">
                <a16:creationId xmlns:a16="http://schemas.microsoft.com/office/drawing/2014/main" id="{154AE1A4-2FC8-55DF-7DD5-69AFCD7BFE49}"/>
              </a:ext>
            </a:extLst>
          </p:cNvPr>
          <p:cNvPicPr>
            <a:picLocks noChangeAspect="1"/>
          </p:cNvPicPr>
          <p:nvPr userDrawn="1"/>
        </p:nvPicPr>
        <p:blipFill>
          <a:blip r:embed="rId7"/>
          <a:stretch>
            <a:fillRect/>
          </a:stretch>
        </p:blipFill>
        <p:spPr>
          <a:xfrm>
            <a:off x="3990071" y="3190207"/>
            <a:ext cx="2156047" cy="128909"/>
          </a:xfrm>
          <a:prstGeom prst="rect">
            <a:avLst/>
          </a:prstGeom>
        </p:spPr>
      </p:pic>
      <p:sp>
        <p:nvSpPr>
          <p:cNvPr id="14" name="Holder 4">
            <a:extLst>
              <a:ext uri="{FF2B5EF4-FFF2-40B4-BE49-F238E27FC236}">
                <a16:creationId xmlns:a16="http://schemas.microsoft.com/office/drawing/2014/main" id="{588F9321-1032-BEAA-1396-F4B171422889}"/>
              </a:ext>
            </a:extLst>
          </p:cNvPr>
          <p:cNvSpPr txBox="1">
            <a:spLocks/>
          </p:cNvSpPr>
          <p:nvPr userDrawn="1"/>
        </p:nvSpPr>
        <p:spPr>
          <a:xfrm>
            <a:off x="1771914" y="3347568"/>
            <a:ext cx="1240799" cy="89768"/>
          </a:xfrm>
          <a:prstGeom prst="rect">
            <a:avLst/>
          </a:prstGeom>
        </p:spPr>
        <p:txBody>
          <a:bodyPr lIns="0" tIns="0" rIns="0" bIns="0"/>
          <a:lstStyle>
            <a:defPPr>
              <a:defRPr kern="0"/>
            </a:defPPr>
            <a:lvl1pPr>
              <a:defRPr sz="600" b="0" i="0">
                <a:solidFill>
                  <a:schemeClr val="bg1"/>
                </a:solidFill>
                <a:latin typeface="Arial"/>
                <a:cs typeface="Arial"/>
              </a:defRPr>
            </a:lvl1pPr>
          </a:lstStyle>
          <a:p>
            <a:pPr marL="12700">
              <a:lnSpc>
                <a:spcPts val="675"/>
              </a:lnSpc>
            </a:pPr>
            <a:r>
              <a:rPr lang="en-AU" dirty="0"/>
              <a:t>J.</a:t>
            </a:r>
            <a:r>
              <a:rPr lang="en-AU" spc="40" dirty="0"/>
              <a:t> </a:t>
            </a:r>
            <a:r>
              <a:rPr lang="en-AU" dirty="0"/>
              <a:t>Wang,</a:t>
            </a:r>
            <a:r>
              <a:rPr lang="en-AU" spc="45" dirty="0"/>
              <a:t> </a:t>
            </a:r>
            <a:r>
              <a:rPr lang="en-AU" dirty="0"/>
              <a:t>X.</a:t>
            </a:r>
            <a:r>
              <a:rPr lang="en-AU" spc="45" dirty="0"/>
              <a:t> </a:t>
            </a:r>
            <a:r>
              <a:rPr lang="en-AU" spc="-20" dirty="0"/>
              <a:t>Cheng,</a:t>
            </a:r>
            <a:r>
              <a:rPr lang="en-AU" spc="45" dirty="0"/>
              <a:t> </a:t>
            </a:r>
            <a:r>
              <a:rPr lang="en-AU" dirty="0"/>
              <a:t>Y.</a:t>
            </a:r>
            <a:r>
              <a:rPr lang="en-AU" spc="50" dirty="0"/>
              <a:t> </a:t>
            </a:r>
            <a:r>
              <a:rPr lang="en-AU" spc="-25" dirty="0"/>
              <a:t>Sui</a:t>
            </a:r>
          </a:p>
        </p:txBody>
      </p:sp>
      <p:sp>
        <p:nvSpPr>
          <p:cNvPr id="15" name="object 13">
            <a:extLst>
              <a:ext uri="{FF2B5EF4-FFF2-40B4-BE49-F238E27FC236}">
                <a16:creationId xmlns:a16="http://schemas.microsoft.com/office/drawing/2014/main" id="{BDF3D073-287E-B60C-A4F5-69DBD81D0538}"/>
              </a:ext>
            </a:extLst>
          </p:cNvPr>
          <p:cNvSpPr txBox="1"/>
          <p:nvPr userDrawn="1"/>
        </p:nvSpPr>
        <p:spPr>
          <a:xfrm>
            <a:off x="3170821" y="3347568"/>
            <a:ext cx="2039354" cy="89768"/>
          </a:xfrm>
          <a:prstGeom prst="rect">
            <a:avLst/>
          </a:prstGeom>
        </p:spPr>
        <p:txBody>
          <a:bodyPr vert="horz" wrap="square" lIns="0" tIns="0" rIns="0" bIns="0" rtlCol="0">
            <a:spAutoFit/>
          </a:bodyPr>
          <a:lstStyle/>
          <a:p>
            <a:pPr marL="12700">
              <a:lnSpc>
                <a:spcPts val="675"/>
              </a:lnSpc>
            </a:pPr>
            <a:r>
              <a:rPr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E</a:t>
            </a:r>
            <a:r>
              <a:rPr lang="en-AU"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ffi</a:t>
            </a:r>
            <a:r>
              <a:rPr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cient</a:t>
            </a:r>
            <a:r>
              <a:rPr sz="600" spc="1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 </a:t>
            </a:r>
            <a:r>
              <a:rPr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Abstract</a:t>
            </a:r>
            <a:r>
              <a:rPr sz="600" spc="105"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 </a:t>
            </a:r>
            <a:r>
              <a:rPr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Interpretation</a:t>
            </a:r>
            <a:r>
              <a:rPr sz="600" spc="105"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 </a:t>
            </a:r>
            <a:r>
              <a:rPr sz="60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via</a:t>
            </a:r>
            <a:r>
              <a:rPr sz="600" spc="105"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 </a:t>
            </a:r>
            <a:r>
              <a:rPr sz="600" spc="-1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Selective</a:t>
            </a:r>
            <a:r>
              <a:rPr sz="600" spc="105"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 </a:t>
            </a:r>
            <a:r>
              <a:rPr sz="600" spc="-10" dirty="0">
                <a:solidFill>
                  <a:schemeClr val="bg1"/>
                </a:solidFill>
                <a:latin typeface="Arial"/>
                <a:cs typeface="Arial"/>
                <a:hlinkClick r:id="rId8" action="ppaction://hlinksldjump">
                  <a:extLst>
                    <a:ext uri="{A12FA001-AC4F-418D-AE19-62706E023703}">
                      <ahyp:hlinkClr xmlns:ahyp="http://schemas.microsoft.com/office/drawing/2018/hyperlinkcolor" val="tx"/>
                    </a:ext>
                  </a:extLst>
                </a:hlinkClick>
              </a:rPr>
              <a:t>Widening</a:t>
            </a:r>
            <a:endParaRPr sz="600" dirty="0">
              <a:solidFill>
                <a:schemeClr val="bg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181">
        <a:defRPr>
          <a:latin typeface="+mn-lt"/>
          <a:ea typeface="+mn-ea"/>
          <a:cs typeface="+mn-cs"/>
        </a:defRPr>
      </a:lvl2pPr>
      <a:lvl3pPr marL="914361">
        <a:defRPr>
          <a:latin typeface="+mn-lt"/>
          <a:ea typeface="+mn-ea"/>
          <a:cs typeface="+mn-cs"/>
        </a:defRPr>
      </a:lvl3pPr>
      <a:lvl4pPr marL="1371542">
        <a:defRPr>
          <a:latin typeface="+mn-lt"/>
          <a:ea typeface="+mn-ea"/>
          <a:cs typeface="+mn-cs"/>
        </a:defRPr>
      </a:lvl4pPr>
      <a:lvl5pPr marL="1828722">
        <a:defRPr>
          <a:latin typeface="+mn-lt"/>
          <a:ea typeface="+mn-ea"/>
          <a:cs typeface="+mn-cs"/>
        </a:defRPr>
      </a:lvl5pPr>
      <a:lvl6pPr marL="2285902">
        <a:defRPr>
          <a:latin typeface="+mn-lt"/>
          <a:ea typeface="+mn-ea"/>
          <a:cs typeface="+mn-cs"/>
        </a:defRPr>
      </a:lvl6pPr>
      <a:lvl7pPr marL="2743083">
        <a:defRPr>
          <a:latin typeface="+mn-lt"/>
          <a:ea typeface="+mn-ea"/>
          <a:cs typeface="+mn-cs"/>
        </a:defRPr>
      </a:lvl7pPr>
      <a:lvl8pPr marL="3200263">
        <a:defRPr>
          <a:latin typeface="+mn-lt"/>
          <a:ea typeface="+mn-ea"/>
          <a:cs typeface="+mn-cs"/>
        </a:defRPr>
      </a:lvl8pPr>
      <a:lvl9pPr marL="3657444">
        <a:defRPr>
          <a:latin typeface="+mn-lt"/>
          <a:ea typeface="+mn-ea"/>
          <a:cs typeface="+mn-cs"/>
        </a:defRPr>
      </a:lvl9pPr>
    </p:bodyStyle>
    <p:otherStyle>
      <a:lvl1pPr marL="0">
        <a:defRPr>
          <a:latin typeface="+mn-lt"/>
          <a:ea typeface="+mn-ea"/>
          <a:cs typeface="+mn-cs"/>
        </a:defRPr>
      </a:lvl1pPr>
      <a:lvl2pPr marL="457181">
        <a:defRPr>
          <a:latin typeface="+mn-lt"/>
          <a:ea typeface="+mn-ea"/>
          <a:cs typeface="+mn-cs"/>
        </a:defRPr>
      </a:lvl2pPr>
      <a:lvl3pPr marL="914361">
        <a:defRPr>
          <a:latin typeface="+mn-lt"/>
          <a:ea typeface="+mn-ea"/>
          <a:cs typeface="+mn-cs"/>
        </a:defRPr>
      </a:lvl3pPr>
      <a:lvl4pPr marL="1371542">
        <a:defRPr>
          <a:latin typeface="+mn-lt"/>
          <a:ea typeface="+mn-ea"/>
          <a:cs typeface="+mn-cs"/>
        </a:defRPr>
      </a:lvl4pPr>
      <a:lvl5pPr marL="1828722">
        <a:defRPr>
          <a:latin typeface="+mn-lt"/>
          <a:ea typeface="+mn-ea"/>
          <a:cs typeface="+mn-cs"/>
        </a:defRPr>
      </a:lvl5pPr>
      <a:lvl6pPr marL="2285902">
        <a:defRPr>
          <a:latin typeface="+mn-lt"/>
          <a:ea typeface="+mn-ea"/>
          <a:cs typeface="+mn-cs"/>
        </a:defRPr>
      </a:lvl6pPr>
      <a:lvl7pPr marL="2743083">
        <a:defRPr>
          <a:latin typeface="+mn-lt"/>
          <a:ea typeface="+mn-ea"/>
          <a:cs typeface="+mn-cs"/>
        </a:defRPr>
      </a:lvl7pPr>
      <a:lvl8pPr marL="3200263">
        <a:defRPr>
          <a:latin typeface="+mn-lt"/>
          <a:ea typeface="+mn-ea"/>
          <a:cs typeface="+mn-cs"/>
        </a:defRPr>
      </a:lvl8pPr>
      <a:lvl9pPr marL="3657444">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emf"/><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emf"/><Relationship Id="rId4" Type="http://schemas.openxmlformats.org/officeDocument/2006/relationships/image" Target="../media/image1.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1.png"/><Relationship Id="rId7"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12.png"/><Relationship Id="rId4" Type="http://schemas.openxmlformats.org/officeDocument/2006/relationships/image" Target="../media/image8.emf"/><Relationship Id="rId9" Type="http://schemas.openxmlformats.org/officeDocument/2006/relationships/image" Target="../media/image12.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1.png"/><Relationship Id="rId7" Type="http://schemas.openxmlformats.org/officeDocument/2006/relationships/image" Target="../media/image20.png"/><Relationship Id="rId12"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17.emf"/><Relationship Id="rId5" Type="http://schemas.openxmlformats.org/officeDocument/2006/relationships/image" Target="../media/image18.png"/><Relationship Id="rId10" Type="http://schemas.openxmlformats.org/officeDocument/2006/relationships/image" Target="../media/image16.emf"/><Relationship Id="rId4" Type="http://schemas.openxmlformats.org/officeDocument/2006/relationships/image" Target="../media/image13.emf"/><Relationship Id="rId9" Type="http://schemas.openxmlformats.org/officeDocument/2006/relationships/image" Target="../media/image15.emf"/></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emf"/><Relationship Id="rId7" Type="http://schemas.openxmlformats.org/officeDocument/2006/relationships/image" Target="../media/image21.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image" Target="../media/image27.png"/><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2.emf"/><Relationship Id="rId7" Type="http://schemas.openxmlformats.org/officeDocument/2006/relationships/image" Target="../media/image25.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1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153150" cy="45719"/>
          </a:xfrm>
          <a:custGeom>
            <a:avLst/>
            <a:gdLst/>
            <a:ahLst/>
            <a:cxnLst/>
            <a:rect l="l" t="t" r="r" b="b"/>
            <a:pathLst>
              <a:path w="4608195" h="50800">
                <a:moveTo>
                  <a:pt x="4608060" y="0"/>
                </a:moveTo>
                <a:lnTo>
                  <a:pt x="0" y="0"/>
                </a:lnTo>
                <a:lnTo>
                  <a:pt x="0" y="50610"/>
                </a:lnTo>
                <a:lnTo>
                  <a:pt x="4608060" y="50610"/>
                </a:lnTo>
                <a:lnTo>
                  <a:pt x="4608060" y="0"/>
                </a:lnTo>
                <a:close/>
              </a:path>
            </a:pathLst>
          </a:custGeom>
          <a:solidFill>
            <a:srgbClr val="000000"/>
          </a:solidFill>
        </p:spPr>
        <p:txBody>
          <a:bodyPr wrap="square" lIns="0" tIns="0" rIns="0" bIns="0" rtlCol="0"/>
          <a:lstStyle/>
          <a:p>
            <a:endParaRPr/>
          </a:p>
        </p:txBody>
      </p:sp>
      <p:grpSp>
        <p:nvGrpSpPr>
          <p:cNvPr id="3" name="object 3"/>
          <p:cNvGrpSpPr/>
          <p:nvPr/>
        </p:nvGrpSpPr>
        <p:grpSpPr>
          <a:xfrm>
            <a:off x="409575" y="595049"/>
            <a:ext cx="5435921" cy="757555"/>
            <a:chOff x="309193" y="595045"/>
            <a:chExt cx="4040504" cy="757555"/>
          </a:xfrm>
        </p:grpSpPr>
        <p:sp>
          <p:nvSpPr>
            <p:cNvPr id="4" name="object 4"/>
            <p:cNvSpPr/>
            <p:nvPr/>
          </p:nvSpPr>
          <p:spPr>
            <a:xfrm>
              <a:off x="309193" y="595045"/>
              <a:ext cx="3989704" cy="82550"/>
            </a:xfrm>
            <a:custGeom>
              <a:avLst/>
              <a:gdLst/>
              <a:ahLst/>
              <a:cxnLst/>
              <a:rect l="l" t="t" r="r" b="b"/>
              <a:pathLst>
                <a:path w="3989704" h="82550">
                  <a:moveTo>
                    <a:pt x="3938852" y="0"/>
                  </a:moveTo>
                  <a:lnTo>
                    <a:pt x="50800" y="0"/>
                  </a:lnTo>
                  <a:lnTo>
                    <a:pt x="31075" y="4008"/>
                  </a:lnTo>
                  <a:lnTo>
                    <a:pt x="14922" y="14922"/>
                  </a:lnTo>
                  <a:lnTo>
                    <a:pt x="4008" y="31075"/>
                  </a:lnTo>
                  <a:lnTo>
                    <a:pt x="0" y="50800"/>
                  </a:lnTo>
                  <a:lnTo>
                    <a:pt x="0" y="82384"/>
                  </a:lnTo>
                  <a:lnTo>
                    <a:pt x="3989652" y="82384"/>
                  </a:lnTo>
                  <a:lnTo>
                    <a:pt x="3989652" y="50800"/>
                  </a:lnTo>
                  <a:lnTo>
                    <a:pt x="3985643" y="31075"/>
                  </a:lnTo>
                  <a:lnTo>
                    <a:pt x="3974729" y="14922"/>
                  </a:lnTo>
                  <a:lnTo>
                    <a:pt x="3958576" y="4008"/>
                  </a:lnTo>
                  <a:lnTo>
                    <a:pt x="3938852" y="0"/>
                  </a:lnTo>
                  <a:close/>
                </a:path>
              </a:pathLst>
            </a:custGeom>
            <a:solidFill>
              <a:srgbClr val="3333B3"/>
            </a:solidFill>
          </p:spPr>
          <p:txBody>
            <a:bodyPr wrap="square" lIns="0" tIns="0" rIns="0" bIns="0" rtlCol="0"/>
            <a:lstStyle/>
            <a:p>
              <a:endParaRPr/>
            </a:p>
          </p:txBody>
        </p:sp>
        <p:sp>
          <p:nvSpPr>
            <p:cNvPr id="5" name="object 5"/>
            <p:cNvSpPr/>
            <p:nvPr/>
          </p:nvSpPr>
          <p:spPr>
            <a:xfrm>
              <a:off x="359994" y="658302"/>
              <a:ext cx="3989704" cy="694055"/>
            </a:xfrm>
            <a:custGeom>
              <a:avLst/>
              <a:gdLst/>
              <a:ahLst/>
              <a:cxnLst/>
              <a:rect l="l" t="t" r="r" b="b"/>
              <a:pathLst>
                <a:path w="3989704" h="694055">
                  <a:moveTo>
                    <a:pt x="3989652" y="0"/>
                  </a:moveTo>
                  <a:lnTo>
                    <a:pt x="0" y="0"/>
                  </a:lnTo>
                  <a:lnTo>
                    <a:pt x="0" y="693842"/>
                  </a:lnTo>
                  <a:lnTo>
                    <a:pt x="3989652" y="693842"/>
                  </a:lnTo>
                  <a:lnTo>
                    <a:pt x="3989652" y="0"/>
                  </a:lnTo>
                  <a:close/>
                </a:path>
              </a:pathLst>
            </a:custGeom>
            <a:solidFill>
              <a:srgbClr val="000000"/>
            </a:solidFill>
          </p:spPr>
          <p:txBody>
            <a:bodyPr wrap="square" lIns="0" tIns="0" rIns="0" bIns="0" rtlCol="0"/>
            <a:lstStyle/>
            <a:p>
              <a:endParaRPr/>
            </a:p>
          </p:txBody>
        </p:sp>
        <p:sp>
          <p:nvSpPr>
            <p:cNvPr id="6" name="object 6"/>
            <p:cNvSpPr/>
            <p:nvPr/>
          </p:nvSpPr>
          <p:spPr>
            <a:xfrm>
              <a:off x="309193" y="639465"/>
              <a:ext cx="3989704" cy="662305"/>
            </a:xfrm>
            <a:custGeom>
              <a:avLst/>
              <a:gdLst/>
              <a:ahLst/>
              <a:cxnLst/>
              <a:rect l="l" t="t" r="r" b="b"/>
              <a:pathLst>
                <a:path w="3989704" h="662305">
                  <a:moveTo>
                    <a:pt x="3989652" y="0"/>
                  </a:moveTo>
                  <a:lnTo>
                    <a:pt x="0" y="0"/>
                  </a:lnTo>
                  <a:lnTo>
                    <a:pt x="0" y="611078"/>
                  </a:lnTo>
                  <a:lnTo>
                    <a:pt x="4008" y="630802"/>
                  </a:lnTo>
                  <a:lnTo>
                    <a:pt x="14922" y="646955"/>
                  </a:lnTo>
                  <a:lnTo>
                    <a:pt x="31075" y="657869"/>
                  </a:lnTo>
                  <a:lnTo>
                    <a:pt x="50800" y="661878"/>
                  </a:lnTo>
                  <a:lnTo>
                    <a:pt x="3938852" y="661878"/>
                  </a:lnTo>
                  <a:lnTo>
                    <a:pt x="3958576" y="657869"/>
                  </a:lnTo>
                  <a:lnTo>
                    <a:pt x="3974729" y="646955"/>
                  </a:lnTo>
                  <a:lnTo>
                    <a:pt x="3985643" y="630802"/>
                  </a:lnTo>
                  <a:lnTo>
                    <a:pt x="3989652" y="611078"/>
                  </a:lnTo>
                  <a:lnTo>
                    <a:pt x="3989652" y="0"/>
                  </a:lnTo>
                  <a:close/>
                </a:path>
              </a:pathLst>
            </a:custGeom>
            <a:solidFill>
              <a:srgbClr val="3333B3"/>
            </a:solidFill>
          </p:spPr>
          <p:txBody>
            <a:bodyPr wrap="square" lIns="0" tIns="0" rIns="0" bIns="0" rtlCol="0"/>
            <a:lstStyle/>
            <a:p>
              <a:endParaRPr/>
            </a:p>
          </p:txBody>
        </p:sp>
      </p:grpSp>
      <p:sp>
        <p:nvSpPr>
          <p:cNvPr id="8" name="object 8"/>
          <p:cNvSpPr txBox="1"/>
          <p:nvPr/>
        </p:nvSpPr>
        <p:spPr>
          <a:xfrm>
            <a:off x="771525" y="1611923"/>
            <a:ext cx="4610100" cy="840295"/>
          </a:xfrm>
          <a:prstGeom prst="rect">
            <a:avLst/>
          </a:prstGeom>
        </p:spPr>
        <p:txBody>
          <a:bodyPr vert="horz" wrap="square" lIns="0" tIns="6985" rIns="0" bIns="0" rtlCol="0">
            <a:spAutoFit/>
          </a:bodyPr>
          <a:lstStyle/>
          <a:p>
            <a:pPr marL="689580" marR="653387" indent="-29208" algn="ctr">
              <a:lnSpc>
                <a:spcPct val="102600"/>
              </a:lnSpc>
              <a:spcBef>
                <a:spcPts val="55"/>
              </a:spcBef>
            </a:pPr>
            <a:r>
              <a:rPr sz="1600" spc="-55" dirty="0">
                <a:latin typeface="Arial"/>
                <a:cs typeface="Arial"/>
              </a:rPr>
              <a:t>Jiawei</a:t>
            </a:r>
            <a:r>
              <a:rPr sz="1600" spc="15" dirty="0">
                <a:latin typeface="Arial"/>
                <a:cs typeface="Arial"/>
              </a:rPr>
              <a:t> </a:t>
            </a:r>
            <a:r>
              <a:rPr sz="1600" spc="-70" dirty="0">
                <a:latin typeface="Arial"/>
                <a:cs typeface="Arial"/>
              </a:rPr>
              <a:t>Wang</a:t>
            </a:r>
            <a:r>
              <a:rPr lang="en-AU" sz="1600" spc="-70" dirty="0">
                <a:latin typeface="Arial"/>
                <a:cs typeface="Arial"/>
              </a:rPr>
              <a:t>*, </a:t>
            </a:r>
            <a:r>
              <a:rPr sz="1600" spc="-20" dirty="0">
                <a:latin typeface="Arial"/>
                <a:cs typeface="Arial"/>
              </a:rPr>
              <a:t>Xiao</a:t>
            </a:r>
            <a:r>
              <a:rPr sz="1600" spc="-45" dirty="0">
                <a:latin typeface="Arial"/>
                <a:cs typeface="Arial"/>
              </a:rPr>
              <a:t> Cheng</a:t>
            </a:r>
            <a:r>
              <a:rPr lang="en-AU" sz="1600" spc="-45" dirty="0">
                <a:latin typeface="Arial"/>
                <a:cs typeface="Arial"/>
              </a:rPr>
              <a:t>*,</a:t>
            </a:r>
            <a:r>
              <a:rPr sz="1600" spc="-45" dirty="0">
                <a:latin typeface="Arial"/>
                <a:cs typeface="Arial"/>
              </a:rPr>
              <a:t> Yulei</a:t>
            </a:r>
            <a:r>
              <a:rPr sz="1600" spc="5" dirty="0">
                <a:latin typeface="Arial"/>
                <a:cs typeface="Arial"/>
              </a:rPr>
              <a:t> </a:t>
            </a:r>
            <a:r>
              <a:rPr sz="1600" spc="-25" dirty="0">
                <a:latin typeface="Arial"/>
                <a:cs typeface="Arial"/>
              </a:rPr>
              <a:t>Sui</a:t>
            </a:r>
            <a:endParaRPr sz="1600" dirty="0">
              <a:latin typeface="Arial"/>
              <a:cs typeface="Arial"/>
            </a:endParaRPr>
          </a:p>
          <a:p>
            <a:pPr algn="ctr">
              <a:lnSpc>
                <a:spcPct val="100000"/>
              </a:lnSpc>
            </a:pPr>
            <a:endParaRPr sz="1600" dirty="0">
              <a:latin typeface="Arial"/>
              <a:cs typeface="Arial"/>
            </a:endParaRPr>
          </a:p>
          <a:p>
            <a:pPr marL="93976" marR="5080" indent="-81912" algn="ctr">
              <a:lnSpc>
                <a:spcPts val="950"/>
              </a:lnSpc>
              <a:spcAft>
                <a:spcPts val="600"/>
              </a:spcAft>
            </a:pPr>
            <a:r>
              <a:rPr sz="1050" spc="-10" dirty="0">
                <a:latin typeface="Arial"/>
                <a:cs typeface="Arial"/>
              </a:rPr>
              <a:t>School</a:t>
            </a:r>
            <a:r>
              <a:rPr sz="1050" spc="5" dirty="0">
                <a:latin typeface="Arial"/>
                <a:cs typeface="Arial"/>
              </a:rPr>
              <a:t> </a:t>
            </a:r>
            <a:r>
              <a:rPr sz="1050" dirty="0">
                <a:latin typeface="Arial"/>
                <a:cs typeface="Arial"/>
              </a:rPr>
              <a:t>of</a:t>
            </a:r>
            <a:r>
              <a:rPr sz="1050" spc="5" dirty="0">
                <a:latin typeface="Arial"/>
                <a:cs typeface="Arial"/>
              </a:rPr>
              <a:t> </a:t>
            </a:r>
            <a:r>
              <a:rPr sz="1050" dirty="0">
                <a:latin typeface="Arial"/>
                <a:cs typeface="Arial"/>
              </a:rPr>
              <a:t>Computer</a:t>
            </a:r>
            <a:r>
              <a:rPr sz="1050" spc="10" dirty="0">
                <a:latin typeface="Arial"/>
                <a:cs typeface="Arial"/>
              </a:rPr>
              <a:t> </a:t>
            </a:r>
            <a:r>
              <a:rPr sz="1050" spc="-30" dirty="0">
                <a:latin typeface="Arial"/>
                <a:cs typeface="Arial"/>
              </a:rPr>
              <a:t>Science</a:t>
            </a:r>
            <a:r>
              <a:rPr sz="1050" spc="5" dirty="0">
                <a:latin typeface="Arial"/>
                <a:cs typeface="Arial"/>
              </a:rPr>
              <a:t> </a:t>
            </a:r>
            <a:r>
              <a:rPr sz="1050" dirty="0">
                <a:latin typeface="Arial"/>
                <a:cs typeface="Arial"/>
              </a:rPr>
              <a:t>and</a:t>
            </a:r>
            <a:r>
              <a:rPr sz="1050" spc="10" dirty="0">
                <a:latin typeface="Arial"/>
                <a:cs typeface="Arial"/>
              </a:rPr>
              <a:t> </a:t>
            </a:r>
            <a:r>
              <a:rPr sz="1050" spc="-20" dirty="0">
                <a:latin typeface="Arial"/>
                <a:cs typeface="Arial"/>
              </a:rPr>
              <a:t>Engineering </a:t>
            </a:r>
            <a:endParaRPr lang="en-AU" sz="1050" spc="-20" dirty="0">
              <a:latin typeface="Arial"/>
              <a:cs typeface="Arial"/>
            </a:endParaRPr>
          </a:p>
          <a:p>
            <a:pPr marL="93976" marR="5080" indent="-81912" algn="ctr">
              <a:lnSpc>
                <a:spcPts val="950"/>
              </a:lnSpc>
              <a:spcAft>
                <a:spcPts val="600"/>
              </a:spcAft>
            </a:pPr>
            <a:r>
              <a:rPr sz="1050" dirty="0">
                <a:latin typeface="Arial"/>
                <a:cs typeface="Arial"/>
              </a:rPr>
              <a:t>University</a:t>
            </a:r>
            <a:r>
              <a:rPr sz="1050" spc="10" dirty="0">
                <a:latin typeface="Arial"/>
                <a:cs typeface="Arial"/>
              </a:rPr>
              <a:t> </a:t>
            </a:r>
            <a:r>
              <a:rPr sz="1050" dirty="0">
                <a:latin typeface="Arial"/>
                <a:cs typeface="Arial"/>
              </a:rPr>
              <a:t>of</a:t>
            </a:r>
            <a:r>
              <a:rPr sz="1050" spc="15" dirty="0">
                <a:latin typeface="Arial"/>
                <a:cs typeface="Arial"/>
              </a:rPr>
              <a:t> </a:t>
            </a:r>
            <a:r>
              <a:rPr sz="1050" dirty="0">
                <a:latin typeface="Arial"/>
                <a:cs typeface="Arial"/>
              </a:rPr>
              <a:t>New</a:t>
            </a:r>
            <a:r>
              <a:rPr sz="1050" spc="15" dirty="0">
                <a:latin typeface="Arial"/>
                <a:cs typeface="Arial"/>
              </a:rPr>
              <a:t> </a:t>
            </a:r>
            <a:r>
              <a:rPr sz="1050" dirty="0">
                <a:latin typeface="Arial"/>
                <a:cs typeface="Arial"/>
              </a:rPr>
              <a:t>South</a:t>
            </a:r>
            <a:r>
              <a:rPr sz="1050" spc="15" dirty="0">
                <a:latin typeface="Arial"/>
                <a:cs typeface="Arial"/>
              </a:rPr>
              <a:t> </a:t>
            </a:r>
            <a:r>
              <a:rPr sz="1050" spc="-10" dirty="0">
                <a:latin typeface="Arial"/>
                <a:cs typeface="Arial"/>
              </a:rPr>
              <a:t>Wales,</a:t>
            </a:r>
            <a:r>
              <a:rPr sz="1050" spc="15" dirty="0">
                <a:latin typeface="Arial"/>
                <a:cs typeface="Arial"/>
              </a:rPr>
              <a:t> </a:t>
            </a:r>
            <a:r>
              <a:rPr sz="1050" spc="-10" dirty="0">
                <a:latin typeface="Arial"/>
                <a:cs typeface="Arial"/>
              </a:rPr>
              <a:t>Australia</a:t>
            </a:r>
            <a:endParaRPr sz="1050" dirty="0">
              <a:latin typeface="Arial"/>
              <a:cs typeface="Arial"/>
            </a:endParaRPr>
          </a:p>
        </p:txBody>
      </p:sp>
      <p:sp>
        <p:nvSpPr>
          <p:cNvPr id="22" name="Slide Number Placeholder 21">
            <a:extLst>
              <a:ext uri="{FF2B5EF4-FFF2-40B4-BE49-F238E27FC236}">
                <a16:creationId xmlns:a16="http://schemas.microsoft.com/office/drawing/2014/main" id="{57B24704-CA14-6842-0612-245F8BFEB72A}"/>
              </a:ext>
            </a:extLst>
          </p:cNvPr>
          <p:cNvSpPr>
            <a:spLocks noGrp="1"/>
          </p:cNvSpPr>
          <p:nvPr>
            <p:ph type="sldNum" sz="quarter" idx="7"/>
          </p:nvPr>
        </p:nvSpPr>
        <p:spPr>
          <a:xfrm>
            <a:off x="5362575" y="3009240"/>
            <a:ext cx="521837" cy="184666"/>
          </a:xfrm>
        </p:spPr>
        <p:txBody>
          <a:bodyPr/>
          <a:lstStyle/>
          <a:p>
            <a:fld id="{B6F15528-21DE-4FAA-801E-634DDDAF4B2B}" type="slidenum">
              <a:rPr lang="en-AU" smtClean="0"/>
              <a:t>1</a:t>
            </a:fld>
            <a:endParaRPr lang="en-AU"/>
          </a:p>
        </p:txBody>
      </p:sp>
      <p:sp>
        <p:nvSpPr>
          <p:cNvPr id="21" name="TextBox 20">
            <a:extLst>
              <a:ext uri="{FF2B5EF4-FFF2-40B4-BE49-F238E27FC236}">
                <a16:creationId xmlns:a16="http://schemas.microsoft.com/office/drawing/2014/main" id="{BFA3C1E1-1AE5-E105-33C0-E4D1DB3C3E2F}"/>
              </a:ext>
            </a:extLst>
          </p:cNvPr>
          <p:cNvSpPr txBox="1"/>
          <p:nvPr/>
        </p:nvSpPr>
        <p:spPr>
          <a:xfrm>
            <a:off x="476868" y="532583"/>
            <a:ext cx="5197310" cy="1200329"/>
          </a:xfrm>
          <a:prstGeom prst="rect">
            <a:avLst/>
          </a:prstGeom>
          <a:noFill/>
        </p:spPr>
        <p:txBody>
          <a:bodyPr wrap="square">
            <a:spAutoFit/>
          </a:bodyPr>
          <a:lstStyle/>
          <a:p>
            <a:pPr algn="ctr"/>
            <a:r>
              <a:rPr lang="en-AU" sz="2400" spc="-10" dirty="0">
                <a:solidFill>
                  <a:schemeClr val="bg1"/>
                </a:solidFill>
              </a:rPr>
              <a:t>Efficient Abstract Interpretation via Selective Widening</a:t>
            </a:r>
          </a:p>
          <a:p>
            <a:pPr algn="ctr"/>
            <a:endParaRPr lang="en-AU" sz="2400" spc="-1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9537" y="-2580"/>
            <a:ext cx="3837956" cy="232756"/>
          </a:xfrm>
          <a:prstGeom prst="rect">
            <a:avLst/>
          </a:prstGeom>
        </p:spPr>
        <p:txBody>
          <a:bodyPr vert="horz" wrap="square" lIns="0" tIns="17145" rIns="0" bIns="0" rtlCol="0">
            <a:spAutoFit/>
          </a:bodyPr>
          <a:lstStyle/>
          <a:p>
            <a:pPr marL="12700">
              <a:spcBef>
                <a:spcPts val="135"/>
              </a:spcBef>
            </a:pPr>
            <a:r>
              <a:rPr lang="en-AU" spc="-10" dirty="0"/>
              <a:t>Background: </a:t>
            </a:r>
            <a:r>
              <a:rPr spc="-10" dirty="0"/>
              <a:t>Abstract</a:t>
            </a:r>
            <a:r>
              <a:rPr spc="20" dirty="0"/>
              <a:t> </a:t>
            </a:r>
            <a:r>
              <a:rPr spc="-20" dirty="0"/>
              <a:t>Interpretation</a:t>
            </a:r>
            <a:r>
              <a:rPr spc="20" dirty="0"/>
              <a:t> </a:t>
            </a:r>
            <a:r>
              <a:rPr spc="120" dirty="0"/>
              <a:t>&amp;</a:t>
            </a:r>
            <a:r>
              <a:rPr spc="20" dirty="0"/>
              <a:t> </a:t>
            </a:r>
            <a:r>
              <a:rPr spc="-30" dirty="0"/>
              <a:t>Widening</a:t>
            </a:r>
          </a:p>
        </p:txBody>
      </p:sp>
      <mc:AlternateContent xmlns:mc="http://schemas.openxmlformats.org/markup-compatibility/2006" xmlns:a14="http://schemas.microsoft.com/office/drawing/2010/main">
        <mc:Choice Requires="a14">
          <p:sp>
            <p:nvSpPr>
              <p:cNvPr id="4" name="object 4"/>
              <p:cNvSpPr txBox="1"/>
              <p:nvPr/>
            </p:nvSpPr>
            <p:spPr>
              <a:xfrm>
                <a:off x="259537" y="313202"/>
                <a:ext cx="5656136" cy="1066254"/>
              </a:xfrm>
              <a:prstGeom prst="rect">
                <a:avLst/>
              </a:prstGeom>
            </p:spPr>
            <p:txBody>
              <a:bodyPr vert="horz" wrap="square" lIns="0" tIns="11430" rIns="0" bIns="0" rtlCol="0">
                <a:spAutoFit/>
              </a:bodyPr>
              <a:lstStyle/>
              <a:p>
                <a:pPr marL="25399">
                  <a:spcBef>
                    <a:spcPts val="90"/>
                  </a:spcBef>
                </a:pPr>
                <a:r>
                  <a:rPr lang="en-AU" sz="1100" b="1" spc="-20" dirty="0">
                    <a:latin typeface="Arial"/>
                    <a:cs typeface="Arial"/>
                  </a:rPr>
                  <a:t>Abstract</a:t>
                </a:r>
                <a:r>
                  <a:rPr lang="en-AU" sz="1100" b="1" spc="5" dirty="0">
                    <a:latin typeface="Arial"/>
                    <a:cs typeface="Arial"/>
                  </a:rPr>
                  <a:t> </a:t>
                </a:r>
                <a:r>
                  <a:rPr lang="en-AU" sz="1100" b="1" spc="-10" dirty="0">
                    <a:latin typeface="Arial"/>
                    <a:cs typeface="Arial"/>
                  </a:rPr>
                  <a:t>Interpretation[1]</a:t>
                </a:r>
                <a:r>
                  <a:rPr lang="en-AU" sz="1100" b="1" spc="-15" dirty="0">
                    <a:solidFill>
                      <a:schemeClr val="tx1"/>
                    </a:solidFill>
                    <a:latin typeface="Arial"/>
                    <a:cs typeface="Arial"/>
                  </a:rPr>
                  <a:t> </a:t>
                </a:r>
                <a:r>
                  <a:rPr lang="en-AU" sz="1100" spc="-10" dirty="0">
                    <a:latin typeface="Arial"/>
                    <a:cs typeface="Arial"/>
                  </a:rPr>
                  <a:t>is</a:t>
                </a:r>
                <a:r>
                  <a:rPr lang="en-AU" sz="1100" spc="-15" dirty="0">
                    <a:latin typeface="Arial"/>
                    <a:cs typeface="Arial"/>
                  </a:rPr>
                  <a:t> </a:t>
                </a:r>
                <a:r>
                  <a:rPr lang="en-AU" sz="1100" dirty="0">
                    <a:latin typeface="Arial"/>
                    <a:cs typeface="Arial"/>
                  </a:rPr>
                  <a:t>a</a:t>
                </a:r>
                <a:r>
                  <a:rPr lang="en-AU" sz="1100" spc="-15" dirty="0">
                    <a:latin typeface="Arial"/>
                    <a:cs typeface="Arial"/>
                  </a:rPr>
                  <a:t> </a:t>
                </a:r>
                <a:r>
                  <a:rPr lang="en-AU" sz="1100" spc="-45" dirty="0">
                    <a:latin typeface="Arial"/>
                    <a:cs typeface="Arial"/>
                  </a:rPr>
                  <a:t>framework</a:t>
                </a:r>
                <a:r>
                  <a:rPr lang="en-AU" sz="1100" spc="-15" dirty="0">
                    <a:latin typeface="Arial"/>
                    <a:cs typeface="Arial"/>
                  </a:rPr>
                  <a:t> </a:t>
                </a:r>
                <a:r>
                  <a:rPr lang="en-AU" sz="1100" dirty="0">
                    <a:latin typeface="Arial"/>
                    <a:cs typeface="Arial"/>
                  </a:rPr>
                  <a:t>for</a:t>
                </a:r>
                <a:r>
                  <a:rPr lang="en-AU" sz="1100" spc="-15" dirty="0">
                    <a:latin typeface="Arial"/>
                    <a:cs typeface="Arial"/>
                  </a:rPr>
                  <a:t> </a:t>
                </a:r>
                <a:r>
                  <a:rPr lang="en-AU" sz="1100" dirty="0">
                    <a:latin typeface="Arial"/>
                    <a:cs typeface="Arial"/>
                  </a:rPr>
                  <a:t>static</a:t>
                </a:r>
                <a:r>
                  <a:rPr lang="en-AU" sz="1100" spc="-15" dirty="0">
                    <a:latin typeface="Arial"/>
                    <a:cs typeface="Arial"/>
                  </a:rPr>
                  <a:t> </a:t>
                </a:r>
                <a:r>
                  <a:rPr lang="en-AU" sz="1100" spc="-70" dirty="0">
                    <a:latin typeface="Arial"/>
                    <a:cs typeface="Arial"/>
                  </a:rPr>
                  <a:t>analysis</a:t>
                </a:r>
                <a:r>
                  <a:rPr lang="en-AU" sz="1100" spc="-5" dirty="0">
                    <a:latin typeface="Arial"/>
                    <a:cs typeface="Arial"/>
                  </a:rPr>
                  <a:t> </a:t>
                </a:r>
                <a:r>
                  <a:rPr lang="en-AU" sz="1100" spc="-20" dirty="0">
                    <a:latin typeface="Arial"/>
                    <a:cs typeface="Arial"/>
                  </a:rPr>
                  <a:t>that</a:t>
                </a:r>
                <a:r>
                  <a:rPr lang="zh-CN" altLang="en-US" sz="1100" dirty="0">
                    <a:latin typeface="Arial"/>
                    <a:cs typeface="Arial"/>
                  </a:rPr>
                  <a:t> </a:t>
                </a:r>
                <a:r>
                  <a:rPr lang="en-AU" sz="1100" b="1" spc="-50" dirty="0">
                    <a:latin typeface="Arial"/>
                    <a:cs typeface="Arial"/>
                  </a:rPr>
                  <a:t>approximates</a:t>
                </a:r>
                <a:r>
                  <a:rPr lang="en-AU" sz="1100" b="1" spc="10" dirty="0">
                    <a:latin typeface="Arial"/>
                    <a:cs typeface="Arial"/>
                  </a:rPr>
                  <a:t> </a:t>
                </a:r>
                <a:r>
                  <a:rPr lang="en-AU" sz="1100" b="1" spc="-40" dirty="0">
                    <a:latin typeface="Arial"/>
                    <a:cs typeface="Arial"/>
                  </a:rPr>
                  <a:t>program</a:t>
                </a:r>
                <a:r>
                  <a:rPr lang="en-AU" sz="1100" b="1" spc="15" dirty="0">
                    <a:latin typeface="Arial"/>
                    <a:cs typeface="Arial"/>
                  </a:rPr>
                  <a:t> </a:t>
                </a:r>
                <a:r>
                  <a:rPr lang="en-AU" sz="1100" b="1" spc="-60" dirty="0">
                    <a:latin typeface="Arial"/>
                    <a:cs typeface="Arial"/>
                  </a:rPr>
                  <a:t>behaviors</a:t>
                </a:r>
                <a:r>
                  <a:rPr lang="en-AU" sz="1100" b="1" spc="-15" dirty="0">
                    <a:latin typeface="Arial"/>
                    <a:cs typeface="Arial"/>
                  </a:rPr>
                  <a:t> </a:t>
                </a:r>
                <a:r>
                  <a:rPr lang="en-AU" sz="1100" spc="-10" dirty="0">
                    <a:latin typeface="Arial"/>
                    <a:cs typeface="Arial"/>
                  </a:rPr>
                  <a:t>via</a:t>
                </a:r>
                <a:r>
                  <a:rPr lang="en-AU" sz="1100" spc="-20" dirty="0">
                    <a:latin typeface="Arial"/>
                    <a:cs typeface="Arial"/>
                  </a:rPr>
                  <a:t> </a:t>
                </a:r>
                <a:r>
                  <a:rPr lang="en-AU" sz="1100" dirty="0">
                    <a:latin typeface="Arial"/>
                    <a:cs typeface="Arial"/>
                  </a:rPr>
                  <a:t>fixpoint</a:t>
                </a:r>
                <a:r>
                  <a:rPr lang="en-AU" sz="1100" spc="-20" dirty="0">
                    <a:latin typeface="Arial"/>
                    <a:cs typeface="Arial"/>
                  </a:rPr>
                  <a:t> </a:t>
                </a:r>
                <a:r>
                  <a:rPr lang="en-AU" sz="1100" spc="-10" dirty="0">
                    <a:latin typeface="Arial"/>
                    <a:cs typeface="Arial"/>
                  </a:rPr>
                  <a:t>detection.</a:t>
                </a:r>
                <a:endParaRPr lang="en-AU" sz="1100" dirty="0">
                  <a:latin typeface="Arial"/>
                  <a:cs typeface="Arial"/>
                </a:endParaRPr>
              </a:p>
              <a:p>
                <a:pPr marL="25399">
                  <a:spcBef>
                    <a:spcPts val="35"/>
                  </a:spcBef>
                </a:pPr>
                <a:r>
                  <a:rPr lang="en-AU" sz="1100" b="1" spc="-25" dirty="0">
                    <a:latin typeface="Arial"/>
                    <a:cs typeface="Arial"/>
                  </a:rPr>
                  <a:t>Widening</a:t>
                </a:r>
                <a:r>
                  <a:rPr lang="en-AU" sz="1100" b="1" spc="10" dirty="0">
                    <a:latin typeface="Arial"/>
                    <a:cs typeface="Arial"/>
                  </a:rPr>
                  <a:t> </a:t>
                </a:r>
                <a:r>
                  <a:rPr lang="en-AU" sz="1100" b="1" spc="-20" dirty="0">
                    <a:latin typeface="Arial"/>
                    <a:cs typeface="Arial"/>
                  </a:rPr>
                  <a:t>Operator </a:t>
                </a:r>
                <a14:m>
                  <m:oMath xmlns:m="http://schemas.openxmlformats.org/officeDocument/2006/math">
                    <m:r>
                      <a:rPr lang="en-AU" sz="1100" b="1" i="1" spc="-20">
                        <a:latin typeface="Cambria Math" panose="02040503050406030204" pitchFamily="18" charset="0"/>
                        <a:ea typeface="Cambria Math" panose="02040503050406030204" pitchFamily="18" charset="0"/>
                        <a:cs typeface="Arial"/>
                      </a:rPr>
                      <m:t>𝛁</m:t>
                    </m:r>
                  </m:oMath>
                </a14:m>
                <a:r>
                  <a:rPr lang="zh-CN" altLang="en-US" sz="1100" spc="-25" dirty="0">
                    <a:latin typeface="Arial"/>
                    <a:cs typeface="Arial"/>
                  </a:rPr>
                  <a:t> </a:t>
                </a:r>
                <a:r>
                  <a:rPr lang="en-AU" altLang="zh-CN" sz="1100" spc="-25" dirty="0">
                    <a:latin typeface="Arial"/>
                    <a:cs typeface="Arial"/>
                  </a:rPr>
                  <a:t>(Interval Domain):</a:t>
                </a:r>
                <a:endParaRPr lang="en-AU" sz="1100" spc="-25" dirty="0">
                  <a:latin typeface="Arial"/>
                  <a:cs typeface="Arial"/>
                </a:endParaRPr>
              </a:p>
              <a:p>
                <a:pPr marL="25399" algn="ctr">
                  <a:spcBef>
                    <a:spcPts val="35"/>
                  </a:spcBef>
                </a:pPr>
                <a14:m>
                  <m:oMath xmlns:m="http://schemas.openxmlformats.org/officeDocument/2006/math">
                    <m:r>
                      <a:rPr lang="en-AU" sz="1100" i="1">
                        <a:latin typeface="Cambria Math" panose="02040503050406030204" pitchFamily="18" charset="0"/>
                        <a:cs typeface="Arial"/>
                      </a:rPr>
                      <m:t>[</m:t>
                    </m:r>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1</m:t>
                    </m:r>
                    <m:r>
                      <a:rPr lang="en-AU" sz="1100" i="1">
                        <a:latin typeface="Cambria Math" panose="02040503050406030204" pitchFamily="18" charset="0"/>
                        <a:ea typeface="Cambria Math" panose="02040503050406030204" pitchFamily="18" charset="0"/>
                        <a:cs typeface="Arial"/>
                      </a:rPr>
                      <m:t>, </m:t>
                    </m:r>
                    <m:r>
                      <a:rPr lang="en-AU" sz="1100" i="1">
                        <a:latin typeface="Cambria Math" panose="02040503050406030204" pitchFamily="18" charset="0"/>
                        <a:ea typeface="Cambria Math" panose="02040503050406030204" pitchFamily="18" charset="0"/>
                        <a:cs typeface="Arial"/>
                      </a:rPr>
                      <m:t>h</m:t>
                    </m:r>
                    <m:r>
                      <a:rPr lang="en-AU" sz="1100" i="1" baseline="-25000">
                        <a:latin typeface="Cambria Math" panose="02040503050406030204" pitchFamily="18" charset="0"/>
                        <a:ea typeface="Cambria Math" panose="02040503050406030204" pitchFamily="18" charset="0"/>
                        <a:cs typeface="Arial"/>
                      </a:rPr>
                      <m:t>1</m:t>
                    </m:r>
                    <m:r>
                      <a:rPr lang="en-AU" sz="1100" i="1">
                        <a:latin typeface="Cambria Math" panose="02040503050406030204" pitchFamily="18" charset="0"/>
                        <a:cs typeface="Arial"/>
                      </a:rPr>
                      <m:t>]</m:t>
                    </m:r>
                  </m:oMath>
                </a14:m>
                <a:r>
                  <a:rPr lang="en-AU" sz="1100" b="1" spc="-20" dirty="0">
                    <a:ea typeface="Cambria Math" panose="02040503050406030204" pitchFamily="18" charset="0"/>
                    <a:cs typeface="Arial"/>
                  </a:rPr>
                  <a:t> </a:t>
                </a:r>
                <a14:m>
                  <m:oMath xmlns:m="http://schemas.openxmlformats.org/officeDocument/2006/math">
                    <m:r>
                      <m:rPr>
                        <m:sty m:val="p"/>
                      </m:rPr>
                      <a:rPr lang="en-AU" sz="1100" spc="-20">
                        <a:latin typeface="Cambria Math" panose="02040503050406030204" pitchFamily="18" charset="0"/>
                        <a:ea typeface="Cambria Math" panose="02040503050406030204" pitchFamily="18" charset="0"/>
                        <a:cs typeface="Arial"/>
                      </a:rPr>
                      <m:t>∇</m:t>
                    </m:r>
                  </m:oMath>
                </a14:m>
                <a:r>
                  <a:rPr lang="en-AU" sz="1100" dirty="0">
                    <a:cs typeface="Arial"/>
                  </a:rPr>
                  <a:t> </a:t>
                </a:r>
                <a14:m>
                  <m:oMath xmlns:m="http://schemas.openxmlformats.org/officeDocument/2006/math">
                    <m:r>
                      <a:rPr lang="en-AU" sz="1100" i="1">
                        <a:latin typeface="Cambria Math" panose="02040503050406030204" pitchFamily="18" charset="0"/>
                        <a:cs typeface="Arial"/>
                      </a:rPr>
                      <m:t>[</m:t>
                    </m:r>
                    <m:r>
                      <a:rPr lang="en-AU" sz="1100" i="1">
                        <a:latin typeface="Cambria Math" panose="02040503050406030204" pitchFamily="18" charset="0"/>
                        <a:ea typeface="Cambria Math" panose="02040503050406030204" pitchFamily="18" charset="0"/>
                        <a:cs typeface="Arial"/>
                      </a:rPr>
                      <m:t>ℓ</m:t>
                    </m:r>
                    <m:r>
                      <a:rPr lang="en-US" altLang="zh-CN" sz="1100" i="1" baseline="-25000">
                        <a:latin typeface="Cambria Math" panose="02040503050406030204" pitchFamily="18" charset="0"/>
                        <a:ea typeface="Cambria Math" panose="02040503050406030204" pitchFamily="18" charset="0"/>
                        <a:cs typeface="Arial"/>
                      </a:rPr>
                      <m:t>2</m:t>
                    </m:r>
                    <m:r>
                      <a:rPr lang="en-AU" sz="1100" i="1">
                        <a:latin typeface="Cambria Math" panose="02040503050406030204" pitchFamily="18" charset="0"/>
                        <a:ea typeface="Cambria Math" panose="02040503050406030204" pitchFamily="18" charset="0"/>
                        <a:cs typeface="Arial"/>
                      </a:rPr>
                      <m:t>, </m:t>
                    </m:r>
                    <m:r>
                      <a:rPr lang="en-AU" sz="1100" i="1">
                        <a:latin typeface="Cambria Math" panose="02040503050406030204" pitchFamily="18" charset="0"/>
                        <a:ea typeface="Cambria Math" panose="02040503050406030204" pitchFamily="18" charset="0"/>
                        <a:cs typeface="Arial"/>
                      </a:rPr>
                      <m:t>h</m:t>
                    </m:r>
                    <m:r>
                      <a:rPr lang="en-US" altLang="zh-CN" sz="1100" i="1" baseline="-25000">
                        <a:latin typeface="Cambria Math" panose="02040503050406030204" pitchFamily="18" charset="0"/>
                        <a:ea typeface="Cambria Math" panose="02040503050406030204" pitchFamily="18" charset="0"/>
                        <a:cs typeface="Arial"/>
                      </a:rPr>
                      <m:t>2</m:t>
                    </m:r>
                    <m:r>
                      <a:rPr lang="en-AU" sz="1100" i="1">
                        <a:latin typeface="Cambria Math" panose="02040503050406030204" pitchFamily="18" charset="0"/>
                        <a:cs typeface="Arial"/>
                      </a:rPr>
                      <m:t>]</m:t>
                    </m:r>
                  </m:oMath>
                </a14:m>
                <a:r>
                  <a:rPr lang="en-AU" sz="1100" b="1" spc="-20" dirty="0">
                    <a:ea typeface="Cambria Math" panose="02040503050406030204" pitchFamily="18" charset="0"/>
                    <a:cs typeface="Arial"/>
                  </a:rPr>
                  <a:t> </a:t>
                </a:r>
                <a:r>
                  <a:rPr lang="zh-CN" altLang="en-US" sz="1100" spc="-20" dirty="0">
                    <a:ea typeface="Cambria Math" panose="02040503050406030204" pitchFamily="18" charset="0"/>
                    <a:cs typeface="Arial"/>
                  </a:rPr>
                  <a:t> </a:t>
                </a:r>
                <a:r>
                  <a:rPr lang="en-US" altLang="zh-CN" sz="1100" spc="-20" dirty="0">
                    <a:ea typeface="Cambria Math" panose="02040503050406030204" pitchFamily="18" charset="0"/>
                    <a:cs typeface="Arial"/>
                  </a:rPr>
                  <a:t>=</a:t>
                </a:r>
                <a:r>
                  <a:rPr lang="zh-CN" altLang="en-US" sz="1100" spc="-20" dirty="0">
                    <a:ea typeface="Cambria Math" panose="02040503050406030204" pitchFamily="18" charset="0"/>
                    <a:cs typeface="Arial"/>
                  </a:rPr>
                  <a:t>  </a:t>
                </a:r>
                <a14:m>
                  <m:oMath xmlns:m="http://schemas.openxmlformats.org/officeDocument/2006/math">
                    <m:r>
                      <a:rPr lang="en-AU" sz="1100" i="1">
                        <a:latin typeface="Cambria Math" panose="02040503050406030204" pitchFamily="18" charset="0"/>
                        <a:cs typeface="Arial"/>
                      </a:rPr>
                      <m:t>[</m:t>
                    </m:r>
                    <m:r>
                      <a:rPr lang="en-AU" sz="1100" i="1">
                        <a:latin typeface="Cambria Math" panose="02040503050406030204" pitchFamily="18" charset="0"/>
                        <a:ea typeface="Cambria Math" panose="02040503050406030204" pitchFamily="18" charset="0"/>
                        <a:cs typeface="Arial"/>
                      </a:rPr>
                      <m:t>ℓ</m:t>
                    </m:r>
                    <m:r>
                      <a:rPr lang="en-US" altLang="zh-CN" sz="1100" i="1" baseline="-25000">
                        <a:latin typeface="Cambria Math" panose="02040503050406030204" pitchFamily="18" charset="0"/>
                        <a:ea typeface="Cambria Math" panose="02040503050406030204" pitchFamily="18" charset="0"/>
                        <a:cs typeface="Arial"/>
                      </a:rPr>
                      <m:t>3</m:t>
                    </m:r>
                    <m:r>
                      <a:rPr lang="en-AU" sz="1100" i="1">
                        <a:latin typeface="Cambria Math" panose="02040503050406030204" pitchFamily="18" charset="0"/>
                        <a:ea typeface="Cambria Math" panose="02040503050406030204" pitchFamily="18" charset="0"/>
                        <a:cs typeface="Arial"/>
                      </a:rPr>
                      <m:t>, </m:t>
                    </m:r>
                    <m:r>
                      <a:rPr lang="en-AU" sz="1100" i="1">
                        <a:latin typeface="Cambria Math" panose="02040503050406030204" pitchFamily="18" charset="0"/>
                        <a:ea typeface="Cambria Math" panose="02040503050406030204" pitchFamily="18" charset="0"/>
                        <a:cs typeface="Arial"/>
                      </a:rPr>
                      <m:t>h</m:t>
                    </m:r>
                    <m:r>
                      <a:rPr lang="en-US" altLang="zh-CN" sz="1100" i="1" baseline="-25000">
                        <a:latin typeface="Cambria Math" panose="02040503050406030204" pitchFamily="18" charset="0"/>
                        <a:ea typeface="Cambria Math" panose="02040503050406030204" pitchFamily="18" charset="0"/>
                        <a:cs typeface="Arial"/>
                      </a:rPr>
                      <m:t>3</m:t>
                    </m:r>
                    <m:r>
                      <a:rPr lang="en-AU" sz="1100" i="1">
                        <a:latin typeface="Cambria Math" panose="02040503050406030204" pitchFamily="18" charset="0"/>
                        <a:cs typeface="Arial"/>
                      </a:rPr>
                      <m:t>]</m:t>
                    </m:r>
                  </m:oMath>
                </a14:m>
                <a:r>
                  <a:rPr lang="en-AU" sz="1100" b="1" spc="-20" dirty="0">
                    <a:ea typeface="Cambria Math" panose="02040503050406030204" pitchFamily="18" charset="0"/>
                    <a:cs typeface="Arial"/>
                  </a:rPr>
                  <a:t> </a:t>
                </a:r>
                <a:endParaRPr lang="en-AU" sz="1100" spc="-20" dirty="0">
                  <a:ea typeface="Cambria Math" panose="02040503050406030204" pitchFamily="18" charset="0"/>
                  <a:cs typeface="Arial"/>
                </a:endParaRPr>
              </a:p>
              <a:p>
                <a:pPr marL="25399" algn="ctr">
                  <a:spcBef>
                    <a:spcPts val="35"/>
                  </a:spcBef>
                </a:pP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US" altLang="zh-CN" sz="1100" i="1" baseline="-25000">
                        <a:latin typeface="Cambria Math" panose="02040503050406030204" pitchFamily="18" charset="0"/>
                        <a:ea typeface="Cambria Math" panose="02040503050406030204" pitchFamily="18" charset="0"/>
                        <a:cs typeface="Arial"/>
                      </a:rPr>
                      <m:t>3</m:t>
                    </m:r>
                  </m:oMath>
                </a14:m>
                <a:r>
                  <a:rPr lang="en-US" altLang="zh-CN" sz="1100" spc="-20" dirty="0">
                    <a:ea typeface="Cambria Math" panose="02040503050406030204" pitchFamily="18" charset="0"/>
                    <a:cs typeface="Arial"/>
                  </a:rPr>
                  <a:t> =</a:t>
                </a:r>
                <a:r>
                  <a:rPr lang="zh-CN" altLang="en-US" sz="1100" spc="-20" dirty="0">
                    <a:ea typeface="Cambria Math" panose="02040503050406030204" pitchFamily="18" charset="0"/>
                    <a:cs typeface="Arial"/>
                  </a:rPr>
                  <a:t> </a:t>
                </a:r>
                <a14:m>
                  <m:oMath xmlns:m="http://schemas.openxmlformats.org/officeDocument/2006/math">
                    <m:d>
                      <m:dPr>
                        <m:begChr m:val="{"/>
                        <m:endChr m:val=""/>
                        <m:ctrlPr>
                          <a:rPr lang="en-US" altLang="zh-CN" sz="1100" i="1" spc="-20">
                            <a:latin typeface="Cambria Math" panose="02040503050406030204" pitchFamily="18" charset="0"/>
                            <a:ea typeface="Cambria Math" panose="02040503050406030204" pitchFamily="18" charset="0"/>
                            <a:cs typeface="Arial"/>
                          </a:rPr>
                        </m:ctrlPr>
                      </m:dPr>
                      <m:e>
                        <m:eqArr>
                          <m:eqArrPr>
                            <m:ctrlPr>
                              <a:rPr lang="en-US" altLang="zh-CN" sz="1100" i="1" spc="-20">
                                <a:latin typeface="Cambria Math" panose="02040503050406030204" pitchFamily="18" charset="0"/>
                                <a:ea typeface="Cambria Math" panose="02040503050406030204" pitchFamily="18" charset="0"/>
                                <a:cs typeface="Arial"/>
                              </a:rPr>
                            </m:ctrlPr>
                          </m:eqArrPr>
                          <m:e>
                            <m:r>
                              <a:rPr lang="en-US" altLang="zh-CN" sz="1100" i="1" spc="-20">
                                <a:latin typeface="Cambria Math" panose="02040503050406030204" pitchFamily="18" charset="0"/>
                                <a:ea typeface="Cambria Math" panose="02040503050406030204" pitchFamily="18" charset="0"/>
                                <a:cs typeface="Arial"/>
                              </a:rPr>
                              <m:t>−∞</m:t>
                            </m:r>
                            <m:r>
                              <a:rPr lang="en-AU" altLang="zh-CN" sz="1100" i="1" spc="-20">
                                <a:latin typeface="Cambria Math" panose="02040503050406030204" pitchFamily="18" charset="0"/>
                                <a:ea typeface="Cambria Math" panose="02040503050406030204" pitchFamily="18" charset="0"/>
                                <a:cs typeface="Arial"/>
                              </a:rPr>
                              <m:t>, </m:t>
                            </m:r>
                            <m:r>
                              <a:rPr lang="en-AU" altLang="zh-CN" sz="1100" spc="-20">
                                <a:latin typeface="Cambria Math" panose="02040503050406030204" pitchFamily="18" charset="0"/>
                                <a:ea typeface="Cambria Math" panose="02040503050406030204" pitchFamily="18" charset="0"/>
                                <a:cs typeface="Arial"/>
                              </a:rPr>
                              <m:t> </m:t>
                            </m:r>
                            <m:r>
                              <m:rPr>
                                <m:sty m:val="p"/>
                              </m:rPr>
                              <a:rPr lang="en-AU" altLang="zh-CN" sz="1100" spc="-20">
                                <a:latin typeface="Cambria Math" panose="02040503050406030204" pitchFamily="18" charset="0"/>
                                <a:ea typeface="Cambria Math" panose="02040503050406030204" pitchFamily="18" charset="0"/>
                                <a:cs typeface="Arial"/>
                              </a:rPr>
                              <m:t>if</m:t>
                            </m:r>
                            <m:r>
                              <a:rPr lang="en-AU" altLang="zh-CN" sz="1100" i="1" spc="-20">
                                <a:latin typeface="Cambria Math" panose="02040503050406030204" pitchFamily="18" charset="0"/>
                                <a:ea typeface="Cambria Math" panose="02040503050406030204" pitchFamily="18" charset="0"/>
                                <a:cs typeface="Arial"/>
                              </a:rPr>
                              <m:t> </m:t>
                            </m:r>
                            <m:r>
                              <a:rPr lang="en-AU" sz="1100" i="1">
                                <a:latin typeface="Cambria Math" panose="02040503050406030204" pitchFamily="18" charset="0"/>
                                <a:ea typeface="Cambria Math" panose="02040503050406030204" pitchFamily="18" charset="0"/>
                                <a:cs typeface="Arial"/>
                              </a:rPr>
                              <m:t>ℓ</m:t>
                            </m:r>
                            <m:r>
                              <a:rPr lang="en-US" altLang="zh-CN" sz="1100" i="1" baseline="-25000">
                                <a:latin typeface="Cambria Math" panose="02040503050406030204" pitchFamily="18" charset="0"/>
                                <a:ea typeface="Cambria Math" panose="02040503050406030204" pitchFamily="18" charset="0"/>
                                <a:cs typeface="Arial"/>
                              </a:rPr>
                              <m:t>2</m:t>
                            </m:r>
                            <m:r>
                              <a:rPr lang="en-AU" sz="1100" i="1" spc="-20" dirty="0">
                                <a:latin typeface="Cambria Math" panose="02040503050406030204" pitchFamily="18" charset="0"/>
                                <a:ea typeface="Cambria Math" panose="02040503050406030204" pitchFamily="18" charset="0"/>
                                <a:cs typeface="Arial"/>
                              </a:rPr>
                              <m:t>&lt;</m:t>
                            </m:r>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1</m:t>
                            </m:r>
                          </m:e>
                          <m:e>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1</m:t>
                            </m:r>
                            <m:r>
                              <a:rPr lang="en-AU" altLang="zh-CN" sz="1100" i="1" spc="-20">
                                <a:latin typeface="Cambria Math" panose="02040503050406030204" pitchFamily="18" charset="0"/>
                                <a:ea typeface="Cambria Math" panose="02040503050406030204" pitchFamily="18" charset="0"/>
                                <a:cs typeface="Arial"/>
                              </a:rPr>
                              <m:t>,   </m:t>
                            </m:r>
                            <m:r>
                              <m:rPr>
                                <m:sty m:val="p"/>
                              </m:rPr>
                              <a:rPr lang="en-AU" altLang="zh-CN" sz="1100" spc="-20">
                                <a:latin typeface="Cambria Math" panose="02040503050406030204" pitchFamily="18" charset="0"/>
                                <a:ea typeface="Cambria Math" panose="02040503050406030204" pitchFamily="18" charset="0"/>
                                <a:cs typeface="Arial"/>
                              </a:rPr>
                              <m:t>otherwise</m:t>
                            </m:r>
                          </m:e>
                        </m:eqArr>
                      </m:e>
                    </m:d>
                    <m:r>
                      <a:rPr lang="en-AU" altLang="zh-CN" sz="1100" i="1" spc="-20">
                        <a:latin typeface="Cambria Math" panose="02040503050406030204" pitchFamily="18" charset="0"/>
                        <a:ea typeface="Cambria Math" panose="02040503050406030204" pitchFamily="18" charset="0"/>
                        <a:cs typeface="Arial"/>
                      </a:rPr>
                      <m:t> </m:t>
                    </m:r>
                  </m:oMath>
                </a14:m>
                <a:r>
                  <a:rPr lang="en-AU" sz="1100" dirty="0">
                    <a:latin typeface="Arial"/>
                    <a:cs typeface="Arial"/>
                  </a:rPr>
                  <a:t>     </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h</m:t>
                    </m:r>
                    <m:r>
                      <a:rPr lang="ar-AE" altLang="zh-CN" sz="1100" i="1" baseline="-25000">
                        <a:latin typeface="Cambria Math" panose="02040503050406030204" pitchFamily="18" charset="0"/>
                        <a:ea typeface="Cambria Math" panose="02040503050406030204" pitchFamily="18" charset="0"/>
                        <a:cs typeface="Arial"/>
                      </a:rPr>
                      <m:t>3</m:t>
                    </m:r>
                  </m:oMath>
                </a14:m>
                <a:r>
                  <a:rPr lang="ar-AE" altLang="zh-CN" sz="1100" spc="-20" dirty="0">
                    <a:ea typeface="Cambria Math" panose="02040503050406030204" pitchFamily="18" charset="0"/>
                    <a:cs typeface="Arial"/>
                  </a:rPr>
                  <a:t> = </a:t>
                </a:r>
                <a14:m>
                  <m:oMath xmlns:m="http://schemas.openxmlformats.org/officeDocument/2006/math">
                    <m:d>
                      <m:dPr>
                        <m:begChr m:val="{"/>
                        <m:endChr m:val=""/>
                        <m:ctrlPr>
                          <a:rPr lang="ar-AE" altLang="zh-CN" sz="1100" i="1" spc="-20">
                            <a:latin typeface="Cambria Math" panose="02040503050406030204" pitchFamily="18" charset="0"/>
                            <a:ea typeface="Cambria Math" panose="02040503050406030204" pitchFamily="18" charset="0"/>
                            <a:cs typeface="Arial"/>
                          </a:rPr>
                        </m:ctrlPr>
                      </m:dPr>
                      <m:e>
                        <m:eqArr>
                          <m:eqArrPr>
                            <m:ctrlPr>
                              <a:rPr lang="ar-AE" altLang="zh-CN" sz="1100" i="1" spc="-20">
                                <a:latin typeface="Cambria Math" panose="02040503050406030204" pitchFamily="18" charset="0"/>
                                <a:ea typeface="Cambria Math" panose="02040503050406030204" pitchFamily="18" charset="0"/>
                                <a:cs typeface="Arial"/>
                              </a:rPr>
                            </m:ctrlPr>
                          </m:eqArrPr>
                          <m:e>
                            <m:r>
                              <a:rPr lang="en-AU" altLang="zh-CN" sz="1100" i="1" spc="-20">
                                <a:latin typeface="Cambria Math" panose="02040503050406030204" pitchFamily="18" charset="0"/>
                                <a:ea typeface="Cambria Math" panose="02040503050406030204" pitchFamily="18" charset="0"/>
                                <a:cs typeface="Arial"/>
                              </a:rPr>
                              <m:t>+</m:t>
                            </m:r>
                            <m:r>
                              <a:rPr lang="ar-AE" altLang="zh-CN" sz="1100" i="1" spc="-20">
                                <a:latin typeface="Cambria Math" panose="02040503050406030204" pitchFamily="18" charset="0"/>
                                <a:ea typeface="Cambria Math" panose="02040503050406030204" pitchFamily="18" charset="0"/>
                                <a:cs typeface="Arial"/>
                              </a:rPr>
                              <m:t>∞, </m:t>
                            </m:r>
                            <m:r>
                              <a:rPr lang="ar-AE" altLang="zh-CN" sz="1100" spc="-20">
                                <a:latin typeface="Cambria Math" panose="02040503050406030204" pitchFamily="18" charset="0"/>
                                <a:ea typeface="Cambria Math" panose="02040503050406030204" pitchFamily="18" charset="0"/>
                                <a:cs typeface="Arial"/>
                              </a:rPr>
                              <m:t> </m:t>
                            </m:r>
                            <m:r>
                              <m:rPr>
                                <m:sty m:val="p"/>
                              </m:rPr>
                              <a:rPr lang="en-AU" altLang="zh-CN" sz="1100" spc="-20">
                                <a:latin typeface="Cambria Math" panose="02040503050406030204" pitchFamily="18" charset="0"/>
                                <a:ea typeface="Cambria Math" panose="02040503050406030204" pitchFamily="18" charset="0"/>
                                <a:cs typeface="Arial"/>
                              </a:rPr>
                              <m:t>if</m:t>
                            </m:r>
                            <m:r>
                              <a:rPr lang="en-AU" altLang="zh-CN" sz="1100" i="1" spc="-20">
                                <a:latin typeface="Cambria Math" panose="02040503050406030204" pitchFamily="18" charset="0"/>
                                <a:ea typeface="Cambria Math" panose="02040503050406030204" pitchFamily="18" charset="0"/>
                                <a:cs typeface="Arial"/>
                              </a:rPr>
                              <m:t> </m:t>
                            </m:r>
                            <m:r>
                              <a:rPr lang="en-AU" altLang="zh-CN" sz="1100" i="1" spc="-20">
                                <a:latin typeface="Cambria Math" panose="02040503050406030204" pitchFamily="18" charset="0"/>
                                <a:ea typeface="Cambria Math" panose="02040503050406030204" pitchFamily="18" charset="0"/>
                                <a:cs typeface="Arial"/>
                              </a:rPr>
                              <m:t>h</m:t>
                            </m:r>
                            <m:r>
                              <a:rPr lang="en-AU" altLang="zh-CN" sz="1100" i="1" baseline="-25000">
                                <a:latin typeface="Cambria Math" panose="02040503050406030204" pitchFamily="18" charset="0"/>
                                <a:ea typeface="Cambria Math" panose="02040503050406030204" pitchFamily="18" charset="0"/>
                                <a:cs typeface="Arial"/>
                              </a:rPr>
                              <m:t>2</m:t>
                            </m:r>
                            <m:r>
                              <a:rPr lang="en-AU" sz="1100" i="1" spc="-20" dirty="0">
                                <a:latin typeface="Cambria Math" panose="02040503050406030204" pitchFamily="18" charset="0"/>
                                <a:ea typeface="Cambria Math" panose="02040503050406030204" pitchFamily="18" charset="0"/>
                                <a:cs typeface="Arial"/>
                              </a:rPr>
                              <m:t>&gt;</m:t>
                            </m:r>
                            <m:r>
                              <a:rPr lang="en-AU" sz="1100" i="1" spc="-20" dirty="0">
                                <a:latin typeface="Cambria Math" panose="02040503050406030204" pitchFamily="18" charset="0"/>
                                <a:ea typeface="Cambria Math" panose="02040503050406030204" pitchFamily="18" charset="0"/>
                                <a:cs typeface="Arial"/>
                              </a:rPr>
                              <m:t>h</m:t>
                            </m:r>
                            <m:r>
                              <a:rPr lang="en-AU" sz="1100" i="1" baseline="-25000">
                                <a:latin typeface="Cambria Math" panose="02040503050406030204" pitchFamily="18" charset="0"/>
                                <a:ea typeface="Cambria Math" panose="02040503050406030204" pitchFamily="18" charset="0"/>
                                <a:cs typeface="Arial"/>
                              </a:rPr>
                              <m:t>1</m:t>
                            </m:r>
                          </m:e>
                          <m:e>
                            <m:r>
                              <a:rPr lang="en-AU" sz="1100" i="1">
                                <a:latin typeface="Cambria Math" panose="02040503050406030204" pitchFamily="18" charset="0"/>
                                <a:ea typeface="Cambria Math" panose="02040503050406030204" pitchFamily="18" charset="0"/>
                                <a:cs typeface="Arial"/>
                              </a:rPr>
                              <m:t>h</m:t>
                            </m:r>
                            <m:r>
                              <a:rPr lang="ar-AE" sz="1100" i="1" baseline="-25000">
                                <a:latin typeface="Cambria Math" panose="02040503050406030204" pitchFamily="18" charset="0"/>
                                <a:ea typeface="Cambria Math" panose="02040503050406030204" pitchFamily="18" charset="0"/>
                                <a:cs typeface="Arial"/>
                              </a:rPr>
                              <m:t>1</m:t>
                            </m:r>
                            <m:r>
                              <a:rPr lang="ar-AE" altLang="zh-CN" sz="1100" i="1" spc="-20">
                                <a:latin typeface="Cambria Math" panose="02040503050406030204" pitchFamily="18" charset="0"/>
                                <a:ea typeface="Cambria Math" panose="02040503050406030204" pitchFamily="18" charset="0"/>
                                <a:cs typeface="Arial"/>
                              </a:rPr>
                              <m:t>,   </m:t>
                            </m:r>
                            <m:r>
                              <m:rPr>
                                <m:sty m:val="p"/>
                              </m:rPr>
                              <a:rPr lang="en-AU" altLang="zh-CN" sz="1100" spc="-20">
                                <a:latin typeface="Cambria Math" panose="02040503050406030204" pitchFamily="18" charset="0"/>
                                <a:ea typeface="Cambria Math" panose="02040503050406030204" pitchFamily="18" charset="0"/>
                                <a:cs typeface="Arial"/>
                              </a:rPr>
                              <m:t>otherwise</m:t>
                            </m:r>
                          </m:e>
                        </m:eqArr>
                      </m:e>
                    </m:d>
                  </m:oMath>
                </a14:m>
                <a:endParaRPr lang="ar-AE" sz="1100" dirty="0">
                  <a:latin typeface="Arial"/>
                  <a:cs typeface="Arial"/>
                </a:endParaRPr>
              </a:p>
            </p:txBody>
          </p:sp>
        </mc:Choice>
        <mc:Fallback xmlns="">
          <p:sp>
            <p:nvSpPr>
              <p:cNvPr id="4" name="object 4"/>
              <p:cNvSpPr txBox="1">
                <a:spLocks noRot="1" noChangeAspect="1" noMove="1" noResize="1" noEditPoints="1" noAdjustHandles="1" noChangeArrowheads="1" noChangeShapeType="1" noTextEdit="1"/>
              </p:cNvSpPr>
              <p:nvPr/>
            </p:nvSpPr>
            <p:spPr>
              <a:xfrm>
                <a:off x="259537" y="313202"/>
                <a:ext cx="5656136" cy="1066254"/>
              </a:xfrm>
              <a:prstGeom prst="rect">
                <a:avLst/>
              </a:prstGeom>
              <a:blipFill>
                <a:blip r:embed="rId3"/>
                <a:stretch>
                  <a:fillRect l="-1121" t="-17647" b="-114118"/>
                </a:stretch>
              </a:blipFill>
            </p:spPr>
            <p:txBody>
              <a:bodyPr/>
              <a:lstStyle/>
              <a:p>
                <a:r>
                  <a:rPr lang="en-US">
                    <a:noFill/>
                  </a:rPr>
                  <a:t> </a:t>
                </a:r>
              </a:p>
            </p:txBody>
          </p:sp>
        </mc:Fallback>
      </mc:AlternateContent>
      <p:sp>
        <p:nvSpPr>
          <p:cNvPr id="13" name="object 13"/>
          <p:cNvSpPr txBox="1"/>
          <p:nvPr/>
        </p:nvSpPr>
        <p:spPr>
          <a:xfrm>
            <a:off x="248291" y="1366268"/>
            <a:ext cx="4040556" cy="238527"/>
          </a:xfrm>
          <a:prstGeom prst="rect">
            <a:avLst/>
          </a:prstGeom>
        </p:spPr>
        <p:txBody>
          <a:bodyPr vert="horz" wrap="square" lIns="0" tIns="68580" rIns="0" bIns="0" rtlCol="0">
            <a:spAutoFit/>
          </a:bodyPr>
          <a:lstStyle/>
          <a:p>
            <a:pPr marL="38098">
              <a:spcBef>
                <a:spcPts val="540"/>
              </a:spcBef>
            </a:pPr>
            <a:r>
              <a:rPr lang="en-AU" sz="1100" b="1" spc="-25" dirty="0">
                <a:latin typeface="Arial"/>
                <a:cs typeface="Arial"/>
              </a:rPr>
              <a:t>Widening</a:t>
            </a:r>
            <a:r>
              <a:rPr lang="en-AU" sz="1100" b="1" spc="-5" dirty="0">
                <a:latin typeface="Arial"/>
                <a:cs typeface="Arial"/>
              </a:rPr>
              <a:t> </a:t>
            </a:r>
            <a:r>
              <a:rPr lang="en-AU" sz="1100" b="1" spc="-10" dirty="0">
                <a:latin typeface="Arial"/>
                <a:cs typeface="Arial"/>
              </a:rPr>
              <a:t>Example:</a:t>
            </a:r>
            <a:endParaRPr lang="en-AU" sz="1100" dirty="0">
              <a:latin typeface="Arial"/>
              <a:cs typeface="Arial"/>
            </a:endParaRPr>
          </a:p>
        </p:txBody>
      </p:sp>
      <p:pic>
        <p:nvPicPr>
          <p:cNvPr id="47" name="Picture 46">
            <a:extLst>
              <a:ext uri="{FF2B5EF4-FFF2-40B4-BE49-F238E27FC236}">
                <a16:creationId xmlns:a16="http://schemas.microsoft.com/office/drawing/2014/main" id="{7897A697-52B9-6926-2CAB-78434DDD5601}"/>
              </a:ext>
            </a:extLst>
          </p:cNvPr>
          <p:cNvPicPr>
            <a:picLocks noChangeAspect="1"/>
          </p:cNvPicPr>
          <p:nvPr/>
        </p:nvPicPr>
        <p:blipFill>
          <a:blip r:embed="rId4"/>
          <a:srcRect/>
          <a:stretch/>
        </p:blipFill>
        <p:spPr>
          <a:xfrm>
            <a:off x="182248" y="1830716"/>
            <a:ext cx="5713129" cy="1206888"/>
          </a:xfrm>
          <a:prstGeom prst="rect">
            <a:avLst/>
          </a:prstGeom>
        </p:spPr>
      </p:pic>
      <p:sp>
        <p:nvSpPr>
          <p:cNvPr id="48" name="TextBox 47">
            <a:extLst>
              <a:ext uri="{FF2B5EF4-FFF2-40B4-BE49-F238E27FC236}">
                <a16:creationId xmlns:a16="http://schemas.microsoft.com/office/drawing/2014/main" id="{7909115D-9C73-6E49-EABB-1E34A21064A7}"/>
              </a:ext>
            </a:extLst>
          </p:cNvPr>
          <p:cNvSpPr txBox="1"/>
          <p:nvPr/>
        </p:nvSpPr>
        <p:spPr>
          <a:xfrm>
            <a:off x="259537" y="1563676"/>
            <a:ext cx="4159765" cy="246221"/>
          </a:xfrm>
          <a:prstGeom prst="rect">
            <a:avLst/>
          </a:prstGeom>
          <a:noFill/>
        </p:spPr>
        <p:txBody>
          <a:bodyPr wrap="square">
            <a:spAutoFit/>
          </a:bodyPr>
          <a:lstStyle/>
          <a:p>
            <a:pPr>
              <a:buNone/>
            </a:pPr>
            <a:r>
              <a:rPr lang="en-AU" sz="1000" b="1" dirty="0">
                <a:latin typeface="Helvetica" pitchFamily="2" charset="0"/>
              </a:rPr>
              <a:t>State-wise widening strategy</a:t>
            </a:r>
            <a:r>
              <a:rPr lang="zh-CN" altLang="en-US" sz="1000" b="1" dirty="0">
                <a:latin typeface="Helvetica" pitchFamily="2" charset="0"/>
              </a:rPr>
              <a:t> </a:t>
            </a:r>
            <a:r>
              <a:rPr lang="en-AU" altLang="zh-CN" sz="1000" b="1" dirty="0">
                <a:latin typeface="Helvetica" pitchFamily="2" charset="0"/>
              </a:rPr>
              <a:t>(IKOS[2] Clam[3])</a:t>
            </a:r>
            <a:endParaRPr lang="en-AU" sz="1000" b="1" dirty="0">
              <a:latin typeface="Helvetica" pitchFamily="2" charset="0"/>
            </a:endParaRPr>
          </a:p>
        </p:txBody>
      </p:sp>
      <p:sp>
        <p:nvSpPr>
          <p:cNvPr id="49" name="TextBox 48">
            <a:extLst>
              <a:ext uri="{FF2B5EF4-FFF2-40B4-BE49-F238E27FC236}">
                <a16:creationId xmlns:a16="http://schemas.microsoft.com/office/drawing/2014/main" id="{1C82FDF7-1930-77F1-8811-05457FC3C2D6}"/>
              </a:ext>
            </a:extLst>
          </p:cNvPr>
          <p:cNvSpPr txBox="1"/>
          <p:nvPr/>
        </p:nvSpPr>
        <p:spPr>
          <a:xfrm>
            <a:off x="104775" y="2962547"/>
            <a:ext cx="4438650" cy="400110"/>
          </a:xfrm>
          <a:prstGeom prst="rect">
            <a:avLst/>
          </a:prstGeom>
          <a:noFill/>
        </p:spPr>
        <p:txBody>
          <a:bodyPr wrap="square" rtlCol="0">
            <a:spAutoFit/>
          </a:bodyPr>
          <a:lstStyle/>
          <a:p>
            <a:r>
              <a:rPr lang="en-AU" sz="500" i="1" dirty="0"/>
              <a:t>[1] P. </a:t>
            </a:r>
            <a:r>
              <a:rPr lang="en-AU" sz="500" i="1" dirty="0" err="1"/>
              <a:t>Cousot</a:t>
            </a:r>
            <a:r>
              <a:rPr lang="en-AU" sz="500" i="1" dirty="0"/>
              <a:t> and R. </a:t>
            </a:r>
            <a:r>
              <a:rPr lang="en-AU" sz="500" i="1" dirty="0" err="1"/>
              <a:t>Cousot</a:t>
            </a:r>
            <a:r>
              <a:rPr lang="en-AU" sz="500" i="1" dirty="0"/>
              <a:t>, ”Abstract interpretation: a unified lattice model for static analysis of programs by construction or approximation of fixpoints,” POPL, 1977.</a:t>
            </a:r>
          </a:p>
          <a:p>
            <a:r>
              <a:rPr lang="en-AU" sz="500" i="1" dirty="0"/>
              <a:t>[2] D. Gopan, T. Reps, and M. Sagiv, ”IKOS: A Framework for Sound Static Analysis of C and C++ Programs,” CAV, 2011.</a:t>
            </a:r>
          </a:p>
          <a:p>
            <a:r>
              <a:rPr lang="en-AU" sz="500" i="1" dirty="0"/>
              <a:t>[3] E. Albert, P. Kafle, and G. Puebla, ”Clam: A Static Analyzer for C Programs Based on Abstract Interpretation,” CAV, 2020.</a:t>
            </a:r>
            <a:endParaRPr lang="en-US" sz="500" dirty="0"/>
          </a:p>
        </p:txBody>
      </p:sp>
      <p:sp>
        <p:nvSpPr>
          <p:cNvPr id="51" name="Slide Number Placeholder 50">
            <a:extLst>
              <a:ext uri="{FF2B5EF4-FFF2-40B4-BE49-F238E27FC236}">
                <a16:creationId xmlns:a16="http://schemas.microsoft.com/office/drawing/2014/main" id="{804B49BC-DBAE-56AD-3A62-87EB4E282713}"/>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2</a:t>
            </a:fld>
            <a:endParaRPr lang="en-AU" dirty="0"/>
          </a:p>
        </p:txBody>
      </p:sp>
      <p:cxnSp>
        <p:nvCxnSpPr>
          <p:cNvPr id="52" name="Straight Arrow Connector 51">
            <a:extLst>
              <a:ext uri="{FF2B5EF4-FFF2-40B4-BE49-F238E27FC236}">
                <a16:creationId xmlns:a16="http://schemas.microsoft.com/office/drawing/2014/main" id="{354A5A5A-CFFB-C498-A934-08C8037C1AB7}"/>
              </a:ext>
            </a:extLst>
          </p:cNvPr>
          <p:cNvCxnSpPr>
            <a:cxnSpLocks/>
          </p:cNvCxnSpPr>
          <p:nvPr/>
        </p:nvCxnSpPr>
        <p:spPr>
          <a:xfrm flipH="1">
            <a:off x="3762375" y="1773918"/>
            <a:ext cx="1049087" cy="436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7A0BAA7-C07E-3BBA-8773-54C36E05FE2A}"/>
              </a:ext>
            </a:extLst>
          </p:cNvPr>
          <p:cNvCxnSpPr>
            <a:cxnSpLocks/>
          </p:cNvCxnSpPr>
          <p:nvPr/>
        </p:nvCxnSpPr>
        <p:spPr>
          <a:xfrm>
            <a:off x="4811462" y="1773918"/>
            <a:ext cx="399914" cy="436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308EEE63-B386-C2B1-237D-3EBBC679D39F}"/>
              </a:ext>
            </a:extLst>
          </p:cNvPr>
          <p:cNvSpPr txBox="1"/>
          <p:nvPr/>
        </p:nvSpPr>
        <p:spPr>
          <a:xfrm>
            <a:off x="4285274" y="1519689"/>
            <a:ext cx="1476877" cy="338554"/>
          </a:xfrm>
          <a:prstGeom prst="rect">
            <a:avLst/>
          </a:prstGeom>
          <a:noFill/>
        </p:spPr>
        <p:txBody>
          <a:bodyPr wrap="square" rtlCol="0">
            <a:spAutoFit/>
          </a:bodyPr>
          <a:lstStyle/>
          <a:p>
            <a:r>
              <a:rPr lang="en-US" sz="800" dirty="0"/>
              <a:t>Fixpoint reached, apply </a:t>
            </a:r>
            <a:r>
              <a:rPr lang="en-US" altLang="zh-CN" sz="800" dirty="0"/>
              <a:t>10</a:t>
            </a:r>
            <a:r>
              <a:rPr lang="zh-CN" altLang="en-US" sz="800" dirty="0"/>
              <a:t> </a:t>
            </a:r>
            <a:r>
              <a:rPr lang="en-US" sz="800" dirty="0"/>
              <a:t>widens </a:t>
            </a:r>
          </a:p>
        </p:txBody>
      </p:sp>
      <p:pic>
        <p:nvPicPr>
          <p:cNvPr id="60" name="Picture 59">
            <a:extLst>
              <a:ext uri="{FF2B5EF4-FFF2-40B4-BE49-F238E27FC236}">
                <a16:creationId xmlns:a16="http://schemas.microsoft.com/office/drawing/2014/main" id="{337D7C06-E80C-5ED7-5AA8-ABBA3779AA5F}"/>
              </a:ext>
            </a:extLst>
          </p:cNvPr>
          <p:cNvPicPr>
            <a:picLocks noChangeAspect="1"/>
          </p:cNvPicPr>
          <p:nvPr/>
        </p:nvPicPr>
        <p:blipFill>
          <a:blip r:embed="rId5"/>
          <a:stretch>
            <a:fillRect/>
          </a:stretch>
        </p:blipFill>
        <p:spPr>
          <a:xfrm>
            <a:off x="4587807" y="602977"/>
            <a:ext cx="1145867" cy="202964"/>
          </a:xfrm>
          <a:prstGeom prst="rect">
            <a:avLst/>
          </a:prstGeom>
        </p:spPr>
      </p:pic>
      <p:pic>
        <p:nvPicPr>
          <p:cNvPr id="59" name="Picture 58">
            <a:extLst>
              <a:ext uri="{FF2B5EF4-FFF2-40B4-BE49-F238E27FC236}">
                <a16:creationId xmlns:a16="http://schemas.microsoft.com/office/drawing/2014/main" id="{29BB1B67-E3CB-AC8C-4C65-FEAC6999FD5B}"/>
              </a:ext>
            </a:extLst>
          </p:cNvPr>
          <p:cNvPicPr>
            <a:picLocks noChangeAspect="1"/>
          </p:cNvPicPr>
          <p:nvPr/>
        </p:nvPicPr>
        <p:blipFill>
          <a:blip r:embed="rId5"/>
          <a:stretch>
            <a:fillRect/>
          </a:stretch>
        </p:blipFill>
        <p:spPr>
          <a:xfrm>
            <a:off x="4248572" y="1773918"/>
            <a:ext cx="1571203" cy="11046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9"/>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8" grpId="0"/>
      <p:bldP spid="5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0B3F-82E5-2857-1D49-B5E1077CB63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DB3C431F-A719-7A12-1469-6434D41B74A4}"/>
              </a:ext>
            </a:extLst>
          </p:cNvPr>
          <p:cNvPicPr>
            <a:picLocks noChangeAspect="1"/>
          </p:cNvPicPr>
          <p:nvPr/>
        </p:nvPicPr>
        <p:blipFill>
          <a:blip r:embed="rId3"/>
          <a:srcRect t="30036"/>
          <a:stretch>
            <a:fillRect/>
          </a:stretch>
        </p:blipFill>
        <p:spPr>
          <a:xfrm>
            <a:off x="144346" y="1884381"/>
            <a:ext cx="5599229" cy="1212176"/>
          </a:xfrm>
          <a:prstGeom prst="rect">
            <a:avLst/>
          </a:prstGeom>
        </p:spPr>
      </p:pic>
      <p:sp>
        <p:nvSpPr>
          <p:cNvPr id="37" name="object 37">
            <a:extLst>
              <a:ext uri="{FF2B5EF4-FFF2-40B4-BE49-F238E27FC236}">
                <a16:creationId xmlns:a16="http://schemas.microsoft.com/office/drawing/2014/main" id="{31FDA91D-0350-C4B9-99F0-A571640B5470}"/>
              </a:ext>
            </a:extLst>
          </p:cNvPr>
          <p:cNvSpPr txBox="1">
            <a:spLocks noGrp="1"/>
          </p:cNvSpPr>
          <p:nvPr>
            <p:ph type="ftr" sz="quarter" idx="4294967295"/>
          </p:nvPr>
        </p:nvSpPr>
        <p:spPr>
          <a:xfrm>
            <a:off x="1103219" y="2940241"/>
            <a:ext cx="696510" cy="179536"/>
          </a:xfrm>
          <a:prstGeom prst="rect">
            <a:avLst/>
          </a:prstGeom>
        </p:spPr>
        <p:txBody>
          <a:bodyPr vert="horz" wrap="square" lIns="0" tIns="0" rIns="0" bIns="0" rtlCol="0">
            <a:spAutoFit/>
          </a:bodyPr>
          <a:lstStyle/>
          <a:p>
            <a:pPr marL="12700">
              <a:lnSpc>
                <a:spcPts val="675"/>
              </a:lnSpc>
            </a:pPr>
            <a:r>
              <a:rPr dirty="0"/>
              <a:t>J.</a:t>
            </a:r>
            <a:r>
              <a:rPr spc="40" dirty="0"/>
              <a:t> </a:t>
            </a:r>
            <a:r>
              <a:rPr dirty="0"/>
              <a:t>Wang,</a:t>
            </a:r>
            <a:r>
              <a:rPr spc="45" dirty="0"/>
              <a:t> </a:t>
            </a:r>
            <a:r>
              <a:rPr dirty="0"/>
              <a:t>X.</a:t>
            </a:r>
            <a:r>
              <a:rPr spc="45" dirty="0"/>
              <a:t> </a:t>
            </a:r>
            <a:r>
              <a:rPr spc="-20" dirty="0"/>
              <a:t>Cheng,</a:t>
            </a:r>
            <a:r>
              <a:rPr spc="45" dirty="0"/>
              <a:t> </a:t>
            </a:r>
            <a:r>
              <a:rPr dirty="0"/>
              <a:t>Y.</a:t>
            </a:r>
            <a:r>
              <a:rPr spc="50" dirty="0"/>
              <a:t> </a:t>
            </a:r>
            <a:r>
              <a:rPr spc="-25" dirty="0"/>
              <a:t>Sui</a:t>
            </a:r>
          </a:p>
        </p:txBody>
      </p:sp>
      <p:cxnSp>
        <p:nvCxnSpPr>
          <p:cNvPr id="43" name="Straight Arrow Connector 42">
            <a:extLst>
              <a:ext uri="{FF2B5EF4-FFF2-40B4-BE49-F238E27FC236}">
                <a16:creationId xmlns:a16="http://schemas.microsoft.com/office/drawing/2014/main" id="{4F6325D2-FADC-1F8F-ED00-79E5E2F04974}"/>
              </a:ext>
            </a:extLst>
          </p:cNvPr>
          <p:cNvCxnSpPr>
            <a:cxnSpLocks/>
          </p:cNvCxnSpPr>
          <p:nvPr/>
        </p:nvCxnSpPr>
        <p:spPr>
          <a:xfrm flipH="1" flipV="1">
            <a:off x="4001654" y="2736755"/>
            <a:ext cx="762000" cy="36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6B4A848-D49F-8122-90BD-0F1CDE715856}"/>
              </a:ext>
            </a:extLst>
          </p:cNvPr>
          <p:cNvCxnSpPr>
            <a:cxnSpLocks/>
          </p:cNvCxnSpPr>
          <p:nvPr/>
        </p:nvCxnSpPr>
        <p:spPr>
          <a:xfrm flipV="1">
            <a:off x="4771019" y="2697553"/>
            <a:ext cx="381000" cy="402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E623B46-1726-4A96-6EF1-20EE2CFD2287}"/>
              </a:ext>
            </a:extLst>
          </p:cNvPr>
          <p:cNvSpPr txBox="1"/>
          <p:nvPr/>
        </p:nvSpPr>
        <p:spPr>
          <a:xfrm>
            <a:off x="4050484" y="3046838"/>
            <a:ext cx="1828029" cy="215444"/>
          </a:xfrm>
          <a:prstGeom prst="rect">
            <a:avLst/>
          </a:prstGeom>
          <a:noFill/>
        </p:spPr>
        <p:txBody>
          <a:bodyPr wrap="square" rtlCol="0">
            <a:spAutoFit/>
          </a:bodyPr>
          <a:lstStyle/>
          <a:p>
            <a:r>
              <a:rPr lang="en-US" sz="800" dirty="0"/>
              <a:t>Fixpoint reached, apply 8 widens </a:t>
            </a:r>
          </a:p>
        </p:txBody>
      </p:sp>
      <p:pic>
        <p:nvPicPr>
          <p:cNvPr id="59" name="Picture 58">
            <a:extLst>
              <a:ext uri="{FF2B5EF4-FFF2-40B4-BE49-F238E27FC236}">
                <a16:creationId xmlns:a16="http://schemas.microsoft.com/office/drawing/2014/main" id="{3E2A65E4-3BE8-CA08-C443-F214453FCB75}"/>
              </a:ext>
            </a:extLst>
          </p:cNvPr>
          <p:cNvPicPr>
            <a:picLocks noChangeAspect="1"/>
          </p:cNvPicPr>
          <p:nvPr/>
        </p:nvPicPr>
        <p:blipFill>
          <a:blip r:embed="rId4"/>
          <a:stretch>
            <a:fillRect/>
          </a:stretch>
        </p:blipFill>
        <p:spPr>
          <a:xfrm>
            <a:off x="3329940" y="3204193"/>
            <a:ext cx="2049780" cy="122555"/>
          </a:xfrm>
          <a:prstGeom prst="rect">
            <a:avLst/>
          </a:prstGeom>
        </p:spPr>
      </p:pic>
      <p:sp>
        <p:nvSpPr>
          <p:cNvPr id="58" name="TextBox 57">
            <a:extLst>
              <a:ext uri="{FF2B5EF4-FFF2-40B4-BE49-F238E27FC236}">
                <a16:creationId xmlns:a16="http://schemas.microsoft.com/office/drawing/2014/main" id="{2FE13842-FD2E-760B-8925-3777114EB695}"/>
              </a:ext>
            </a:extLst>
          </p:cNvPr>
          <p:cNvSpPr txBox="1"/>
          <p:nvPr/>
        </p:nvSpPr>
        <p:spPr>
          <a:xfrm>
            <a:off x="144346" y="3191099"/>
            <a:ext cx="4362450" cy="169277"/>
          </a:xfrm>
          <a:prstGeom prst="rect">
            <a:avLst/>
          </a:prstGeom>
          <a:noFill/>
        </p:spPr>
        <p:txBody>
          <a:bodyPr wrap="square" rtlCol="0">
            <a:spAutoFit/>
          </a:bodyPr>
          <a:lstStyle/>
          <a:p>
            <a:r>
              <a:rPr lang="en-AU" sz="500" i="1" dirty="0"/>
              <a:t>[1] X. Cheng, J. Wang, and Y. Sui, ”CSA: Cross-Domain Sparse Abstract Interpretation for Efficient and Precise Static Analysis,” ICSE, 2024.</a:t>
            </a:r>
          </a:p>
        </p:txBody>
      </p:sp>
      <p:sp>
        <p:nvSpPr>
          <p:cNvPr id="60" name="TextBox 59">
            <a:extLst>
              <a:ext uri="{FF2B5EF4-FFF2-40B4-BE49-F238E27FC236}">
                <a16:creationId xmlns:a16="http://schemas.microsoft.com/office/drawing/2014/main" id="{2071B550-9EB6-130D-AA5E-CFC54045EAA6}"/>
              </a:ext>
            </a:extLst>
          </p:cNvPr>
          <p:cNvSpPr txBox="1"/>
          <p:nvPr/>
        </p:nvSpPr>
        <p:spPr>
          <a:xfrm>
            <a:off x="245691" y="399265"/>
            <a:ext cx="4159765" cy="246221"/>
          </a:xfrm>
          <a:prstGeom prst="rect">
            <a:avLst/>
          </a:prstGeom>
          <a:noFill/>
        </p:spPr>
        <p:txBody>
          <a:bodyPr wrap="square">
            <a:spAutoFit/>
          </a:bodyPr>
          <a:lstStyle/>
          <a:p>
            <a:pPr>
              <a:buNone/>
            </a:pPr>
            <a:r>
              <a:rPr lang="en-AU" sz="1000" b="1" dirty="0">
                <a:latin typeface="Helvetica" pitchFamily="2" charset="0"/>
              </a:rPr>
              <a:t>CSA: Cross Domain Sparse Abstract Interpretation [1]</a:t>
            </a:r>
          </a:p>
        </p:txBody>
      </p:sp>
      <p:pic>
        <p:nvPicPr>
          <p:cNvPr id="67" name="Picture 66">
            <a:extLst>
              <a:ext uri="{FF2B5EF4-FFF2-40B4-BE49-F238E27FC236}">
                <a16:creationId xmlns:a16="http://schemas.microsoft.com/office/drawing/2014/main" id="{A5A38D9E-5F2A-976A-FED0-8A62CF33D4B3}"/>
              </a:ext>
            </a:extLst>
          </p:cNvPr>
          <p:cNvPicPr>
            <a:picLocks noChangeAspect="1"/>
          </p:cNvPicPr>
          <p:nvPr/>
        </p:nvPicPr>
        <p:blipFill>
          <a:blip r:embed="rId5"/>
          <a:stretch>
            <a:fillRect/>
          </a:stretch>
        </p:blipFill>
        <p:spPr>
          <a:xfrm>
            <a:off x="299108" y="533743"/>
            <a:ext cx="1582398" cy="1485319"/>
          </a:xfrm>
          <a:prstGeom prst="rect">
            <a:avLst/>
          </a:prstGeom>
        </p:spPr>
      </p:pic>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4F3AC21-9C9A-1D56-B383-9DAAD88B5065}"/>
                  </a:ext>
                </a:extLst>
              </p:cNvPr>
              <p:cNvSpPr txBox="1"/>
              <p:nvPr/>
            </p:nvSpPr>
            <p:spPr>
              <a:xfrm>
                <a:off x="1824075" y="641275"/>
                <a:ext cx="3919500" cy="553998"/>
              </a:xfrm>
              <a:prstGeom prst="rect">
                <a:avLst/>
              </a:prstGeom>
              <a:noFill/>
            </p:spPr>
            <p:txBody>
              <a:bodyPr wrap="square">
                <a:spAutoFit/>
              </a:bodyPr>
              <a:lstStyle/>
              <a:p>
                <a:r>
                  <a:rPr lang="en-AU" sz="1000" b="1" dirty="0">
                    <a:ea typeface="Cambria Math" panose="02040503050406030204" pitchFamily="18" charset="0"/>
                    <a:cs typeface="Arial"/>
                  </a:rPr>
                  <a:t>Inter-procedural value flow graph(IVFG): </a:t>
                </a:r>
                <a:r>
                  <a:rPr lang="en-AU" sz="1000" dirty="0">
                    <a:ea typeface="Cambria Math" panose="02040503050406030204" pitchFamily="18" charset="0"/>
                    <a:cs typeface="Arial"/>
                  </a:rPr>
                  <a:t>def-use chain graph</a:t>
                </a:r>
              </a:p>
              <a:p>
                <a:r>
                  <a:rPr lang="en-AU" sz="1000" dirty="0">
                    <a:ea typeface="Cambria Math" panose="02040503050406030204" pitchFamily="18" charset="0"/>
                    <a:cs typeface="Arial"/>
                  </a:rPr>
                  <a:t>Node: x@</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1</m:t>
                    </m:r>
                  </m:oMath>
                </a14:m>
                <a:r>
                  <a:rPr lang="en-AU" sz="1000" dirty="0">
                    <a:ea typeface="Cambria Math" panose="02040503050406030204" pitchFamily="18" charset="0"/>
                    <a:cs typeface="Arial"/>
                  </a:rPr>
                  <a:t> means x defined at </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1</m:t>
                    </m:r>
                  </m:oMath>
                </a14:m>
                <a:endParaRPr lang="en-AU" altLang="zh-CN" sz="1000" baseline="-25000" dirty="0">
                  <a:ea typeface="Cambria Math" panose="02040503050406030204" pitchFamily="18" charset="0"/>
                  <a:cs typeface="Arial"/>
                </a:endParaRPr>
              </a:p>
              <a:p>
                <a:r>
                  <a:rPr lang="en-US" sz="1000" dirty="0"/>
                  <a:t>Edge: </a:t>
                </a:r>
                <a:r>
                  <a:rPr lang="zh-CN" altLang="en-US" sz="1000" dirty="0"/>
                  <a:t>         </a:t>
                </a:r>
                <a:r>
                  <a:rPr lang="en-US" sz="1000" dirty="0"/>
                  <a:t> </a:t>
                </a:r>
                <a:r>
                  <a:rPr lang="en-AU" sz="1000" dirty="0"/>
                  <a:t>represents a def-use relation about variable x</a:t>
                </a:r>
              </a:p>
            </p:txBody>
          </p:sp>
        </mc:Choice>
        <mc:Fallback xmlns="">
          <p:sp>
            <p:nvSpPr>
              <p:cNvPr id="69" name="TextBox 68">
                <a:extLst>
                  <a:ext uri="{FF2B5EF4-FFF2-40B4-BE49-F238E27FC236}">
                    <a16:creationId xmlns:a16="http://schemas.microsoft.com/office/drawing/2014/main" id="{64F3AC21-9C9A-1D56-B383-9DAAD88B5065}"/>
                  </a:ext>
                </a:extLst>
              </p:cNvPr>
              <p:cNvSpPr txBox="1">
                <a:spLocks noRot="1" noChangeAspect="1" noMove="1" noResize="1" noEditPoints="1" noAdjustHandles="1" noChangeArrowheads="1" noChangeShapeType="1" noTextEdit="1"/>
              </p:cNvSpPr>
              <p:nvPr/>
            </p:nvSpPr>
            <p:spPr>
              <a:xfrm>
                <a:off x="1824075" y="641275"/>
                <a:ext cx="3919500" cy="553998"/>
              </a:xfrm>
              <a:prstGeom prst="rect">
                <a:avLst/>
              </a:prstGeom>
              <a:blipFill>
                <a:blip r:embed="rId6"/>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8AF7466-96A2-93D6-8706-5DE44FAAE1C7}"/>
                  </a:ext>
                </a:extLst>
              </p:cNvPr>
              <p:cNvSpPr txBox="1"/>
              <p:nvPr/>
            </p:nvSpPr>
            <p:spPr>
              <a:xfrm>
                <a:off x="1828045" y="1123004"/>
                <a:ext cx="3686929" cy="400110"/>
              </a:xfrm>
              <a:prstGeom prst="rect">
                <a:avLst/>
              </a:prstGeom>
              <a:noFill/>
            </p:spPr>
            <p:txBody>
              <a:bodyPr wrap="square">
                <a:spAutoFit/>
              </a:bodyPr>
              <a:lstStyle/>
              <a:p>
                <a:r>
                  <a:rPr lang="en-AU" sz="1000" b="1" dirty="0">
                    <a:ea typeface="Cambria Math" panose="02040503050406030204" pitchFamily="18" charset="0"/>
                    <a:cs typeface="Arial"/>
                  </a:rPr>
                  <a:t>Widen Set: 4 </a:t>
                </a:r>
                <a:r>
                  <a:rPr lang="en-AU" sz="1000" dirty="0">
                    <a:ea typeface="Cambria Math" panose="02040503050406030204" pitchFamily="18" charset="0"/>
                    <a:cs typeface="Arial"/>
                  </a:rPr>
                  <a:t>variables defined in the cycle (</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3 </m:t>
                    </m:r>
                  </m:oMath>
                </a14:m>
                <a:r>
                  <a:rPr lang="en-AU" sz="1000" dirty="0">
                    <a:ea typeface="Cambria Math" panose="02040503050406030204" pitchFamily="18" charset="0"/>
                    <a:cs typeface="Arial"/>
                  </a:rPr>
                  <a:t>- </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6</m:t>
                    </m:r>
                  </m:oMath>
                </a14:m>
                <a:r>
                  <a:rPr lang="en-AU" sz="1000" dirty="0">
                    <a:ea typeface="Cambria Math" panose="02040503050406030204" pitchFamily="18" charset="0"/>
                    <a:cs typeface="Arial"/>
                  </a:rPr>
                  <a:t>) : </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3</m:t>
                    </m:r>
                  </m:oMath>
                </a14:m>
                <a:r>
                  <a:rPr lang="en-US" sz="1000" dirty="0"/>
                  <a:t>, x@</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4</m:t>
                    </m:r>
                  </m:oMath>
                </a14:m>
                <a:r>
                  <a:rPr lang="en-US" sz="1000" dirty="0"/>
                  <a:t>, y@</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5</m:t>
                    </m:r>
                  </m:oMath>
                </a14:m>
                <a:r>
                  <a:rPr lang="en-US" sz="1000" dirty="0"/>
                  <a:t>,</a:t>
                </a:r>
                <a:r>
                  <a:rPr lang="en-AU" sz="1000" dirty="0">
                    <a:ea typeface="Cambria Math" panose="02040503050406030204" pitchFamily="18" charset="0"/>
                    <a:cs typeface="Arial"/>
                  </a:rPr>
                  <a:t> z@</a:t>
                </a:r>
                <a14:m>
                  <m:oMath xmlns:m="http://schemas.openxmlformats.org/officeDocument/2006/math">
                    <m:r>
                      <a:rPr lang="en-AU" sz="1000" i="1">
                        <a:latin typeface="Cambria Math" panose="02040503050406030204" pitchFamily="18" charset="0"/>
                        <a:ea typeface="Cambria Math" panose="02040503050406030204" pitchFamily="18" charset="0"/>
                        <a:cs typeface="Arial"/>
                      </a:rPr>
                      <m:t>ℓ</m:t>
                    </m:r>
                    <m:r>
                      <a:rPr lang="en-AU" altLang="zh-CN" sz="1000" i="1" baseline="-25000">
                        <a:latin typeface="Cambria Math" panose="02040503050406030204" pitchFamily="18" charset="0"/>
                        <a:ea typeface="Cambria Math" panose="02040503050406030204" pitchFamily="18" charset="0"/>
                        <a:cs typeface="Arial"/>
                      </a:rPr>
                      <m:t>6</m:t>
                    </m:r>
                  </m:oMath>
                </a14:m>
                <a:endParaRPr lang="en-US" sz="1000" dirty="0"/>
              </a:p>
            </p:txBody>
          </p:sp>
        </mc:Choice>
        <mc:Fallback xmlns="">
          <p:sp>
            <p:nvSpPr>
              <p:cNvPr id="70" name="TextBox 69">
                <a:extLst>
                  <a:ext uri="{FF2B5EF4-FFF2-40B4-BE49-F238E27FC236}">
                    <a16:creationId xmlns:a16="http://schemas.microsoft.com/office/drawing/2014/main" id="{98AF7466-96A2-93D6-8706-5DE44FAAE1C7}"/>
                  </a:ext>
                </a:extLst>
              </p:cNvPr>
              <p:cNvSpPr txBox="1">
                <a:spLocks noRot="1" noChangeAspect="1" noMove="1" noResize="1" noEditPoints="1" noAdjustHandles="1" noChangeArrowheads="1" noChangeShapeType="1" noTextEdit="1"/>
              </p:cNvSpPr>
              <p:nvPr/>
            </p:nvSpPr>
            <p:spPr>
              <a:xfrm>
                <a:off x="1828045" y="1123004"/>
                <a:ext cx="3686929" cy="400110"/>
              </a:xfrm>
              <a:prstGeom prst="rect">
                <a:avLst/>
              </a:prstGeom>
              <a:blipFill>
                <a:blip r:embed="rId7"/>
                <a:stretch>
                  <a:fillRect b="-606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8B39BCD-08F5-E665-3885-8388F5F58919}"/>
              </a:ext>
            </a:extLst>
          </p:cNvPr>
          <p:cNvSpPr txBox="1"/>
          <p:nvPr/>
        </p:nvSpPr>
        <p:spPr>
          <a:xfrm>
            <a:off x="2966786" y="3165499"/>
            <a:ext cx="184731" cy="369332"/>
          </a:xfrm>
          <a:prstGeom prst="rect">
            <a:avLst/>
          </a:prstGeom>
          <a:noFill/>
        </p:spPr>
        <p:txBody>
          <a:bodyPr wrap="none" rtlCol="0">
            <a:spAutoFit/>
          </a:bodyPr>
          <a:lstStyle/>
          <a:p>
            <a:endParaRPr lang="en-US" dirty="0"/>
          </a:p>
        </p:txBody>
      </p:sp>
      <p:pic>
        <p:nvPicPr>
          <p:cNvPr id="40" name="Picture 39">
            <a:extLst>
              <a:ext uri="{FF2B5EF4-FFF2-40B4-BE49-F238E27FC236}">
                <a16:creationId xmlns:a16="http://schemas.microsoft.com/office/drawing/2014/main" id="{A2431D5E-5C64-A8B1-96C2-3A897340DC48}"/>
              </a:ext>
            </a:extLst>
          </p:cNvPr>
          <p:cNvPicPr>
            <a:picLocks noChangeAspect="1"/>
          </p:cNvPicPr>
          <p:nvPr/>
        </p:nvPicPr>
        <p:blipFill>
          <a:blip r:embed="rId8"/>
          <a:stretch>
            <a:fillRect/>
          </a:stretch>
        </p:blipFill>
        <p:spPr>
          <a:xfrm>
            <a:off x="4125790" y="1756662"/>
            <a:ext cx="1749292" cy="1290175"/>
          </a:xfrm>
          <a:prstGeom prst="rect">
            <a:avLst/>
          </a:prstGeom>
        </p:spPr>
      </p:pic>
      <p:pic>
        <p:nvPicPr>
          <p:cNvPr id="11" name="Picture 10">
            <a:extLst>
              <a:ext uri="{FF2B5EF4-FFF2-40B4-BE49-F238E27FC236}">
                <a16:creationId xmlns:a16="http://schemas.microsoft.com/office/drawing/2014/main" id="{04532282-07BF-59DB-5E09-A83124AEF6C7}"/>
              </a:ext>
            </a:extLst>
          </p:cNvPr>
          <p:cNvPicPr>
            <a:picLocks noChangeAspect="1"/>
          </p:cNvPicPr>
          <p:nvPr/>
        </p:nvPicPr>
        <p:blipFill>
          <a:blip r:embed="rId9"/>
          <a:stretch>
            <a:fillRect/>
          </a:stretch>
        </p:blipFill>
        <p:spPr>
          <a:xfrm>
            <a:off x="2298011" y="1014814"/>
            <a:ext cx="273050" cy="118250"/>
          </a:xfrm>
          <a:prstGeom prst="rect">
            <a:avLst/>
          </a:prstGeom>
        </p:spPr>
      </p:pic>
      <p:sp>
        <p:nvSpPr>
          <p:cNvPr id="15" name="TextBox 14">
            <a:extLst>
              <a:ext uri="{FF2B5EF4-FFF2-40B4-BE49-F238E27FC236}">
                <a16:creationId xmlns:a16="http://schemas.microsoft.com/office/drawing/2014/main" id="{FDFB6774-BCB5-4E04-C1DD-DAF8719FE489}"/>
              </a:ext>
            </a:extLst>
          </p:cNvPr>
          <p:cNvSpPr txBox="1"/>
          <p:nvPr/>
        </p:nvSpPr>
        <p:spPr>
          <a:xfrm>
            <a:off x="6195342" y="2249835"/>
            <a:ext cx="184731" cy="369332"/>
          </a:xfrm>
          <a:prstGeom prst="rect">
            <a:avLst/>
          </a:prstGeom>
          <a:noFill/>
        </p:spPr>
        <p:txBody>
          <a:bodyPr wrap="none" rtlCol="0">
            <a:spAutoFit/>
          </a:bodyPr>
          <a:lstStyle/>
          <a:p>
            <a:endParaRPr lang="en-US" dirty="0"/>
          </a:p>
        </p:txBody>
      </p:sp>
      <p:sp>
        <p:nvSpPr>
          <p:cNvPr id="6" name="Slide Number Placeholder 50">
            <a:extLst>
              <a:ext uri="{FF2B5EF4-FFF2-40B4-BE49-F238E27FC236}">
                <a16:creationId xmlns:a16="http://schemas.microsoft.com/office/drawing/2014/main" id="{38F6CCCE-3E7F-A557-1235-F9ABD41675BD}"/>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3</a:t>
            </a:fld>
            <a:endParaRPr lang="en-AU" dirty="0"/>
          </a:p>
        </p:txBody>
      </p:sp>
      <p:sp>
        <p:nvSpPr>
          <p:cNvPr id="21" name="object 3">
            <a:extLst>
              <a:ext uri="{FF2B5EF4-FFF2-40B4-BE49-F238E27FC236}">
                <a16:creationId xmlns:a16="http://schemas.microsoft.com/office/drawing/2014/main" id="{F5860885-0A7E-25F7-47BE-AC860078F885}"/>
              </a:ext>
            </a:extLst>
          </p:cNvPr>
          <p:cNvSpPr txBox="1">
            <a:spLocks/>
          </p:cNvSpPr>
          <p:nvPr/>
        </p:nvSpPr>
        <p:spPr>
          <a:xfrm>
            <a:off x="259537" y="-2580"/>
            <a:ext cx="3837956" cy="232756"/>
          </a:xfrm>
          <a:prstGeom prst="rect">
            <a:avLst/>
          </a:prstGeom>
        </p:spPr>
        <p:txBody>
          <a:bodyPr vert="horz" wrap="square" lIns="0" tIns="17145" rIns="0" bIns="0" rtlCol="0">
            <a:spAutoFit/>
          </a:bodyPr>
          <a:lstStyle>
            <a:lvl1pPr>
              <a:defRPr sz="1400" b="0" i="0">
                <a:solidFill>
                  <a:schemeClr val="bg1"/>
                </a:solidFill>
                <a:latin typeface="Arial"/>
                <a:ea typeface="+mj-ea"/>
                <a:cs typeface="Arial"/>
              </a:defRPr>
            </a:lvl1pPr>
          </a:lstStyle>
          <a:p>
            <a:pPr marL="12700">
              <a:spcBef>
                <a:spcPts val="135"/>
              </a:spcBef>
            </a:pPr>
            <a:r>
              <a:rPr lang="en-AU" spc="-10"/>
              <a:t>Background: Abstract</a:t>
            </a:r>
            <a:r>
              <a:rPr lang="en-AU" spc="20"/>
              <a:t> </a:t>
            </a:r>
            <a:r>
              <a:rPr lang="en-AU" spc="-20"/>
              <a:t>Interpretation</a:t>
            </a:r>
            <a:r>
              <a:rPr lang="en-AU" spc="20"/>
              <a:t> </a:t>
            </a:r>
            <a:r>
              <a:rPr lang="en-AU" spc="120"/>
              <a:t>&amp;</a:t>
            </a:r>
            <a:r>
              <a:rPr lang="en-AU" spc="20"/>
              <a:t> </a:t>
            </a:r>
            <a:r>
              <a:rPr lang="en-AU" spc="-30"/>
              <a:t>Widening</a:t>
            </a:r>
            <a:endParaRPr lang="en-AU" spc="-30" dirty="0"/>
          </a:p>
        </p:txBody>
      </p:sp>
    </p:spTree>
    <p:extLst>
      <p:ext uri="{BB962C8B-B14F-4D97-AF65-F5344CB8AC3E}">
        <p14:creationId xmlns:p14="http://schemas.microsoft.com/office/powerpoint/2010/main" val="203367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3" presetClass="exit" presetSubtype="10" fill="hold" nodeType="withEffect">
                                  <p:stCondLst>
                                    <p:cond delay="0"/>
                                  </p:stCondLst>
                                  <p:childTnLst>
                                    <p:animEffect transition="out" filter="blinds(horizontal)">
                                      <p:cBhvr>
                                        <p:cTn id="8" dur="10"/>
                                        <p:tgtEl>
                                          <p:spTgt spid="40"/>
                                        </p:tgtEl>
                                      </p:cBhvr>
                                    </p:animEffect>
                                    <p:set>
                                      <p:cBhvr>
                                        <p:cTn id="9" dur="1" fill="hold">
                                          <p:stCondLst>
                                            <p:cond delay="9"/>
                                          </p:stCondLst>
                                        </p:cTn>
                                        <p:tgtEl>
                                          <p:spTgt spid="40"/>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3"/>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4714C-0372-2BCF-A659-36A3FE793D4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7B30161-B7CA-A747-1C15-B2E71BAF6FF2}"/>
              </a:ext>
            </a:extLst>
          </p:cNvPr>
          <p:cNvSpPr txBox="1">
            <a:spLocks noGrp="1"/>
          </p:cNvSpPr>
          <p:nvPr>
            <p:ph type="title"/>
          </p:nvPr>
        </p:nvSpPr>
        <p:spPr>
          <a:xfrm>
            <a:off x="265740" y="4223"/>
            <a:ext cx="4283888" cy="232756"/>
          </a:xfrm>
          <a:prstGeom prst="rect">
            <a:avLst/>
          </a:prstGeom>
        </p:spPr>
        <p:txBody>
          <a:bodyPr vert="horz" wrap="square" lIns="0" tIns="17145" rIns="0" bIns="0" rtlCol="0">
            <a:spAutoFit/>
          </a:bodyPr>
          <a:lstStyle/>
          <a:p>
            <a:pPr marL="12700">
              <a:spcBef>
                <a:spcPts val="135"/>
              </a:spcBef>
            </a:pPr>
            <a:r>
              <a:rPr lang="en-AU" spc="-10" dirty="0"/>
              <a:t>Insight: Value-Flow Cycle &amp; Selective Widening</a:t>
            </a:r>
            <a:endParaRPr spc="-30" dirty="0"/>
          </a:p>
        </p:txBody>
      </p:sp>
      <p:sp>
        <p:nvSpPr>
          <p:cNvPr id="37" name="object 37">
            <a:extLst>
              <a:ext uri="{FF2B5EF4-FFF2-40B4-BE49-F238E27FC236}">
                <a16:creationId xmlns:a16="http://schemas.microsoft.com/office/drawing/2014/main" id="{6BD24CC3-E057-6703-B861-C93D4C2B5DAE}"/>
              </a:ext>
            </a:extLst>
          </p:cNvPr>
          <p:cNvSpPr txBox="1">
            <a:spLocks noGrp="1"/>
          </p:cNvSpPr>
          <p:nvPr>
            <p:ph type="ftr" sz="quarter" idx="4294967295"/>
          </p:nvPr>
        </p:nvSpPr>
        <p:spPr>
          <a:xfrm>
            <a:off x="1554492" y="2044783"/>
            <a:ext cx="1075426" cy="89768"/>
          </a:xfrm>
          <a:prstGeom prst="rect">
            <a:avLst/>
          </a:prstGeom>
        </p:spPr>
        <p:txBody>
          <a:bodyPr vert="horz" wrap="square" lIns="0" tIns="0" rIns="0" bIns="0" rtlCol="0">
            <a:spAutoFit/>
          </a:bodyPr>
          <a:lstStyle/>
          <a:p>
            <a:pPr marL="12700">
              <a:lnSpc>
                <a:spcPts val="675"/>
              </a:lnSpc>
            </a:pPr>
            <a:r>
              <a:rPr dirty="0"/>
              <a:t>J.</a:t>
            </a:r>
            <a:r>
              <a:rPr spc="40" dirty="0"/>
              <a:t> </a:t>
            </a:r>
            <a:r>
              <a:rPr dirty="0"/>
              <a:t>Wang,</a:t>
            </a:r>
            <a:r>
              <a:rPr spc="45" dirty="0"/>
              <a:t> </a:t>
            </a:r>
            <a:r>
              <a:rPr dirty="0"/>
              <a:t>X.</a:t>
            </a:r>
            <a:r>
              <a:rPr spc="45" dirty="0"/>
              <a:t> </a:t>
            </a:r>
            <a:r>
              <a:rPr spc="-20" dirty="0"/>
              <a:t>Cheng,</a:t>
            </a:r>
            <a:r>
              <a:rPr spc="45" dirty="0"/>
              <a:t> </a:t>
            </a:r>
            <a:r>
              <a:rPr dirty="0"/>
              <a:t>Y.</a:t>
            </a:r>
            <a:r>
              <a:rPr spc="50" dirty="0"/>
              <a:t> </a:t>
            </a:r>
            <a:r>
              <a:rPr spc="-25" dirty="0"/>
              <a:t>Sui</a:t>
            </a:r>
          </a:p>
        </p:txBody>
      </p:sp>
      <p:pic>
        <p:nvPicPr>
          <p:cNvPr id="59" name="Picture 58">
            <a:extLst>
              <a:ext uri="{FF2B5EF4-FFF2-40B4-BE49-F238E27FC236}">
                <a16:creationId xmlns:a16="http://schemas.microsoft.com/office/drawing/2014/main" id="{991D460C-AE7B-9BEC-5C7E-8AFDE2DBB344}"/>
              </a:ext>
            </a:extLst>
          </p:cNvPr>
          <p:cNvPicPr>
            <a:picLocks noChangeAspect="1"/>
          </p:cNvPicPr>
          <p:nvPr/>
        </p:nvPicPr>
        <p:blipFill>
          <a:blip r:embed="rId3"/>
          <a:stretch>
            <a:fillRect/>
          </a:stretch>
        </p:blipFill>
        <p:spPr>
          <a:xfrm>
            <a:off x="3329940" y="3204193"/>
            <a:ext cx="2049780" cy="122555"/>
          </a:xfrm>
          <a:prstGeom prst="rect">
            <a:avLst/>
          </a:prstGeom>
        </p:spPr>
      </p:pic>
      <p:sp>
        <p:nvSpPr>
          <p:cNvPr id="61" name="TextBox 60">
            <a:extLst>
              <a:ext uri="{FF2B5EF4-FFF2-40B4-BE49-F238E27FC236}">
                <a16:creationId xmlns:a16="http://schemas.microsoft.com/office/drawing/2014/main" id="{5274D57F-D39D-0FEA-5701-C1A89B216AF4}"/>
              </a:ext>
            </a:extLst>
          </p:cNvPr>
          <p:cNvSpPr txBox="1"/>
          <p:nvPr/>
        </p:nvSpPr>
        <p:spPr>
          <a:xfrm>
            <a:off x="309662" y="1892782"/>
            <a:ext cx="2002889" cy="276999"/>
          </a:xfrm>
          <a:prstGeom prst="rect">
            <a:avLst/>
          </a:prstGeom>
          <a:noFill/>
        </p:spPr>
        <p:txBody>
          <a:bodyPr wrap="square">
            <a:spAutoFit/>
          </a:bodyPr>
          <a:lstStyle/>
          <a:p>
            <a:pPr>
              <a:buNone/>
            </a:pPr>
            <a:r>
              <a:rPr lang="en-AU" sz="1200" b="1" dirty="0" err="1">
                <a:latin typeface="Helvetica" pitchFamily="2" charset="0"/>
              </a:rPr>
              <a:t>SiftAbs</a:t>
            </a:r>
            <a:r>
              <a:rPr lang="en-AU" sz="1200" b="1" dirty="0">
                <a:latin typeface="Helvetica" pitchFamily="2" charset="0"/>
              </a:rPr>
              <a:t>: Our Approach </a:t>
            </a:r>
          </a:p>
        </p:txBody>
      </p:sp>
      <p:sp>
        <p:nvSpPr>
          <p:cNvPr id="62" name="Slide Number Placeholder 61">
            <a:extLst>
              <a:ext uri="{FF2B5EF4-FFF2-40B4-BE49-F238E27FC236}">
                <a16:creationId xmlns:a16="http://schemas.microsoft.com/office/drawing/2014/main" id="{D774CA6E-688D-13C5-D35D-40B43C5BD459}"/>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4</a:t>
            </a:fld>
            <a:endParaRPr lang="en-AU"/>
          </a:p>
        </p:txBody>
      </p:sp>
      <p:pic>
        <p:nvPicPr>
          <p:cNvPr id="15" name="Picture 14">
            <a:extLst>
              <a:ext uri="{FF2B5EF4-FFF2-40B4-BE49-F238E27FC236}">
                <a16:creationId xmlns:a16="http://schemas.microsoft.com/office/drawing/2014/main" id="{333368AB-A63C-E279-375C-477571DBED54}"/>
              </a:ext>
            </a:extLst>
          </p:cNvPr>
          <p:cNvPicPr>
            <a:picLocks noChangeAspect="1"/>
          </p:cNvPicPr>
          <p:nvPr/>
        </p:nvPicPr>
        <p:blipFill>
          <a:blip r:embed="rId4"/>
          <a:srcRect/>
          <a:stretch/>
        </p:blipFill>
        <p:spPr>
          <a:xfrm>
            <a:off x="45599" y="369051"/>
            <a:ext cx="3038055" cy="152372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38FACC-5C01-501D-2D00-7968BCC706AB}"/>
                  </a:ext>
                </a:extLst>
              </p:cNvPr>
              <p:cNvSpPr txBox="1"/>
              <p:nvPr/>
            </p:nvSpPr>
            <p:spPr>
              <a:xfrm>
                <a:off x="2981678" y="633486"/>
                <a:ext cx="3135900" cy="430887"/>
              </a:xfrm>
              <a:prstGeom prst="rect">
                <a:avLst/>
              </a:prstGeom>
              <a:noFill/>
            </p:spPr>
            <p:txBody>
              <a:bodyPr wrap="square" rtlCol="0">
                <a:spAutoFit/>
              </a:bodyPr>
              <a:lstStyle/>
              <a:p>
                <a:r>
                  <a:rPr lang="en-US" sz="1100" dirty="0"/>
                  <a:t>Some variables seem to be necessary to widen, but get reassigned later, like z@</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AU" altLang="zh-CN" sz="1100" i="1" baseline="-25000">
                        <a:latin typeface="Cambria Math" panose="02040503050406030204" pitchFamily="18" charset="0"/>
                        <a:ea typeface="Cambria Math" panose="02040503050406030204" pitchFamily="18" charset="0"/>
                        <a:cs typeface="Arial"/>
                      </a:rPr>
                      <m:t>6</m:t>
                    </m:r>
                  </m:oMath>
                </a14:m>
                <a:endParaRPr lang="en-US" sz="1100" dirty="0"/>
              </a:p>
            </p:txBody>
          </p:sp>
        </mc:Choice>
        <mc:Fallback xmlns="">
          <p:sp>
            <p:nvSpPr>
              <p:cNvPr id="4" name="TextBox 3">
                <a:extLst>
                  <a:ext uri="{FF2B5EF4-FFF2-40B4-BE49-F238E27FC236}">
                    <a16:creationId xmlns:a16="http://schemas.microsoft.com/office/drawing/2014/main" id="{7338FACC-5C01-501D-2D00-7968BCC706AB}"/>
                  </a:ext>
                </a:extLst>
              </p:cNvPr>
              <p:cNvSpPr txBox="1">
                <a:spLocks noRot="1" noChangeAspect="1" noMove="1" noResize="1" noEditPoints="1" noAdjustHandles="1" noChangeArrowheads="1" noChangeShapeType="1" noTextEdit="1"/>
              </p:cNvSpPr>
              <p:nvPr/>
            </p:nvSpPr>
            <p:spPr>
              <a:xfrm>
                <a:off x="2981678" y="633486"/>
                <a:ext cx="3135900" cy="430887"/>
              </a:xfrm>
              <a:prstGeom prst="rect">
                <a:avLst/>
              </a:prstGeom>
              <a:blipFill>
                <a:blip r:embed="rId5"/>
                <a:stretch>
                  <a:fillRect b="-11429"/>
                </a:stretch>
              </a:blipFill>
            </p:spPr>
            <p:txBody>
              <a:bodyPr/>
              <a:lstStyle/>
              <a:p>
                <a:r>
                  <a:rPr lang="en-US">
                    <a:noFill/>
                  </a:rPr>
                  <a:t> </a:t>
                </a:r>
              </a:p>
            </p:txBody>
          </p:sp>
        </mc:Fallback>
      </mc:AlternateContent>
      <p:pic>
        <p:nvPicPr>
          <p:cNvPr id="39" name="Picture 38">
            <a:extLst>
              <a:ext uri="{FF2B5EF4-FFF2-40B4-BE49-F238E27FC236}">
                <a16:creationId xmlns:a16="http://schemas.microsoft.com/office/drawing/2014/main" id="{47029884-990A-CA9A-2BF3-C1454756D21F}"/>
              </a:ext>
            </a:extLst>
          </p:cNvPr>
          <p:cNvPicPr>
            <a:picLocks noChangeAspect="1"/>
          </p:cNvPicPr>
          <p:nvPr/>
        </p:nvPicPr>
        <p:blipFill>
          <a:blip r:embed="rId6"/>
          <a:srcRect/>
          <a:stretch/>
        </p:blipFill>
        <p:spPr>
          <a:xfrm>
            <a:off x="264935" y="2141220"/>
            <a:ext cx="3757480" cy="1044898"/>
          </a:xfrm>
          <a:prstGeom prst="rect">
            <a:avLst/>
          </a:prstGeom>
        </p:spPr>
      </p:pic>
      <p:pic>
        <p:nvPicPr>
          <p:cNvPr id="41" name="Picture 40">
            <a:extLst>
              <a:ext uri="{FF2B5EF4-FFF2-40B4-BE49-F238E27FC236}">
                <a16:creationId xmlns:a16="http://schemas.microsoft.com/office/drawing/2014/main" id="{B5BE832E-C77C-AB02-62F5-726455FC5FDD}"/>
              </a:ext>
            </a:extLst>
          </p:cNvPr>
          <p:cNvPicPr>
            <a:picLocks noChangeAspect="1"/>
          </p:cNvPicPr>
          <p:nvPr/>
        </p:nvPicPr>
        <p:blipFill>
          <a:blip r:embed="rId7"/>
          <a:srcRect t="28" b="28"/>
          <a:stretch/>
        </p:blipFill>
        <p:spPr>
          <a:xfrm>
            <a:off x="263981" y="2142380"/>
            <a:ext cx="3759582" cy="1044898"/>
          </a:xfrm>
          <a:prstGeom prst="rect">
            <a:avLst/>
          </a:prstGeom>
        </p:spPr>
      </p:pic>
      <p:pic>
        <p:nvPicPr>
          <p:cNvPr id="43" name="Picture 42">
            <a:extLst>
              <a:ext uri="{FF2B5EF4-FFF2-40B4-BE49-F238E27FC236}">
                <a16:creationId xmlns:a16="http://schemas.microsoft.com/office/drawing/2014/main" id="{7894F095-1FE7-F746-CC2D-95A42BCC5C31}"/>
              </a:ext>
            </a:extLst>
          </p:cNvPr>
          <p:cNvPicPr>
            <a:picLocks noChangeAspect="1"/>
          </p:cNvPicPr>
          <p:nvPr/>
        </p:nvPicPr>
        <p:blipFill>
          <a:blip r:embed="rId8"/>
          <a:srcRect/>
          <a:stretch/>
        </p:blipFill>
        <p:spPr>
          <a:xfrm>
            <a:off x="263980" y="2142380"/>
            <a:ext cx="5231410" cy="1044898"/>
          </a:xfrm>
          <a:prstGeom prst="rect">
            <a:avLst/>
          </a:prstGeom>
        </p:spPr>
      </p:pic>
      <p:pic>
        <p:nvPicPr>
          <p:cNvPr id="47" name="Picture 46">
            <a:extLst>
              <a:ext uri="{FF2B5EF4-FFF2-40B4-BE49-F238E27FC236}">
                <a16:creationId xmlns:a16="http://schemas.microsoft.com/office/drawing/2014/main" id="{5F50ED97-697B-0273-5711-93BA8DD90BD6}"/>
              </a:ext>
            </a:extLst>
          </p:cNvPr>
          <p:cNvPicPr>
            <a:picLocks noChangeAspect="1"/>
          </p:cNvPicPr>
          <p:nvPr/>
        </p:nvPicPr>
        <p:blipFill>
          <a:blip r:embed="rId9"/>
          <a:srcRect/>
          <a:stretch/>
        </p:blipFill>
        <p:spPr>
          <a:xfrm>
            <a:off x="263981" y="2142379"/>
            <a:ext cx="5221431" cy="1042905"/>
          </a:xfrm>
          <a:prstGeom prst="rect">
            <a:avLst/>
          </a:prstGeom>
        </p:spPr>
      </p:pic>
      <p:cxnSp>
        <p:nvCxnSpPr>
          <p:cNvPr id="51" name="Straight Arrow Connector 50">
            <a:extLst>
              <a:ext uri="{FF2B5EF4-FFF2-40B4-BE49-F238E27FC236}">
                <a16:creationId xmlns:a16="http://schemas.microsoft.com/office/drawing/2014/main" id="{43FAC4A2-D37D-D5B4-DFC7-AAEDF4AA9153}"/>
              </a:ext>
            </a:extLst>
          </p:cNvPr>
          <p:cNvCxnSpPr>
            <a:cxnSpLocks/>
          </p:cNvCxnSpPr>
          <p:nvPr/>
        </p:nvCxnSpPr>
        <p:spPr>
          <a:xfrm>
            <a:off x="2747009" y="2573901"/>
            <a:ext cx="1427627" cy="625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1ED3494-C484-D1E2-1807-BE267188B74C}"/>
              </a:ext>
            </a:extLst>
          </p:cNvPr>
          <p:cNvCxnSpPr>
            <a:cxnSpLocks/>
          </p:cNvCxnSpPr>
          <p:nvPr/>
        </p:nvCxnSpPr>
        <p:spPr>
          <a:xfrm>
            <a:off x="4046227" y="2573901"/>
            <a:ext cx="188643" cy="618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DE3A064-4DD5-A005-450D-1D38BAB5B701}"/>
              </a:ext>
            </a:extLst>
          </p:cNvPr>
          <p:cNvSpPr txBox="1"/>
          <p:nvPr/>
        </p:nvSpPr>
        <p:spPr>
          <a:xfrm>
            <a:off x="3611015" y="3154440"/>
            <a:ext cx="1803465" cy="215444"/>
          </a:xfrm>
          <a:prstGeom prst="rect">
            <a:avLst/>
          </a:prstGeom>
          <a:noFill/>
        </p:spPr>
        <p:txBody>
          <a:bodyPr wrap="square" rtlCol="0">
            <a:spAutoFit/>
          </a:bodyPr>
          <a:lstStyle/>
          <a:p>
            <a:r>
              <a:rPr lang="en-US" sz="800" dirty="0"/>
              <a:t>Fixpoint reached, apply 2 widens </a:t>
            </a:r>
          </a:p>
        </p:txBody>
      </p:sp>
      <p:sp>
        <p:nvSpPr>
          <p:cNvPr id="29" name="TextBox 28">
            <a:extLst>
              <a:ext uri="{FF2B5EF4-FFF2-40B4-BE49-F238E27FC236}">
                <a16:creationId xmlns:a16="http://schemas.microsoft.com/office/drawing/2014/main" id="{8841660A-627B-B42E-5937-1C8B855B1EAA}"/>
              </a:ext>
            </a:extLst>
          </p:cNvPr>
          <p:cNvSpPr txBox="1"/>
          <p:nvPr/>
        </p:nvSpPr>
        <p:spPr>
          <a:xfrm>
            <a:off x="2981678" y="1208740"/>
            <a:ext cx="2904334" cy="461665"/>
          </a:xfrm>
          <a:prstGeom prst="rect">
            <a:avLst/>
          </a:prstGeom>
          <a:noFill/>
        </p:spPr>
        <p:txBody>
          <a:bodyPr wrap="square" rtlCol="0">
            <a:spAutoFit/>
          </a:bodyPr>
          <a:lstStyle/>
          <a:p>
            <a:r>
              <a:rPr lang="en-US" sz="1200" b="1" dirty="0"/>
              <a:t>Focus on</a:t>
            </a:r>
            <a:r>
              <a:rPr lang="zh-CN" altLang="en-US" sz="1200" b="1" dirty="0"/>
              <a:t> </a:t>
            </a:r>
            <a:r>
              <a:rPr lang="en-US" sz="1200" b="1" dirty="0"/>
              <a:t>Cyclic value dependencies</a:t>
            </a:r>
          </a:p>
          <a:p>
            <a:r>
              <a:rPr lang="en-US" sz="1200" b="1" dirty="0">
                <a:solidFill>
                  <a:srgbClr val="C00000"/>
                </a:solidFill>
              </a:rPr>
              <a:t>x@ ℓ</a:t>
            </a:r>
            <a:r>
              <a:rPr lang="en-US" sz="1200" b="1" baseline="-25000" dirty="0">
                <a:solidFill>
                  <a:srgbClr val="C00000"/>
                </a:solidFill>
              </a:rPr>
              <a:t>4</a:t>
            </a:r>
            <a:r>
              <a:rPr lang="en-US" sz="1200" b="1" dirty="0"/>
              <a:t>, y@ℓ</a:t>
            </a:r>
            <a:r>
              <a:rPr lang="en-US" altLang="zh-CN" sz="1200" b="1" baseline="-25000" dirty="0"/>
              <a:t>5</a:t>
            </a:r>
            <a:endParaRPr lang="en-US" sz="1200" b="1" baseline="-25000" dirty="0"/>
          </a:p>
        </p:txBody>
      </p:sp>
    </p:spTree>
    <p:extLst>
      <p:ext uri="{BB962C8B-B14F-4D97-AF65-F5344CB8AC3E}">
        <p14:creationId xmlns:p14="http://schemas.microsoft.com/office/powerpoint/2010/main" val="322889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9"/>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41"/>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4" grpId="0"/>
      <p:bldP spid="53"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D83CF-E8BA-F157-5840-2C7FF6F4600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8B6B62E-98A2-7F8B-03DF-BF7DEDB32E2B}"/>
              </a:ext>
            </a:extLst>
          </p:cNvPr>
          <p:cNvSpPr txBox="1">
            <a:spLocks noGrp="1"/>
          </p:cNvSpPr>
          <p:nvPr>
            <p:ph type="title"/>
          </p:nvPr>
        </p:nvSpPr>
        <p:spPr>
          <a:xfrm>
            <a:off x="265740" y="4223"/>
            <a:ext cx="4283888" cy="232756"/>
          </a:xfrm>
          <a:prstGeom prst="rect">
            <a:avLst/>
          </a:prstGeom>
        </p:spPr>
        <p:txBody>
          <a:bodyPr vert="horz" wrap="square" lIns="0" tIns="17145" rIns="0" bIns="0" rtlCol="0">
            <a:spAutoFit/>
          </a:bodyPr>
          <a:lstStyle/>
          <a:p>
            <a:pPr marL="12700">
              <a:spcBef>
                <a:spcPts val="135"/>
              </a:spcBef>
            </a:pPr>
            <a:r>
              <a:rPr lang="en-AU" spc="-10" dirty="0"/>
              <a:t>Insight: Value-Flow Cycle &amp; Selective Widening</a:t>
            </a:r>
            <a:endParaRPr spc="-30" dirty="0"/>
          </a:p>
        </p:txBody>
      </p:sp>
      <p:sp>
        <p:nvSpPr>
          <p:cNvPr id="37" name="object 37">
            <a:extLst>
              <a:ext uri="{FF2B5EF4-FFF2-40B4-BE49-F238E27FC236}">
                <a16:creationId xmlns:a16="http://schemas.microsoft.com/office/drawing/2014/main" id="{5730DC91-9747-6677-CFF6-017C4EE9039B}"/>
              </a:ext>
            </a:extLst>
          </p:cNvPr>
          <p:cNvSpPr txBox="1">
            <a:spLocks noGrp="1"/>
          </p:cNvSpPr>
          <p:nvPr>
            <p:ph type="ftr" sz="quarter" idx="4294967295"/>
          </p:nvPr>
        </p:nvSpPr>
        <p:spPr>
          <a:xfrm>
            <a:off x="1554492" y="2044783"/>
            <a:ext cx="1075426" cy="89768"/>
          </a:xfrm>
          <a:prstGeom prst="rect">
            <a:avLst/>
          </a:prstGeom>
        </p:spPr>
        <p:txBody>
          <a:bodyPr vert="horz" wrap="square" lIns="0" tIns="0" rIns="0" bIns="0" rtlCol="0">
            <a:spAutoFit/>
          </a:bodyPr>
          <a:lstStyle/>
          <a:p>
            <a:pPr marL="12700">
              <a:lnSpc>
                <a:spcPts val="675"/>
              </a:lnSpc>
            </a:pPr>
            <a:r>
              <a:rPr dirty="0"/>
              <a:t>J.</a:t>
            </a:r>
            <a:r>
              <a:rPr spc="40" dirty="0"/>
              <a:t> </a:t>
            </a:r>
            <a:r>
              <a:rPr dirty="0"/>
              <a:t>Wang,</a:t>
            </a:r>
            <a:r>
              <a:rPr spc="45" dirty="0"/>
              <a:t> </a:t>
            </a:r>
            <a:r>
              <a:rPr dirty="0"/>
              <a:t>X.</a:t>
            </a:r>
            <a:r>
              <a:rPr spc="45" dirty="0"/>
              <a:t> </a:t>
            </a:r>
            <a:r>
              <a:rPr spc="-20" dirty="0"/>
              <a:t>Cheng,</a:t>
            </a:r>
            <a:r>
              <a:rPr spc="45" dirty="0"/>
              <a:t> </a:t>
            </a:r>
            <a:r>
              <a:rPr dirty="0"/>
              <a:t>Y.</a:t>
            </a:r>
            <a:r>
              <a:rPr spc="50" dirty="0"/>
              <a:t> </a:t>
            </a:r>
            <a:r>
              <a:rPr spc="-25" dirty="0"/>
              <a:t>Sui</a:t>
            </a:r>
          </a:p>
        </p:txBody>
      </p:sp>
      <p:pic>
        <p:nvPicPr>
          <p:cNvPr id="59" name="Picture 58">
            <a:extLst>
              <a:ext uri="{FF2B5EF4-FFF2-40B4-BE49-F238E27FC236}">
                <a16:creationId xmlns:a16="http://schemas.microsoft.com/office/drawing/2014/main" id="{B4BC39FE-CC1E-ADA3-DC4E-1E14ABF28A51}"/>
              </a:ext>
            </a:extLst>
          </p:cNvPr>
          <p:cNvPicPr>
            <a:picLocks noChangeAspect="1"/>
          </p:cNvPicPr>
          <p:nvPr/>
        </p:nvPicPr>
        <p:blipFill>
          <a:blip r:embed="rId3"/>
          <a:stretch>
            <a:fillRect/>
          </a:stretch>
        </p:blipFill>
        <p:spPr>
          <a:xfrm>
            <a:off x="3329940" y="3204193"/>
            <a:ext cx="2049780" cy="122555"/>
          </a:xfrm>
          <a:prstGeom prst="rect">
            <a:avLst/>
          </a:prstGeom>
        </p:spPr>
      </p:pic>
      <p:sp>
        <p:nvSpPr>
          <p:cNvPr id="61" name="TextBox 60">
            <a:extLst>
              <a:ext uri="{FF2B5EF4-FFF2-40B4-BE49-F238E27FC236}">
                <a16:creationId xmlns:a16="http://schemas.microsoft.com/office/drawing/2014/main" id="{2234312A-42C7-67CD-93DD-917C9B3770DE}"/>
              </a:ext>
            </a:extLst>
          </p:cNvPr>
          <p:cNvSpPr txBox="1"/>
          <p:nvPr/>
        </p:nvSpPr>
        <p:spPr>
          <a:xfrm>
            <a:off x="309662" y="1892782"/>
            <a:ext cx="2002889" cy="276999"/>
          </a:xfrm>
          <a:prstGeom prst="rect">
            <a:avLst/>
          </a:prstGeom>
          <a:noFill/>
        </p:spPr>
        <p:txBody>
          <a:bodyPr wrap="square">
            <a:spAutoFit/>
          </a:bodyPr>
          <a:lstStyle/>
          <a:p>
            <a:pPr>
              <a:buNone/>
            </a:pPr>
            <a:r>
              <a:rPr lang="en-AU" sz="1200" b="1" dirty="0" err="1">
                <a:latin typeface="Helvetica" pitchFamily="2" charset="0"/>
              </a:rPr>
              <a:t>SiftAbs</a:t>
            </a:r>
            <a:r>
              <a:rPr lang="en-AU" sz="1200" b="1" dirty="0">
                <a:latin typeface="Helvetica" pitchFamily="2" charset="0"/>
              </a:rPr>
              <a:t>: Our Approach </a:t>
            </a:r>
          </a:p>
        </p:txBody>
      </p:sp>
      <p:sp>
        <p:nvSpPr>
          <p:cNvPr id="62" name="Slide Number Placeholder 61">
            <a:extLst>
              <a:ext uri="{FF2B5EF4-FFF2-40B4-BE49-F238E27FC236}">
                <a16:creationId xmlns:a16="http://schemas.microsoft.com/office/drawing/2014/main" id="{CF792B72-C187-91A2-4C1F-34CA3C6AF605}"/>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5</a:t>
            </a:fld>
            <a:endParaRPr lang="en-AU"/>
          </a:p>
        </p:txBody>
      </p:sp>
      <p:pic>
        <p:nvPicPr>
          <p:cNvPr id="43" name="Picture 42">
            <a:extLst>
              <a:ext uri="{FF2B5EF4-FFF2-40B4-BE49-F238E27FC236}">
                <a16:creationId xmlns:a16="http://schemas.microsoft.com/office/drawing/2014/main" id="{FAA11818-C60C-EDD2-E32E-547AEC36075B}"/>
              </a:ext>
            </a:extLst>
          </p:cNvPr>
          <p:cNvPicPr>
            <a:picLocks noChangeAspect="1"/>
          </p:cNvPicPr>
          <p:nvPr/>
        </p:nvPicPr>
        <p:blipFill>
          <a:blip r:embed="rId4"/>
          <a:srcRect/>
          <a:stretch/>
        </p:blipFill>
        <p:spPr>
          <a:xfrm>
            <a:off x="272211" y="2237593"/>
            <a:ext cx="5231410" cy="1044898"/>
          </a:xfrm>
          <a:prstGeom prst="rect">
            <a:avLst/>
          </a:prstGeom>
        </p:spPr>
      </p:pic>
      <p:pic>
        <p:nvPicPr>
          <p:cNvPr id="54" name="Picture 53">
            <a:extLst>
              <a:ext uri="{FF2B5EF4-FFF2-40B4-BE49-F238E27FC236}">
                <a16:creationId xmlns:a16="http://schemas.microsoft.com/office/drawing/2014/main" id="{F6CD82BA-19FB-5794-D598-26356FDD8B66}"/>
              </a:ext>
            </a:extLst>
          </p:cNvPr>
          <p:cNvPicPr>
            <a:picLocks noChangeAspect="1"/>
          </p:cNvPicPr>
          <p:nvPr/>
        </p:nvPicPr>
        <p:blipFill>
          <a:blip r:embed="rId5"/>
          <a:srcRect t="30036"/>
          <a:stretch>
            <a:fillRect/>
          </a:stretch>
        </p:blipFill>
        <p:spPr>
          <a:xfrm>
            <a:off x="215312" y="700708"/>
            <a:ext cx="5270100" cy="1140923"/>
          </a:xfrm>
          <a:prstGeom prst="rect">
            <a:avLst/>
          </a:prstGeom>
        </p:spPr>
      </p:pic>
      <p:sp>
        <p:nvSpPr>
          <p:cNvPr id="55" name="TextBox 54">
            <a:extLst>
              <a:ext uri="{FF2B5EF4-FFF2-40B4-BE49-F238E27FC236}">
                <a16:creationId xmlns:a16="http://schemas.microsoft.com/office/drawing/2014/main" id="{99D9412E-5329-8533-6860-5748E674E9B9}"/>
              </a:ext>
            </a:extLst>
          </p:cNvPr>
          <p:cNvSpPr txBox="1"/>
          <p:nvPr/>
        </p:nvSpPr>
        <p:spPr>
          <a:xfrm>
            <a:off x="309662" y="408787"/>
            <a:ext cx="3955834" cy="276999"/>
          </a:xfrm>
          <a:prstGeom prst="rect">
            <a:avLst/>
          </a:prstGeom>
          <a:noFill/>
        </p:spPr>
        <p:txBody>
          <a:bodyPr wrap="square">
            <a:spAutoFit/>
          </a:bodyPr>
          <a:lstStyle/>
          <a:p>
            <a:pPr algn="l">
              <a:buNone/>
            </a:pPr>
            <a:r>
              <a:rPr lang="en-AU" sz="1200" b="1" dirty="0">
                <a:latin typeface="Helvetica" pitchFamily="2" charset="0"/>
              </a:rPr>
              <a:t>CSA: Cross Domain Sparse Abstract Interpretation</a:t>
            </a:r>
          </a:p>
        </p:txBody>
      </p:sp>
      <p:cxnSp>
        <p:nvCxnSpPr>
          <p:cNvPr id="58" name="Straight Arrow Connector 57">
            <a:extLst>
              <a:ext uri="{FF2B5EF4-FFF2-40B4-BE49-F238E27FC236}">
                <a16:creationId xmlns:a16="http://schemas.microsoft.com/office/drawing/2014/main" id="{E990337A-EDE9-7FCE-6E4D-4443EDC5751A}"/>
              </a:ext>
            </a:extLst>
          </p:cNvPr>
          <p:cNvCxnSpPr>
            <a:cxnSpLocks/>
          </p:cNvCxnSpPr>
          <p:nvPr/>
        </p:nvCxnSpPr>
        <p:spPr>
          <a:xfrm flipV="1">
            <a:off x="4320881" y="1445288"/>
            <a:ext cx="532290" cy="497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6B17404-6B9E-F4EA-8A3C-C4B4EEEF4516}"/>
              </a:ext>
            </a:extLst>
          </p:cNvPr>
          <p:cNvCxnSpPr>
            <a:cxnSpLocks/>
          </p:cNvCxnSpPr>
          <p:nvPr/>
        </p:nvCxnSpPr>
        <p:spPr>
          <a:xfrm>
            <a:off x="4310903" y="2051150"/>
            <a:ext cx="535647" cy="668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996B3FD-34EA-B789-0882-40FDB6C0A0F0}"/>
              </a:ext>
            </a:extLst>
          </p:cNvPr>
          <p:cNvSpPr txBox="1"/>
          <p:nvPr/>
        </p:nvSpPr>
        <p:spPr>
          <a:xfrm>
            <a:off x="3089319" y="1858546"/>
            <a:ext cx="2126288" cy="338554"/>
          </a:xfrm>
          <a:prstGeom prst="rect">
            <a:avLst/>
          </a:prstGeom>
          <a:noFill/>
        </p:spPr>
        <p:txBody>
          <a:bodyPr wrap="square" rtlCol="0">
            <a:spAutoFit/>
          </a:bodyPr>
          <a:lstStyle/>
          <a:p>
            <a:r>
              <a:rPr lang="en-US" sz="800" dirty="0"/>
              <a:t>Fewer widening operations, while preserving precision</a:t>
            </a:r>
          </a:p>
        </p:txBody>
      </p:sp>
      <p:cxnSp>
        <p:nvCxnSpPr>
          <p:cNvPr id="69" name="Straight Arrow Connector 68">
            <a:extLst>
              <a:ext uri="{FF2B5EF4-FFF2-40B4-BE49-F238E27FC236}">
                <a16:creationId xmlns:a16="http://schemas.microsoft.com/office/drawing/2014/main" id="{83D248A8-1D08-746C-1F0E-E5C09F0B85B9}"/>
              </a:ext>
            </a:extLst>
          </p:cNvPr>
          <p:cNvCxnSpPr>
            <a:cxnSpLocks/>
          </p:cNvCxnSpPr>
          <p:nvPr/>
        </p:nvCxnSpPr>
        <p:spPr>
          <a:xfrm flipH="1" flipV="1">
            <a:off x="2725626" y="1421138"/>
            <a:ext cx="553171" cy="516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CDF9F2A-9F51-0AB5-CE96-46F31392F9C3}"/>
              </a:ext>
            </a:extLst>
          </p:cNvPr>
          <p:cNvCxnSpPr>
            <a:cxnSpLocks/>
          </p:cNvCxnSpPr>
          <p:nvPr/>
        </p:nvCxnSpPr>
        <p:spPr>
          <a:xfrm flipH="1">
            <a:off x="2747009" y="2122312"/>
            <a:ext cx="531456" cy="370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3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294B-E84E-88D7-AB1D-4236B9A8AB7E}"/>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8E627933-7894-C6E4-DF19-9824ED76E12D}"/>
              </a:ext>
            </a:extLst>
          </p:cNvPr>
          <p:cNvPicPr>
            <a:picLocks noChangeAspect="1"/>
          </p:cNvPicPr>
          <p:nvPr/>
        </p:nvPicPr>
        <p:blipFill>
          <a:blip r:embed="rId3"/>
          <a:stretch>
            <a:fillRect/>
          </a:stretch>
        </p:blipFill>
        <p:spPr>
          <a:xfrm>
            <a:off x="3507962" y="3040348"/>
            <a:ext cx="2203196" cy="131728"/>
          </a:xfrm>
          <a:prstGeom prst="rect">
            <a:avLst/>
          </a:prstGeom>
        </p:spPr>
      </p:pic>
      <p:sp>
        <p:nvSpPr>
          <p:cNvPr id="3" name="object 3">
            <a:extLst>
              <a:ext uri="{FF2B5EF4-FFF2-40B4-BE49-F238E27FC236}">
                <a16:creationId xmlns:a16="http://schemas.microsoft.com/office/drawing/2014/main" id="{5996C948-93F6-185F-DF9D-CB04CA09A29C}"/>
              </a:ext>
            </a:extLst>
          </p:cNvPr>
          <p:cNvSpPr txBox="1">
            <a:spLocks noGrp="1"/>
          </p:cNvSpPr>
          <p:nvPr>
            <p:ph type="title"/>
          </p:nvPr>
        </p:nvSpPr>
        <p:spPr>
          <a:xfrm>
            <a:off x="335563" y="4094"/>
            <a:ext cx="4453298" cy="232756"/>
          </a:xfrm>
          <a:prstGeom prst="rect">
            <a:avLst/>
          </a:prstGeom>
        </p:spPr>
        <p:txBody>
          <a:bodyPr vert="horz" wrap="square" lIns="0" tIns="17145" rIns="0" bIns="0" rtlCol="0">
            <a:spAutoFit/>
          </a:bodyPr>
          <a:lstStyle/>
          <a:p>
            <a:pPr marL="12700">
              <a:spcBef>
                <a:spcPts val="135"/>
              </a:spcBef>
            </a:pPr>
            <a:r>
              <a:rPr lang="en-AU" spc="-10" dirty="0"/>
              <a:t>Challenge</a:t>
            </a:r>
            <a:r>
              <a:rPr lang="zh-CN" altLang="en-US" spc="-10" dirty="0"/>
              <a:t> </a:t>
            </a:r>
            <a:r>
              <a:rPr lang="en-US" altLang="zh-CN" spc="-10" dirty="0"/>
              <a:t>1:</a:t>
            </a:r>
            <a:r>
              <a:rPr lang="zh-CN" altLang="en-US" spc="-10" dirty="0"/>
              <a:t> </a:t>
            </a:r>
            <a:r>
              <a:rPr lang="en-AU" altLang="zh-CN" spc="-10" dirty="0"/>
              <a:t>Spurious </a:t>
            </a:r>
            <a:r>
              <a:rPr lang="en-US" altLang="zh-CN" spc="-10" dirty="0"/>
              <a:t>Inter-procedural</a:t>
            </a:r>
            <a:r>
              <a:rPr lang="zh-CN" altLang="en-US" spc="-10" dirty="0"/>
              <a:t> </a:t>
            </a:r>
            <a:r>
              <a:rPr lang="en-US" altLang="zh-CN" spc="-10" dirty="0"/>
              <a:t>Value-Flow Cycle</a:t>
            </a:r>
            <a:endParaRPr spc="-30" dirty="0"/>
          </a:p>
        </p:txBody>
      </p:sp>
      <p:pic>
        <p:nvPicPr>
          <p:cNvPr id="6" name="Picture 5">
            <a:extLst>
              <a:ext uri="{FF2B5EF4-FFF2-40B4-BE49-F238E27FC236}">
                <a16:creationId xmlns:a16="http://schemas.microsoft.com/office/drawing/2014/main" id="{1AA31B23-D2EE-11F7-E0B1-D9A8039689CE}"/>
              </a:ext>
            </a:extLst>
          </p:cNvPr>
          <p:cNvPicPr>
            <a:picLocks noChangeAspect="1"/>
          </p:cNvPicPr>
          <p:nvPr/>
        </p:nvPicPr>
        <p:blipFill>
          <a:blip r:embed="rId4"/>
          <a:stretch>
            <a:fillRect/>
          </a:stretch>
        </p:blipFill>
        <p:spPr>
          <a:xfrm>
            <a:off x="414710" y="1242936"/>
            <a:ext cx="2304414" cy="1946165"/>
          </a:xfrm>
          <a:prstGeom prst="rect">
            <a:avLst/>
          </a:prstGeom>
        </p:spPr>
      </p:pic>
      <p:sp>
        <p:nvSpPr>
          <p:cNvPr id="23" name="TextBox 22">
            <a:extLst>
              <a:ext uri="{FF2B5EF4-FFF2-40B4-BE49-F238E27FC236}">
                <a16:creationId xmlns:a16="http://schemas.microsoft.com/office/drawing/2014/main" id="{9A60CB8C-A7B9-A64D-D319-AC189EDDE19F}"/>
              </a:ext>
            </a:extLst>
          </p:cNvPr>
          <p:cNvSpPr txBox="1"/>
          <p:nvPr/>
        </p:nvSpPr>
        <p:spPr>
          <a:xfrm>
            <a:off x="266185" y="285757"/>
            <a:ext cx="5649488" cy="261610"/>
          </a:xfrm>
          <a:prstGeom prst="rect">
            <a:avLst/>
          </a:prstGeom>
          <a:noFill/>
        </p:spPr>
        <p:txBody>
          <a:bodyPr wrap="square" rtlCol="0">
            <a:spAutoFit/>
          </a:bodyPr>
          <a:lstStyle/>
          <a:p>
            <a:r>
              <a:rPr lang="en-AU" sz="1100" b="1" dirty="0">
                <a:ea typeface="Cambria Math" panose="02040503050406030204" pitchFamily="18" charset="0"/>
                <a:cs typeface="Arial"/>
              </a:rPr>
              <a:t>Problem: How to remove spurious value-flow cycle </a:t>
            </a:r>
            <a:endParaRPr lang="en-US" sz="11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F3D0717-DEBD-F733-AFD4-7A8F94EC029F}"/>
                  </a:ext>
                </a:extLst>
              </p:cNvPr>
              <p:cNvSpPr txBox="1"/>
              <p:nvPr/>
            </p:nvSpPr>
            <p:spPr>
              <a:xfrm>
                <a:off x="262911" y="528840"/>
                <a:ext cx="5636375" cy="261610"/>
              </a:xfrm>
              <a:prstGeom prst="rect">
                <a:avLst/>
              </a:prstGeom>
              <a:noFill/>
            </p:spPr>
            <p:txBody>
              <a:bodyPr wrap="square" rtlCol="0">
                <a:spAutoFit/>
              </a:bodyPr>
              <a:lstStyle/>
              <a:p>
                <a:r>
                  <a:rPr lang="en-AU" sz="1100" dirty="0"/>
                  <a:t>Two cycles in (context insensitive) IVFG</a:t>
                </a:r>
                <a:r>
                  <a:rPr lang="en-US" sz="1100" dirty="0"/>
                  <a:t>: </a:t>
                </a:r>
                <a14:m>
                  <m:oMath xmlns:m="http://schemas.openxmlformats.org/officeDocument/2006/math">
                    <m:r>
                      <a:rPr lang="en-AU" sz="1100" i="1">
                        <a:solidFill>
                          <a:srgbClr val="00B050"/>
                        </a:solidFill>
                        <a:latin typeface="Cambria Math" panose="02040503050406030204" pitchFamily="18" charset="0"/>
                        <a:ea typeface="Cambria Math" panose="02040503050406030204" pitchFamily="18" charset="0"/>
                        <a:cs typeface="Arial"/>
                      </a:rPr>
                      <m:t>ℓ</m:t>
                    </m:r>
                    <m:r>
                      <a:rPr lang="en-US" altLang="zh-CN" sz="1100" i="1" baseline="-25000">
                        <a:solidFill>
                          <a:srgbClr val="00B050"/>
                        </a:solidFill>
                        <a:latin typeface="Cambria Math" panose="02040503050406030204" pitchFamily="18" charset="0"/>
                        <a:ea typeface="Cambria Math" panose="02040503050406030204" pitchFamily="18" charset="0"/>
                        <a:cs typeface="Arial"/>
                      </a:rPr>
                      <m:t>8</m:t>
                    </m:r>
                  </m:oMath>
                </a14:m>
                <a:r>
                  <a:rPr lang="en-US" sz="1100" dirty="0"/>
                  <a:t> and </a:t>
                </a:r>
                <a14:m>
                  <m:oMath xmlns:m="http://schemas.openxmlformats.org/officeDocument/2006/math">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1</m:t>
                    </m:r>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2</m:t>
                    </m:r>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9</m:t>
                    </m:r>
                  </m:oMath>
                </a14:m>
                <a:r>
                  <a:rPr lang="en-US" sz="1100" dirty="0">
                    <a:solidFill>
                      <a:schemeClr val="accent2">
                        <a:lumMod val="75000"/>
                      </a:schemeClr>
                    </a:solidFill>
                  </a:rPr>
                  <a:t> </a:t>
                </a:r>
                <a:endParaRPr lang="en-US" sz="1100" dirty="0"/>
              </a:p>
            </p:txBody>
          </p:sp>
        </mc:Choice>
        <mc:Fallback xmlns="">
          <p:sp>
            <p:nvSpPr>
              <p:cNvPr id="24" name="TextBox 23">
                <a:extLst>
                  <a:ext uri="{FF2B5EF4-FFF2-40B4-BE49-F238E27FC236}">
                    <a16:creationId xmlns:a16="http://schemas.microsoft.com/office/drawing/2014/main" id="{AF3D0717-DEBD-F733-AFD4-7A8F94EC029F}"/>
                  </a:ext>
                </a:extLst>
              </p:cNvPr>
              <p:cNvSpPr txBox="1">
                <a:spLocks noRot="1" noChangeAspect="1" noMove="1" noResize="1" noEditPoints="1" noAdjustHandles="1" noChangeArrowheads="1" noChangeShapeType="1" noTextEdit="1"/>
              </p:cNvSpPr>
              <p:nvPr/>
            </p:nvSpPr>
            <p:spPr>
              <a:xfrm>
                <a:off x="262911" y="528840"/>
                <a:ext cx="5636375" cy="261610"/>
              </a:xfrm>
              <a:prstGeom prst="rect">
                <a:avLst/>
              </a:prstGeom>
              <a:blipFill>
                <a:blip r:embed="rId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3D29E3-57F0-D53A-6E54-0ABF456CA3AF}"/>
                  </a:ext>
                </a:extLst>
              </p:cNvPr>
              <p:cNvSpPr txBox="1"/>
              <p:nvPr/>
            </p:nvSpPr>
            <p:spPr>
              <a:xfrm>
                <a:off x="253489" y="714876"/>
                <a:ext cx="5845161" cy="430887"/>
              </a:xfrm>
              <a:prstGeom prst="rect">
                <a:avLst/>
              </a:prstGeom>
              <a:noFill/>
            </p:spPr>
            <p:txBody>
              <a:bodyPr wrap="square" rtlCol="0">
                <a:spAutoFit/>
              </a:bodyPr>
              <a:lstStyle/>
              <a:p>
                <a:r>
                  <a:rPr lang="en-AU" sz="1100" dirty="0"/>
                  <a:t>Only </a:t>
                </a:r>
                <a14:m>
                  <m:oMath xmlns:m="http://schemas.openxmlformats.org/officeDocument/2006/math">
                    <m:r>
                      <a:rPr lang="en-AU" sz="1100" i="1">
                        <a:solidFill>
                          <a:srgbClr val="00B050"/>
                        </a:solidFill>
                        <a:latin typeface="Cambria Math" panose="02040503050406030204" pitchFamily="18" charset="0"/>
                        <a:ea typeface="Cambria Math" panose="02040503050406030204" pitchFamily="18" charset="0"/>
                        <a:cs typeface="Arial"/>
                      </a:rPr>
                      <m:t>ℓ</m:t>
                    </m:r>
                    <m:r>
                      <a:rPr lang="en-US" altLang="zh-CN" sz="1100" i="1" baseline="-25000">
                        <a:solidFill>
                          <a:srgbClr val="00B050"/>
                        </a:solidFill>
                        <a:latin typeface="Cambria Math" panose="02040503050406030204" pitchFamily="18" charset="0"/>
                        <a:ea typeface="Cambria Math" panose="02040503050406030204" pitchFamily="18" charset="0"/>
                        <a:cs typeface="Arial"/>
                      </a:rPr>
                      <m:t>8</m:t>
                    </m:r>
                  </m:oMath>
                </a14:m>
                <a:r>
                  <a:rPr lang="en-AU" sz="1100" dirty="0"/>
                  <a:t> is a </a:t>
                </a:r>
                <a:r>
                  <a:rPr lang="en-AU" sz="1100" dirty="0">
                    <a:solidFill>
                      <a:srgbClr val="00B050"/>
                    </a:solidFill>
                  </a:rPr>
                  <a:t>genuine</a:t>
                </a:r>
                <a:r>
                  <a:rPr lang="en-AU" sz="1100" dirty="0"/>
                  <a:t> loop cycle while </a:t>
                </a:r>
                <a14:m>
                  <m:oMath xmlns:m="http://schemas.openxmlformats.org/officeDocument/2006/math">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1</m:t>
                    </m:r>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2</m:t>
                    </m:r>
                    <m:r>
                      <a:rPr lang="en-AU" sz="1100" i="1">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baseline="-25000">
                        <a:solidFill>
                          <a:schemeClr val="accent2">
                            <a:lumMod val="75000"/>
                          </a:schemeClr>
                        </a:solidFill>
                        <a:latin typeface="Cambria Math" panose="02040503050406030204" pitchFamily="18" charset="0"/>
                        <a:ea typeface="Cambria Math" panose="02040503050406030204" pitchFamily="18" charset="0"/>
                        <a:cs typeface="Arial"/>
                      </a:rPr>
                      <m:t>9</m:t>
                    </m:r>
                  </m:oMath>
                </a14:m>
                <a:r>
                  <a:rPr lang="en-AU" sz="1100" dirty="0"/>
                  <a:t> is a </a:t>
                </a:r>
                <a:r>
                  <a:rPr lang="en-AU" sz="1100" dirty="0">
                    <a:solidFill>
                      <a:srgbClr val="C00000"/>
                    </a:solidFill>
                  </a:rPr>
                  <a:t>spurious</a:t>
                </a:r>
                <a:r>
                  <a:rPr lang="en-AU" sz="1100" dirty="0"/>
                  <a:t> one caused by context insensitivity</a:t>
                </a:r>
                <a:endParaRPr lang="en-US" sz="1100" dirty="0">
                  <a:solidFill>
                    <a:schemeClr val="tx2">
                      <a:lumMod val="60000"/>
                      <a:lumOff val="40000"/>
                    </a:schemeClr>
                  </a:solidFill>
                </a:endParaRPr>
              </a:p>
            </p:txBody>
          </p:sp>
        </mc:Choice>
        <mc:Fallback xmlns="">
          <p:sp>
            <p:nvSpPr>
              <p:cNvPr id="25" name="TextBox 24">
                <a:extLst>
                  <a:ext uri="{FF2B5EF4-FFF2-40B4-BE49-F238E27FC236}">
                    <a16:creationId xmlns:a16="http://schemas.microsoft.com/office/drawing/2014/main" id="{C53D29E3-57F0-D53A-6E54-0ABF456CA3AF}"/>
                  </a:ext>
                </a:extLst>
              </p:cNvPr>
              <p:cNvSpPr txBox="1">
                <a:spLocks noRot="1" noChangeAspect="1" noMove="1" noResize="1" noEditPoints="1" noAdjustHandles="1" noChangeArrowheads="1" noChangeShapeType="1" noTextEdit="1"/>
              </p:cNvSpPr>
              <p:nvPr/>
            </p:nvSpPr>
            <p:spPr>
              <a:xfrm>
                <a:off x="253489" y="714876"/>
                <a:ext cx="5845161" cy="430887"/>
              </a:xfrm>
              <a:prstGeom prst="rect">
                <a:avLst/>
              </a:prstGeom>
              <a:blipFill>
                <a:blip r:embed="rId6"/>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C54D3E0-A8F8-7267-1435-3A3C2B75D1CB}"/>
                  </a:ext>
                </a:extLst>
              </p:cNvPr>
              <p:cNvSpPr txBox="1"/>
              <p:nvPr/>
            </p:nvSpPr>
            <p:spPr>
              <a:xfrm>
                <a:off x="257812" y="1046119"/>
                <a:ext cx="5825960" cy="261610"/>
              </a:xfrm>
              <a:prstGeom prst="rect">
                <a:avLst/>
              </a:prstGeom>
              <a:noFill/>
            </p:spPr>
            <p:txBody>
              <a:bodyPr wrap="square" rtlCol="0">
                <a:spAutoFit/>
              </a:bodyPr>
              <a:lstStyle/>
              <a:p>
                <a:r>
                  <a:rPr lang="en-AU" sz="1100" dirty="0">
                    <a:solidFill>
                      <a:schemeClr val="tx1"/>
                    </a:solidFill>
                  </a:rPr>
                  <a:t>Spurious cycles lead to higher cost, more widening </a:t>
                </a:r>
                <a:r>
                  <a:rPr lang="en-AU" altLang="zh-CN" sz="1100" b="1" dirty="0">
                    <a:solidFill>
                      <a:schemeClr val="tx1"/>
                    </a:solidFill>
                  </a:rPr>
                  <a:t>(</a:t>
                </a:r>
                <a14:m>
                  <m:oMath xmlns:m="http://schemas.openxmlformats.org/officeDocument/2006/math">
                    <m:r>
                      <a:rPr lang="en-AU" sz="1100" b="1" i="1">
                        <a:solidFill>
                          <a:srgbClr val="00B050"/>
                        </a:solidFill>
                        <a:latin typeface="Cambria Math" panose="02040503050406030204" pitchFamily="18" charset="0"/>
                        <a:ea typeface="Cambria Math" panose="02040503050406030204" pitchFamily="18" charset="0"/>
                        <a:cs typeface="Arial"/>
                      </a:rPr>
                      <m:t>𝒊</m:t>
                    </m:r>
                  </m:oMath>
                </a14:m>
                <a:r>
                  <a:rPr lang="en-AU" altLang="zh-CN" sz="1100" b="1" dirty="0">
                    <a:solidFill>
                      <a:srgbClr val="00B050"/>
                    </a:solidFill>
                  </a:rPr>
                  <a:t>@</a:t>
                </a:r>
                <a:r>
                  <a:rPr lang="en-AU" sz="1100" dirty="0">
                    <a:solidFill>
                      <a:srgbClr val="00B050"/>
                    </a:solidFill>
                    <a:ea typeface="Cambria Math" panose="02040503050406030204" pitchFamily="18" charset="0"/>
                    <a:cs typeface="Arial"/>
                  </a:rPr>
                  <a:t> </a:t>
                </a:r>
                <a14:m>
                  <m:oMath xmlns:m="http://schemas.openxmlformats.org/officeDocument/2006/math">
                    <m:r>
                      <a:rPr lang="en-AU" sz="1100" i="1">
                        <a:solidFill>
                          <a:srgbClr val="00B050"/>
                        </a:solidFill>
                        <a:latin typeface="Cambria Math" panose="02040503050406030204" pitchFamily="18" charset="0"/>
                        <a:ea typeface="Cambria Math" panose="02040503050406030204" pitchFamily="18" charset="0"/>
                        <a:cs typeface="Arial"/>
                      </a:rPr>
                      <m:t>ℓ</m:t>
                    </m:r>
                    <m:r>
                      <a:rPr lang="en-US" altLang="zh-CN" sz="1100" i="1" baseline="-25000">
                        <a:solidFill>
                          <a:srgbClr val="00B050"/>
                        </a:solidFill>
                        <a:latin typeface="Cambria Math" panose="02040503050406030204" pitchFamily="18" charset="0"/>
                        <a:ea typeface="Cambria Math" panose="02040503050406030204" pitchFamily="18" charset="0"/>
                        <a:cs typeface="Arial"/>
                      </a:rPr>
                      <m:t>8</m:t>
                    </m:r>
                    <m:r>
                      <a:rPr lang="en-AU" altLang="zh-CN" sz="1100" i="1" baseline="-25000">
                        <a:solidFill>
                          <a:srgbClr val="00B050"/>
                        </a:solidFill>
                        <a:latin typeface="Cambria Math" panose="02040503050406030204" pitchFamily="18" charset="0"/>
                        <a:ea typeface="Cambria Math" panose="02040503050406030204" pitchFamily="18" charset="0"/>
                        <a:cs typeface="Arial"/>
                      </a:rPr>
                      <m:t>. </m:t>
                    </m:r>
                  </m:oMath>
                </a14:m>
                <a:r>
                  <a:rPr lang="en-US" sz="1100" b="1" dirty="0">
                    <a:solidFill>
                      <a:schemeClr val="tx1"/>
                    </a:solidFill>
                  </a:rPr>
                  <a:t>and </a:t>
                </a:r>
                <a14:m>
                  <m:oMath xmlns:m="http://schemas.openxmlformats.org/officeDocument/2006/math">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𝐱</m:t>
                    </m:r>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m:t>
                    </m:r>
                    <m:r>
                      <a:rPr lang="en-AU" sz="1100" i="1" strike="sngStrike">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strike="sngStrike" baseline="-25000">
                        <a:solidFill>
                          <a:schemeClr val="accent2">
                            <a:lumMod val="75000"/>
                          </a:schemeClr>
                        </a:solidFill>
                        <a:latin typeface="Cambria Math" panose="02040503050406030204" pitchFamily="18" charset="0"/>
                        <a:ea typeface="Cambria Math" panose="02040503050406030204" pitchFamily="18" charset="0"/>
                        <a:cs typeface="Arial"/>
                      </a:rPr>
                      <m:t>1</m:t>
                    </m:r>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𝐫𝐞𝐬</m:t>
                    </m:r>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m:t>
                    </m:r>
                    <m:r>
                      <a:rPr lang="en-AU" sz="1100" i="1" strike="sngStrike">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strike="sngStrike" baseline="-25000">
                        <a:solidFill>
                          <a:schemeClr val="accent2">
                            <a:lumMod val="75000"/>
                          </a:schemeClr>
                        </a:solidFill>
                        <a:latin typeface="Cambria Math" panose="02040503050406030204" pitchFamily="18" charset="0"/>
                        <a:ea typeface="Cambria Math" panose="02040503050406030204" pitchFamily="18" charset="0"/>
                        <a:cs typeface="Arial"/>
                      </a:rPr>
                      <m:t>2</m:t>
                    </m:r>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𝐭𝐞𝐦𝐩</m:t>
                    </m:r>
                    <m:r>
                      <a:rPr lang="en-AU" sz="1100" b="1" strike="sngStrike">
                        <a:solidFill>
                          <a:schemeClr val="accent2">
                            <a:lumMod val="75000"/>
                          </a:schemeClr>
                        </a:solidFill>
                        <a:latin typeface="Cambria Math" panose="02040503050406030204" pitchFamily="18" charset="0"/>
                        <a:ea typeface="Cambria Math" panose="02040503050406030204" pitchFamily="18" charset="0"/>
                        <a:cs typeface="Arial"/>
                      </a:rPr>
                      <m:t>@</m:t>
                    </m:r>
                    <m:r>
                      <a:rPr lang="en-AU" sz="1100" i="1" strike="sngStrike">
                        <a:solidFill>
                          <a:schemeClr val="accent2">
                            <a:lumMod val="75000"/>
                          </a:schemeClr>
                        </a:solidFill>
                        <a:latin typeface="Cambria Math" panose="02040503050406030204" pitchFamily="18" charset="0"/>
                        <a:ea typeface="Cambria Math" panose="02040503050406030204" pitchFamily="18" charset="0"/>
                        <a:cs typeface="Arial"/>
                      </a:rPr>
                      <m:t>ℓ</m:t>
                    </m:r>
                    <m:r>
                      <a:rPr lang="en-AU" altLang="zh-CN" sz="1100" i="1" strike="sngStrike" baseline="-25000">
                        <a:solidFill>
                          <a:schemeClr val="accent2">
                            <a:lumMod val="75000"/>
                          </a:schemeClr>
                        </a:solidFill>
                        <a:latin typeface="Cambria Math" panose="02040503050406030204" pitchFamily="18" charset="0"/>
                        <a:ea typeface="Cambria Math" panose="02040503050406030204" pitchFamily="18" charset="0"/>
                        <a:cs typeface="Arial"/>
                      </a:rPr>
                      <m:t>9</m:t>
                    </m:r>
                  </m:oMath>
                </a14:m>
                <a:r>
                  <a:rPr lang="en-US" sz="1100" b="1" dirty="0">
                    <a:solidFill>
                      <a:schemeClr val="tx1"/>
                    </a:solidFill>
                  </a:rPr>
                  <a:t>)</a:t>
                </a:r>
              </a:p>
            </p:txBody>
          </p:sp>
        </mc:Choice>
        <mc:Fallback xmlns="">
          <p:sp>
            <p:nvSpPr>
              <p:cNvPr id="26" name="TextBox 25">
                <a:extLst>
                  <a:ext uri="{FF2B5EF4-FFF2-40B4-BE49-F238E27FC236}">
                    <a16:creationId xmlns:a16="http://schemas.microsoft.com/office/drawing/2014/main" id="{FC54D3E0-A8F8-7267-1435-3A3C2B75D1CB}"/>
                  </a:ext>
                </a:extLst>
              </p:cNvPr>
              <p:cNvSpPr txBox="1">
                <a:spLocks noRot="1" noChangeAspect="1" noMove="1" noResize="1" noEditPoints="1" noAdjustHandles="1" noChangeArrowheads="1" noChangeShapeType="1" noTextEdit="1"/>
              </p:cNvSpPr>
              <p:nvPr/>
            </p:nvSpPr>
            <p:spPr>
              <a:xfrm>
                <a:off x="257812" y="1046119"/>
                <a:ext cx="5825960" cy="261610"/>
              </a:xfrm>
              <a:prstGeom prst="rect">
                <a:avLst/>
              </a:prstGeom>
              <a:blipFill>
                <a:blip r:embed="rId7"/>
                <a:stretch>
                  <a:fillRect b="-13636"/>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BFC0FEF-C083-A95D-8192-23556C8F0480}"/>
              </a:ext>
            </a:extLst>
          </p:cNvPr>
          <p:cNvPicPr>
            <a:picLocks noChangeAspect="1"/>
          </p:cNvPicPr>
          <p:nvPr/>
        </p:nvPicPr>
        <p:blipFill>
          <a:blip r:embed="rId8"/>
          <a:stretch>
            <a:fillRect/>
          </a:stretch>
        </p:blipFill>
        <p:spPr>
          <a:xfrm>
            <a:off x="3216688" y="1493767"/>
            <a:ext cx="2422534" cy="1640160"/>
          </a:xfrm>
          <a:prstGeom prst="rect">
            <a:avLst/>
          </a:prstGeom>
        </p:spPr>
      </p:pic>
      <p:pic>
        <p:nvPicPr>
          <p:cNvPr id="9" name="Picture 8">
            <a:extLst>
              <a:ext uri="{FF2B5EF4-FFF2-40B4-BE49-F238E27FC236}">
                <a16:creationId xmlns:a16="http://schemas.microsoft.com/office/drawing/2014/main" id="{1023DBD1-C857-169B-7943-84E5FE37A519}"/>
              </a:ext>
            </a:extLst>
          </p:cNvPr>
          <p:cNvPicPr>
            <a:picLocks noChangeAspect="1"/>
          </p:cNvPicPr>
          <p:nvPr/>
        </p:nvPicPr>
        <p:blipFill>
          <a:blip r:embed="rId9"/>
          <a:stretch>
            <a:fillRect/>
          </a:stretch>
        </p:blipFill>
        <p:spPr>
          <a:xfrm>
            <a:off x="3001237" y="1370254"/>
            <a:ext cx="2646016" cy="1871111"/>
          </a:xfrm>
          <a:prstGeom prst="rect">
            <a:avLst/>
          </a:prstGeom>
        </p:spPr>
      </p:pic>
      <p:pic>
        <p:nvPicPr>
          <p:cNvPr id="13" name="Picture 12">
            <a:extLst>
              <a:ext uri="{FF2B5EF4-FFF2-40B4-BE49-F238E27FC236}">
                <a16:creationId xmlns:a16="http://schemas.microsoft.com/office/drawing/2014/main" id="{0C4253E7-0A1F-6983-BAB7-1C8FE33041E7}"/>
              </a:ext>
            </a:extLst>
          </p:cNvPr>
          <p:cNvPicPr>
            <a:picLocks noChangeAspect="1"/>
          </p:cNvPicPr>
          <p:nvPr/>
        </p:nvPicPr>
        <p:blipFill>
          <a:blip r:embed="rId10"/>
          <a:stretch>
            <a:fillRect/>
          </a:stretch>
        </p:blipFill>
        <p:spPr>
          <a:xfrm>
            <a:off x="2932710" y="1270276"/>
            <a:ext cx="2727767" cy="1868851"/>
          </a:xfrm>
          <a:prstGeom prst="rect">
            <a:avLst/>
          </a:prstGeom>
        </p:spPr>
      </p:pic>
      <p:pic>
        <p:nvPicPr>
          <p:cNvPr id="19" name="Picture 18">
            <a:extLst>
              <a:ext uri="{FF2B5EF4-FFF2-40B4-BE49-F238E27FC236}">
                <a16:creationId xmlns:a16="http://schemas.microsoft.com/office/drawing/2014/main" id="{73FC33BC-30DF-62FE-FD08-521DD2ECE465}"/>
              </a:ext>
            </a:extLst>
          </p:cNvPr>
          <p:cNvPicPr>
            <a:picLocks noChangeAspect="1"/>
          </p:cNvPicPr>
          <p:nvPr/>
        </p:nvPicPr>
        <p:blipFill>
          <a:blip r:embed="rId11"/>
          <a:stretch>
            <a:fillRect/>
          </a:stretch>
        </p:blipFill>
        <p:spPr>
          <a:xfrm>
            <a:off x="2925178" y="1280522"/>
            <a:ext cx="2727767" cy="1856006"/>
          </a:xfrm>
          <a:prstGeom prst="rect">
            <a:avLst/>
          </a:prstGeom>
        </p:spPr>
      </p:pic>
      <p:pic>
        <p:nvPicPr>
          <p:cNvPr id="21" name="Picture 20">
            <a:extLst>
              <a:ext uri="{FF2B5EF4-FFF2-40B4-BE49-F238E27FC236}">
                <a16:creationId xmlns:a16="http://schemas.microsoft.com/office/drawing/2014/main" id="{6B342A69-97FE-8B66-AB6F-210F204FC62A}"/>
              </a:ext>
            </a:extLst>
          </p:cNvPr>
          <p:cNvPicPr>
            <a:picLocks noChangeAspect="1"/>
          </p:cNvPicPr>
          <p:nvPr/>
        </p:nvPicPr>
        <p:blipFill>
          <a:blip r:embed="rId12"/>
          <a:stretch>
            <a:fillRect/>
          </a:stretch>
        </p:blipFill>
        <p:spPr>
          <a:xfrm>
            <a:off x="3001237" y="1285175"/>
            <a:ext cx="2646016" cy="1864452"/>
          </a:xfrm>
          <a:prstGeom prst="rect">
            <a:avLst/>
          </a:prstGeom>
        </p:spPr>
      </p:pic>
      <p:pic>
        <p:nvPicPr>
          <p:cNvPr id="27" name="Picture 26">
            <a:extLst>
              <a:ext uri="{FF2B5EF4-FFF2-40B4-BE49-F238E27FC236}">
                <a16:creationId xmlns:a16="http://schemas.microsoft.com/office/drawing/2014/main" id="{D5285050-F1B9-EF80-166F-C6A84A699DF3}"/>
              </a:ext>
            </a:extLst>
          </p:cNvPr>
          <p:cNvPicPr>
            <a:picLocks noChangeAspect="1"/>
          </p:cNvPicPr>
          <p:nvPr/>
        </p:nvPicPr>
        <p:blipFill>
          <a:blip r:embed="rId9"/>
          <a:stretch>
            <a:fillRect/>
          </a:stretch>
        </p:blipFill>
        <p:spPr>
          <a:xfrm>
            <a:off x="2993747" y="1291854"/>
            <a:ext cx="2815401" cy="1990891"/>
          </a:xfrm>
          <a:prstGeom prst="rect">
            <a:avLst/>
          </a:prstGeom>
        </p:spPr>
      </p:pic>
      <p:sp>
        <p:nvSpPr>
          <p:cNvPr id="4" name="TextBox 3">
            <a:extLst>
              <a:ext uri="{FF2B5EF4-FFF2-40B4-BE49-F238E27FC236}">
                <a16:creationId xmlns:a16="http://schemas.microsoft.com/office/drawing/2014/main" id="{D9E37814-EA48-D6D8-DED2-CF6432A18B6D}"/>
              </a:ext>
            </a:extLst>
          </p:cNvPr>
          <p:cNvSpPr txBox="1"/>
          <p:nvPr/>
        </p:nvSpPr>
        <p:spPr>
          <a:xfrm>
            <a:off x="470525" y="3099213"/>
            <a:ext cx="2000869" cy="215444"/>
          </a:xfrm>
          <a:prstGeom prst="rect">
            <a:avLst/>
          </a:prstGeom>
          <a:noFill/>
        </p:spPr>
        <p:txBody>
          <a:bodyPr wrap="none" rtlCol="0">
            <a:spAutoFit/>
          </a:bodyPr>
          <a:lstStyle/>
          <a:p>
            <a:r>
              <a:rPr lang="en-AU" sz="800" dirty="0">
                <a:solidFill>
                  <a:schemeClr val="bg1">
                    <a:lumMod val="65000"/>
                  </a:schemeClr>
                </a:solidFill>
              </a:rPr>
              <a:t>*IVFG: Inter-procedural value flow cycle</a:t>
            </a:r>
            <a:endParaRPr lang="en-US" sz="800" dirty="0">
              <a:solidFill>
                <a:schemeClr val="bg1">
                  <a:lumMod val="65000"/>
                </a:schemeClr>
              </a:solidFill>
            </a:endParaRPr>
          </a:p>
        </p:txBody>
      </p:sp>
      <p:sp>
        <p:nvSpPr>
          <p:cNvPr id="10" name="Slide Number Placeholder 22">
            <a:extLst>
              <a:ext uri="{FF2B5EF4-FFF2-40B4-BE49-F238E27FC236}">
                <a16:creationId xmlns:a16="http://schemas.microsoft.com/office/drawing/2014/main" id="{9DE4F297-4FA5-F244-A0E8-C5E96C4899A0}"/>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6</a:t>
            </a:fld>
            <a:endParaRPr lang="en-AU" dirty="0"/>
          </a:p>
        </p:txBody>
      </p:sp>
    </p:spTree>
    <p:extLst>
      <p:ext uri="{BB962C8B-B14F-4D97-AF65-F5344CB8AC3E}">
        <p14:creationId xmlns:p14="http://schemas.microsoft.com/office/powerpoint/2010/main" val="26173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6764-A66E-719B-09B9-7B472694997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0E2B721-E3E8-E9B5-0115-32C3A0ABBCBD}"/>
              </a:ext>
            </a:extLst>
          </p:cNvPr>
          <p:cNvSpPr txBox="1">
            <a:spLocks noGrp="1"/>
          </p:cNvSpPr>
          <p:nvPr>
            <p:ph type="title"/>
          </p:nvPr>
        </p:nvSpPr>
        <p:spPr>
          <a:xfrm>
            <a:off x="309793" y="9842"/>
            <a:ext cx="5052781" cy="232756"/>
          </a:xfrm>
          <a:prstGeom prst="rect">
            <a:avLst/>
          </a:prstGeom>
        </p:spPr>
        <p:txBody>
          <a:bodyPr vert="horz" wrap="square" lIns="0" tIns="17145" rIns="0" bIns="0" rtlCol="0">
            <a:spAutoFit/>
          </a:bodyPr>
          <a:lstStyle/>
          <a:p>
            <a:pPr marL="12700">
              <a:spcBef>
                <a:spcPts val="135"/>
              </a:spcBef>
            </a:pPr>
            <a:r>
              <a:rPr lang="en-AU" spc="-10" dirty="0"/>
              <a:t>Approach</a:t>
            </a:r>
            <a:r>
              <a:rPr lang="zh-CN" altLang="en-US" spc="-10" dirty="0"/>
              <a:t> </a:t>
            </a:r>
            <a:r>
              <a:rPr lang="en-US" altLang="zh-CN" spc="-10" dirty="0"/>
              <a:t>1</a:t>
            </a:r>
            <a:r>
              <a:rPr lang="en-US" altLang="zh-CN" sz="1200" spc="-10" dirty="0"/>
              <a:t>:</a:t>
            </a:r>
            <a:r>
              <a:rPr lang="zh-CN" altLang="en-US" sz="1200" spc="-10" dirty="0"/>
              <a:t> </a:t>
            </a:r>
            <a:r>
              <a:rPr lang="en-US" altLang="zh-CN" spc="-10" dirty="0"/>
              <a:t>M</a:t>
            </a:r>
            <a:r>
              <a:rPr lang="en-AU" altLang="zh-CN" spc="-10" dirty="0" err="1"/>
              <a:t>odular</a:t>
            </a:r>
            <a:r>
              <a:rPr lang="en-AU" altLang="zh-CN" spc="-10" dirty="0"/>
              <a:t> Value-Flow Graph (MVFG)</a:t>
            </a:r>
            <a:r>
              <a:rPr lang="zh-CN" altLang="en-US" spc="-10" dirty="0"/>
              <a:t> </a:t>
            </a:r>
            <a:r>
              <a:rPr lang="en-AU" altLang="zh-CN" spc="-10" dirty="0"/>
              <a:t>Construction</a:t>
            </a:r>
            <a:endParaRPr sz="1200" spc="-30" dirty="0"/>
          </a:p>
        </p:txBody>
      </p:sp>
      <p:pic>
        <p:nvPicPr>
          <p:cNvPr id="6" name="Picture 5">
            <a:extLst>
              <a:ext uri="{FF2B5EF4-FFF2-40B4-BE49-F238E27FC236}">
                <a16:creationId xmlns:a16="http://schemas.microsoft.com/office/drawing/2014/main" id="{5FA67A8B-5C6C-0F01-42AA-66DEDDC7E0D0}"/>
              </a:ext>
            </a:extLst>
          </p:cNvPr>
          <p:cNvPicPr>
            <a:picLocks noChangeAspect="1"/>
          </p:cNvPicPr>
          <p:nvPr/>
        </p:nvPicPr>
        <p:blipFill>
          <a:blip r:embed="rId3"/>
          <a:srcRect/>
          <a:stretch/>
        </p:blipFill>
        <p:spPr>
          <a:xfrm>
            <a:off x="2622149" y="1171429"/>
            <a:ext cx="3131607" cy="1962210"/>
          </a:xfrm>
          <a:prstGeom prst="rect">
            <a:avLst/>
          </a:prstGeom>
          <a:solidFill>
            <a:schemeClr val="bg1"/>
          </a:solidFill>
        </p:spPr>
      </p:pic>
      <p:pic>
        <p:nvPicPr>
          <p:cNvPr id="13" name="Picture 12">
            <a:extLst>
              <a:ext uri="{FF2B5EF4-FFF2-40B4-BE49-F238E27FC236}">
                <a16:creationId xmlns:a16="http://schemas.microsoft.com/office/drawing/2014/main" id="{8AB0DAF6-3543-EDB5-0993-D6529E476B3F}"/>
              </a:ext>
            </a:extLst>
          </p:cNvPr>
          <p:cNvPicPr>
            <a:picLocks noChangeAspect="1"/>
          </p:cNvPicPr>
          <p:nvPr/>
        </p:nvPicPr>
        <p:blipFill>
          <a:blip r:embed="rId4"/>
          <a:stretch>
            <a:fillRect/>
          </a:stretch>
        </p:blipFill>
        <p:spPr>
          <a:xfrm>
            <a:off x="144310" y="1088924"/>
            <a:ext cx="2467657" cy="208403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6622892-5ABF-FD51-2C8A-5593B1950108}"/>
                  </a:ext>
                </a:extLst>
              </p:cNvPr>
              <p:cNvSpPr txBox="1"/>
              <p:nvPr/>
            </p:nvSpPr>
            <p:spPr>
              <a:xfrm>
                <a:off x="250281" y="352183"/>
                <a:ext cx="5652587" cy="430887"/>
              </a:xfrm>
              <a:prstGeom prst="rect">
                <a:avLst/>
              </a:prstGeom>
              <a:noFill/>
            </p:spPr>
            <p:txBody>
              <a:bodyPr wrap="square">
                <a:spAutoFit/>
              </a:bodyPr>
              <a:lstStyle/>
              <a:p>
                <a:r>
                  <a:rPr lang="en-AU" sz="1100" dirty="0">
                    <a:latin typeface="Helvetica" pitchFamily="2" charset="0"/>
                  </a:rPr>
                  <a:t>It removes </a:t>
                </a:r>
                <a:r>
                  <a:rPr lang="en-AU" sz="1100" dirty="0">
                    <a:solidFill>
                      <a:schemeClr val="tx1"/>
                    </a:solidFill>
                    <a:latin typeface="Helvetica" pitchFamily="2" charset="0"/>
                  </a:rPr>
                  <a:t>call</a:t>
                </a:r>
                <a:r>
                  <a:rPr lang="en-US" altLang="zh-CN" sz="1100" dirty="0">
                    <a:solidFill>
                      <a:schemeClr val="tx1"/>
                    </a:solidFill>
                    <a:latin typeface="Helvetica" pitchFamily="2" charset="0"/>
                  </a:rPr>
                  <a:t>-</a:t>
                </a:r>
                <a:r>
                  <a:rPr lang="en-AU" sz="1100" dirty="0">
                    <a:solidFill>
                      <a:schemeClr val="tx1"/>
                    </a:solidFill>
                    <a:latin typeface="Helvetica" pitchFamily="2" charset="0"/>
                  </a:rPr>
                  <a:t>return </a:t>
                </a:r>
                <a:r>
                  <a:rPr lang="en-US" altLang="zh-CN" sz="1100" dirty="0">
                    <a:latin typeface="Helvetica" pitchFamily="2" charset="0"/>
                  </a:rPr>
                  <a:t>value-flow edge pairs, replaces with </a:t>
                </a:r>
                <a:r>
                  <a:rPr lang="en-AU" sz="1100" dirty="0">
                    <a:solidFill>
                      <a:srgbClr val="00B050"/>
                    </a:solidFill>
                  </a:rPr>
                  <a:t>shortcut value-flow edges </a:t>
                </a:r>
                <a:r>
                  <a:rPr lang="en-AU" sz="1100" dirty="0"/>
                  <a:t>between n@</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3</m:t>
                    </m:r>
                  </m:oMath>
                </a14:m>
                <a:r>
                  <a:rPr lang="en-AU" sz="1100" dirty="0"/>
                  <a:t> and temp@</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9</m:t>
                    </m:r>
                  </m:oMath>
                </a14:m>
                <a:r>
                  <a:rPr lang="en-AU" sz="1100" dirty="0"/>
                  <a:t>, temp@</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9</m:t>
                    </m:r>
                  </m:oMath>
                </a14:m>
                <a:r>
                  <a:rPr lang="en-AU" sz="1100" dirty="0"/>
                  <a:t> and d@</a:t>
                </a:r>
                <a14:m>
                  <m:oMath xmlns:m="http://schemas.openxmlformats.org/officeDocument/2006/math">
                    <m:r>
                      <a:rPr lang="en-AU" sz="1100" i="1">
                        <a:latin typeface="Cambria Math" panose="02040503050406030204" pitchFamily="18" charset="0"/>
                        <a:ea typeface="Cambria Math" panose="02040503050406030204" pitchFamily="18" charset="0"/>
                        <a:cs typeface="Arial"/>
                      </a:rPr>
                      <m:t>ℓ</m:t>
                    </m:r>
                    <m:r>
                      <a:rPr lang="en-AU" sz="1100" i="1" baseline="-25000">
                        <a:latin typeface="Cambria Math" panose="02040503050406030204" pitchFamily="18" charset="0"/>
                        <a:ea typeface="Cambria Math" panose="02040503050406030204" pitchFamily="18" charset="0"/>
                        <a:cs typeface="Arial"/>
                      </a:rPr>
                      <m:t>10  </m:t>
                    </m:r>
                  </m:oMath>
                </a14:m>
                <a:r>
                  <a:rPr lang="en-AU" sz="1100" dirty="0"/>
                  <a:t>,improving analysis efficiency.</a:t>
                </a:r>
                <a:r>
                  <a:rPr lang="en-US" altLang="zh-CN" sz="1100" dirty="0">
                    <a:latin typeface="Helvetica" pitchFamily="2" charset="0"/>
                  </a:rPr>
                  <a:t> </a:t>
                </a:r>
                <a:endParaRPr lang="en-AU" sz="1100" dirty="0">
                  <a:latin typeface="Helvetica" pitchFamily="2" charset="0"/>
                </a:endParaRPr>
              </a:p>
            </p:txBody>
          </p:sp>
        </mc:Choice>
        <mc:Fallback xmlns="">
          <p:sp>
            <p:nvSpPr>
              <p:cNvPr id="15" name="TextBox 14">
                <a:extLst>
                  <a:ext uri="{FF2B5EF4-FFF2-40B4-BE49-F238E27FC236}">
                    <a16:creationId xmlns:a16="http://schemas.microsoft.com/office/drawing/2014/main" id="{F6622892-5ABF-FD51-2C8A-5593B1950108}"/>
                  </a:ext>
                </a:extLst>
              </p:cNvPr>
              <p:cNvSpPr txBox="1">
                <a:spLocks noRot="1" noChangeAspect="1" noMove="1" noResize="1" noEditPoints="1" noAdjustHandles="1" noChangeArrowheads="1" noChangeShapeType="1" noTextEdit="1"/>
              </p:cNvSpPr>
              <p:nvPr/>
            </p:nvSpPr>
            <p:spPr>
              <a:xfrm>
                <a:off x="250281" y="352183"/>
                <a:ext cx="5652587" cy="430887"/>
              </a:xfrm>
              <a:prstGeom prst="rect">
                <a:avLst/>
              </a:prstGeom>
              <a:blipFill>
                <a:blip r:embed="rId5"/>
                <a:stretch>
                  <a:fillRect t="-2857" b="-571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B1ACCC55-B323-2F95-8734-AC06D0CC1324}"/>
              </a:ext>
            </a:extLst>
          </p:cNvPr>
          <p:cNvPicPr>
            <a:picLocks noChangeAspect="1"/>
          </p:cNvPicPr>
          <p:nvPr/>
        </p:nvPicPr>
        <p:blipFill>
          <a:blip r:embed="rId6"/>
          <a:srcRect/>
          <a:stretch/>
        </p:blipFill>
        <p:spPr>
          <a:xfrm>
            <a:off x="2622149" y="1171429"/>
            <a:ext cx="3131607" cy="1962210"/>
          </a:xfrm>
          <a:prstGeom prst="rect">
            <a:avLst/>
          </a:prstGeom>
          <a:noFill/>
        </p:spPr>
      </p:pic>
      <p:pic>
        <p:nvPicPr>
          <p:cNvPr id="12" name="Picture 11">
            <a:extLst>
              <a:ext uri="{FF2B5EF4-FFF2-40B4-BE49-F238E27FC236}">
                <a16:creationId xmlns:a16="http://schemas.microsoft.com/office/drawing/2014/main" id="{314349AF-DDDA-EAA8-F91F-908BE24A6224}"/>
              </a:ext>
            </a:extLst>
          </p:cNvPr>
          <p:cNvPicPr>
            <a:picLocks noChangeAspect="1"/>
          </p:cNvPicPr>
          <p:nvPr/>
        </p:nvPicPr>
        <p:blipFill>
          <a:blip r:embed="rId7"/>
          <a:srcRect/>
          <a:stretch/>
        </p:blipFill>
        <p:spPr>
          <a:xfrm>
            <a:off x="3200639" y="1150628"/>
            <a:ext cx="2599618" cy="1881435"/>
          </a:xfrm>
          <a:prstGeom prst="rect">
            <a:avLst/>
          </a:prstGeom>
          <a:noFill/>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3ABDFF-9707-1B0A-762C-B46D27CF8268}"/>
                  </a:ext>
                </a:extLst>
              </p:cNvPr>
              <p:cNvSpPr txBox="1"/>
              <p:nvPr/>
            </p:nvSpPr>
            <p:spPr>
              <a:xfrm>
                <a:off x="250281" y="796552"/>
                <a:ext cx="5036094" cy="261610"/>
              </a:xfrm>
              <a:prstGeom prst="rect">
                <a:avLst/>
              </a:prstGeom>
              <a:noFill/>
            </p:spPr>
            <p:txBody>
              <a:bodyPr wrap="square" rtlCol="0">
                <a:spAutoFit/>
              </a:bodyPr>
              <a:lstStyle/>
              <a:p>
                <a:r>
                  <a:rPr lang="en-AU" sz="1100" b="1" dirty="0">
                    <a:solidFill>
                      <a:schemeClr val="tx1"/>
                    </a:solidFill>
                  </a:rPr>
                  <a:t>The Widening Set of loop </a:t>
                </a:r>
                <a14:m>
                  <m:oMath xmlns:m="http://schemas.openxmlformats.org/officeDocument/2006/math">
                    <m:r>
                      <a:rPr lang="en-AU" sz="1100" b="1" i="1">
                        <a:solidFill>
                          <a:schemeClr val="tx1"/>
                        </a:solidFill>
                        <a:latin typeface="Cambria Math" panose="02040503050406030204" pitchFamily="18" charset="0"/>
                        <a:ea typeface="Cambria Math" panose="02040503050406030204" pitchFamily="18" charset="0"/>
                        <a:cs typeface="Arial"/>
                      </a:rPr>
                      <m:t>ℓ</m:t>
                    </m:r>
                    <m:r>
                      <a:rPr lang="en-US" altLang="zh-CN" sz="1100" b="1" i="1" baseline="-25000">
                        <a:solidFill>
                          <a:schemeClr val="tx1"/>
                        </a:solidFill>
                        <a:latin typeface="Cambria Math" panose="02040503050406030204" pitchFamily="18" charset="0"/>
                        <a:ea typeface="Cambria Math" panose="02040503050406030204" pitchFamily="18" charset="0"/>
                        <a:cs typeface="Arial"/>
                      </a:rPr>
                      <m:t>𝟖</m:t>
                    </m:r>
                    <m:r>
                      <m:rPr>
                        <m:nor/>
                      </m:rPr>
                      <a:rPr lang="en-US" altLang="zh-CN" sz="1100" b="1" dirty="0">
                        <a:solidFill>
                          <a:schemeClr val="tx1"/>
                        </a:solidFill>
                      </a:rPr>
                      <m:t>−</m:t>
                    </m:r>
                    <m:r>
                      <a:rPr lang="en-AU" sz="1100" b="1" i="1">
                        <a:solidFill>
                          <a:schemeClr val="tx1"/>
                        </a:solidFill>
                        <a:latin typeface="Cambria Math" panose="02040503050406030204" pitchFamily="18" charset="0"/>
                        <a:ea typeface="Cambria Math" panose="02040503050406030204" pitchFamily="18" charset="0"/>
                        <a:cs typeface="Arial"/>
                      </a:rPr>
                      <m:t>ℓ</m:t>
                    </m:r>
                    <m:r>
                      <a:rPr lang="en-US" altLang="zh-CN" sz="1100" b="1" i="1" baseline="-25000">
                        <a:solidFill>
                          <a:schemeClr val="tx1"/>
                        </a:solidFill>
                        <a:latin typeface="Cambria Math" panose="02040503050406030204" pitchFamily="18" charset="0"/>
                        <a:ea typeface="Cambria Math" panose="02040503050406030204" pitchFamily="18" charset="0"/>
                        <a:cs typeface="Arial"/>
                      </a:rPr>
                      <m:t>𝟏𝟏</m:t>
                    </m:r>
                    <m:r>
                      <m:rPr>
                        <m:nor/>
                      </m:rPr>
                      <a:rPr lang="en-AU" sz="1100" b="1" dirty="0">
                        <a:solidFill>
                          <a:schemeClr val="tx1"/>
                        </a:solidFill>
                      </a:rPr>
                      <m:t> </m:t>
                    </m:r>
                    <m:r>
                      <m:rPr>
                        <m:nor/>
                      </m:rPr>
                      <a:rPr lang="en-AU" sz="1100" b="1" dirty="0">
                        <a:solidFill>
                          <a:schemeClr val="tx1"/>
                        </a:solidFill>
                      </a:rPr>
                      <m:t>is</m:t>
                    </m:r>
                    <m:r>
                      <m:rPr>
                        <m:nor/>
                      </m:rPr>
                      <a:rPr lang="en-AU" sz="1100" b="1" dirty="0">
                        <a:solidFill>
                          <a:schemeClr val="tx1"/>
                        </a:solidFill>
                      </a:rPr>
                      <m:t> </m:t>
                    </m:r>
                    <m:r>
                      <a:rPr lang="en-AU" sz="1100" b="1" i="1" dirty="0">
                        <a:solidFill>
                          <a:srgbClr val="00B050"/>
                        </a:solidFill>
                        <a:latin typeface="Cambria Math" panose="02040503050406030204" pitchFamily="18" charset="0"/>
                      </a:rPr>
                      <m:t>𝒊</m:t>
                    </m:r>
                    <m:r>
                      <a:rPr lang="en-AU" sz="1100" b="1" i="1" dirty="0">
                        <a:solidFill>
                          <a:srgbClr val="00B050"/>
                        </a:solidFill>
                        <a:latin typeface="Cambria Math" panose="02040503050406030204" pitchFamily="18" charset="0"/>
                      </a:rPr>
                      <m:t>@ℓ</m:t>
                    </m:r>
                    <m:r>
                      <a:rPr lang="en-US" altLang="zh-CN" sz="1100" b="1" i="1" baseline="-25000">
                        <a:solidFill>
                          <a:srgbClr val="00B050"/>
                        </a:solidFill>
                        <a:latin typeface="Cambria Math" panose="02040503050406030204" pitchFamily="18" charset="0"/>
                        <a:ea typeface="Cambria Math" panose="02040503050406030204" pitchFamily="18" charset="0"/>
                        <a:cs typeface="Arial"/>
                      </a:rPr>
                      <m:t>𝟖</m:t>
                    </m:r>
                  </m:oMath>
                </a14:m>
                <a:r>
                  <a:rPr lang="en-US" sz="1100" b="1" dirty="0">
                    <a:solidFill>
                      <a:schemeClr val="tx1"/>
                    </a:solidFill>
                  </a:rPr>
                  <a:t> , and spurious cycle is removed.</a:t>
                </a:r>
              </a:p>
            </p:txBody>
          </p:sp>
        </mc:Choice>
        <mc:Fallback xmlns="">
          <p:sp>
            <p:nvSpPr>
              <p:cNvPr id="21" name="TextBox 20">
                <a:extLst>
                  <a:ext uri="{FF2B5EF4-FFF2-40B4-BE49-F238E27FC236}">
                    <a16:creationId xmlns:a16="http://schemas.microsoft.com/office/drawing/2014/main" id="{303ABDFF-9707-1B0A-762C-B46D27CF8268}"/>
                  </a:ext>
                </a:extLst>
              </p:cNvPr>
              <p:cNvSpPr txBox="1">
                <a:spLocks noRot="1" noChangeAspect="1" noMove="1" noResize="1" noEditPoints="1" noAdjustHandles="1" noChangeArrowheads="1" noChangeShapeType="1" noTextEdit="1"/>
              </p:cNvSpPr>
              <p:nvPr/>
            </p:nvSpPr>
            <p:spPr>
              <a:xfrm>
                <a:off x="250281" y="796552"/>
                <a:ext cx="5036094" cy="261610"/>
              </a:xfrm>
              <a:prstGeom prst="rect">
                <a:avLst/>
              </a:prstGeom>
              <a:blipFill>
                <a:blip r:embed="rId8"/>
                <a:stretch>
                  <a:fillRect b="-13636"/>
                </a:stretch>
              </a:blipFill>
            </p:spPr>
            <p:txBody>
              <a:bodyPr/>
              <a:lstStyle/>
              <a:p>
                <a:r>
                  <a:rPr lang="en-US">
                    <a:noFill/>
                  </a:rPr>
                  <a:t> </a:t>
                </a:r>
              </a:p>
            </p:txBody>
          </p:sp>
        </mc:Fallback>
      </mc:AlternateContent>
      <p:sp>
        <p:nvSpPr>
          <p:cNvPr id="22" name="Slide Number Placeholder 21">
            <a:extLst>
              <a:ext uri="{FF2B5EF4-FFF2-40B4-BE49-F238E27FC236}">
                <a16:creationId xmlns:a16="http://schemas.microsoft.com/office/drawing/2014/main" id="{825803D5-AE61-1147-7C53-AE792B566BF3}"/>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7</a:t>
            </a:fld>
            <a:endParaRPr lang="en-AU"/>
          </a:p>
        </p:txBody>
      </p:sp>
    </p:spTree>
    <p:extLst>
      <p:ext uri="{BB962C8B-B14F-4D97-AF65-F5344CB8AC3E}">
        <p14:creationId xmlns:p14="http://schemas.microsoft.com/office/powerpoint/2010/main" val="171811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nodeType="clickEffect">
                                  <p:stCondLst>
                                    <p:cond delay="0"/>
                                  </p:stCondLst>
                                  <p:childTnLst>
                                    <p:animEffect transition="out" filter="blinds(horizontal)">
                                      <p:cBhvr>
                                        <p:cTn id="12" dur="10"/>
                                        <p:tgtEl>
                                          <p:spTgt spid="6"/>
                                        </p:tgtEl>
                                      </p:cBhvr>
                                    </p:animEffect>
                                    <p:set>
                                      <p:cBhvr>
                                        <p:cTn id="13" dur="1" fill="hold">
                                          <p:stCondLst>
                                            <p:cond delay="9"/>
                                          </p:stCondLst>
                                        </p:cTn>
                                        <p:tgtEl>
                                          <p:spTgt spid="6"/>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09B3B-EEE2-49EA-A2D9-EE01250495C9}"/>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E50747D-452C-1160-A425-45FF7C6A5B8C}"/>
              </a:ext>
            </a:extLst>
          </p:cNvPr>
          <p:cNvPicPr>
            <a:picLocks noChangeAspect="1"/>
          </p:cNvPicPr>
          <p:nvPr/>
        </p:nvPicPr>
        <p:blipFill>
          <a:blip r:embed="rId3"/>
          <a:stretch>
            <a:fillRect/>
          </a:stretch>
        </p:blipFill>
        <p:spPr>
          <a:xfrm>
            <a:off x="1139687" y="1513613"/>
            <a:ext cx="3039729" cy="1519865"/>
          </a:xfrm>
          <a:prstGeom prst="rect">
            <a:avLst/>
          </a:prstGeom>
          <a:solidFill>
            <a:schemeClr val="bg1"/>
          </a:solidFill>
        </p:spPr>
      </p:pic>
      <p:sp>
        <p:nvSpPr>
          <p:cNvPr id="3" name="object 3">
            <a:extLst>
              <a:ext uri="{FF2B5EF4-FFF2-40B4-BE49-F238E27FC236}">
                <a16:creationId xmlns:a16="http://schemas.microsoft.com/office/drawing/2014/main" id="{3A611679-B02C-92C4-D525-D760598AC1E6}"/>
              </a:ext>
            </a:extLst>
          </p:cNvPr>
          <p:cNvSpPr txBox="1">
            <a:spLocks noGrp="1"/>
          </p:cNvSpPr>
          <p:nvPr>
            <p:ph type="title"/>
          </p:nvPr>
        </p:nvSpPr>
        <p:spPr>
          <a:xfrm>
            <a:off x="321167" y="-872"/>
            <a:ext cx="5532608" cy="232756"/>
          </a:xfrm>
          <a:prstGeom prst="rect">
            <a:avLst/>
          </a:prstGeom>
        </p:spPr>
        <p:txBody>
          <a:bodyPr vert="horz" wrap="square" lIns="0" tIns="17145" rIns="0" bIns="0" rtlCol="0">
            <a:spAutoFit/>
          </a:bodyPr>
          <a:lstStyle/>
          <a:p>
            <a:pPr marL="12700">
              <a:spcBef>
                <a:spcPts val="135"/>
              </a:spcBef>
            </a:pPr>
            <a:r>
              <a:rPr lang="en-US" altLang="zh-CN" spc="-10" dirty="0"/>
              <a:t>Implementation:</a:t>
            </a:r>
            <a:r>
              <a:rPr lang="zh-CN" altLang="en-US" spc="-10" dirty="0"/>
              <a:t> </a:t>
            </a:r>
            <a:r>
              <a:rPr lang="en-AU" altLang="zh-CN" spc="-10" dirty="0"/>
              <a:t>Widening variables identification on MVFG</a:t>
            </a:r>
            <a:endParaRPr spc="-3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1A208FD-1A12-AB78-9BA7-D9AE609B5DCA}"/>
                  </a:ext>
                </a:extLst>
              </p:cNvPr>
              <p:cNvSpPr txBox="1"/>
              <p:nvPr/>
            </p:nvSpPr>
            <p:spPr>
              <a:xfrm>
                <a:off x="293186" y="633043"/>
                <a:ext cx="5492164" cy="461665"/>
              </a:xfrm>
              <a:prstGeom prst="rect">
                <a:avLst/>
              </a:prstGeom>
              <a:noFill/>
            </p:spPr>
            <p:txBody>
              <a:bodyPr wrap="square">
                <a:spAutoFit/>
              </a:bodyPr>
              <a:lstStyle/>
              <a:p>
                <a:pPr>
                  <a:buNone/>
                </a:pPr>
                <a:r>
                  <a:rPr lang="en-AU" sz="1200" b="1" dirty="0"/>
                  <a:t>Method:</a:t>
                </a:r>
                <a:r>
                  <a:rPr lang="en-AU" sz="1200" dirty="0"/>
                  <a:t> Align CFG execution order with intra/inter-procedural value-flow deps; pick the </a:t>
                </a:r>
                <a:r>
                  <a:rPr lang="en-AU" sz="1200" b="1" dirty="0"/>
                  <a:t>earliest definition</a:t>
                </a:r>
                <a:r>
                  <a:rPr lang="en-AU" sz="1200" dirty="0"/>
                  <a:t> on each value-flow cycle (e.g., x@</a:t>
                </a:r>
                <a14:m>
                  <m:oMath xmlns:m="http://schemas.openxmlformats.org/officeDocument/2006/math">
                    <m:r>
                      <a:rPr lang="en-AU" sz="1200" i="1">
                        <a:latin typeface="Cambria Math" panose="02040503050406030204" pitchFamily="18" charset="0"/>
                        <a:ea typeface="Cambria Math" panose="02040503050406030204" pitchFamily="18" charset="0"/>
                        <a:cs typeface="Arial"/>
                      </a:rPr>
                      <m:t>ℓ</m:t>
                    </m:r>
                    <m:r>
                      <a:rPr lang="en-US" altLang="zh-CN" sz="1200" i="1" baseline="-25000">
                        <a:latin typeface="Cambria Math" panose="02040503050406030204" pitchFamily="18" charset="0"/>
                        <a:ea typeface="Cambria Math" panose="02040503050406030204" pitchFamily="18" charset="0"/>
                        <a:cs typeface="Arial"/>
                      </a:rPr>
                      <m:t>4</m:t>
                    </m:r>
                  </m:oMath>
                </a14:m>
                <a:r>
                  <a:rPr lang="en-AU" sz="1200" dirty="0"/>
                  <a:t>).</a:t>
                </a:r>
              </a:p>
            </p:txBody>
          </p:sp>
        </mc:Choice>
        <mc:Fallback xmlns="">
          <p:sp>
            <p:nvSpPr>
              <p:cNvPr id="19" name="TextBox 18">
                <a:extLst>
                  <a:ext uri="{FF2B5EF4-FFF2-40B4-BE49-F238E27FC236}">
                    <a16:creationId xmlns:a16="http://schemas.microsoft.com/office/drawing/2014/main" id="{31A208FD-1A12-AB78-9BA7-D9AE609B5DCA}"/>
                  </a:ext>
                </a:extLst>
              </p:cNvPr>
              <p:cNvSpPr txBox="1">
                <a:spLocks noRot="1" noChangeAspect="1" noMove="1" noResize="1" noEditPoints="1" noAdjustHandles="1" noChangeArrowheads="1" noChangeShapeType="1" noTextEdit="1"/>
              </p:cNvSpPr>
              <p:nvPr/>
            </p:nvSpPr>
            <p:spPr>
              <a:xfrm>
                <a:off x="293186" y="633043"/>
                <a:ext cx="5492164" cy="461665"/>
              </a:xfrm>
              <a:prstGeom prst="rect">
                <a:avLst/>
              </a:prstGeom>
              <a:blipFill>
                <a:blip r:embed="rId4"/>
                <a:stretch>
                  <a:fillRect b="-7895"/>
                </a:stretch>
              </a:blipFill>
            </p:spPr>
            <p:txBody>
              <a:bodyPr/>
              <a:lstStyle/>
              <a:p>
                <a:r>
                  <a:rPr lang="en-US">
                    <a:noFill/>
                  </a:rPr>
                  <a:t> </a:t>
                </a:r>
              </a:p>
            </p:txBody>
          </p:sp>
        </mc:Fallback>
      </mc:AlternateContent>
      <p:sp>
        <p:nvSpPr>
          <p:cNvPr id="20" name="Slide Number Placeholder 19">
            <a:extLst>
              <a:ext uri="{FF2B5EF4-FFF2-40B4-BE49-F238E27FC236}">
                <a16:creationId xmlns:a16="http://schemas.microsoft.com/office/drawing/2014/main" id="{A7170DEA-81C8-7897-E2D7-EAA3F5954DAD}"/>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8</a:t>
            </a:fld>
            <a:endParaRPr lang="en-AU"/>
          </a:p>
        </p:txBody>
      </p:sp>
      <p:pic>
        <p:nvPicPr>
          <p:cNvPr id="25" name="Picture 24">
            <a:extLst>
              <a:ext uri="{FF2B5EF4-FFF2-40B4-BE49-F238E27FC236}">
                <a16:creationId xmlns:a16="http://schemas.microsoft.com/office/drawing/2014/main" id="{23454870-9292-4E9D-5BDA-06F476D3469B}"/>
              </a:ext>
            </a:extLst>
          </p:cNvPr>
          <p:cNvPicPr>
            <a:picLocks noChangeAspect="1"/>
          </p:cNvPicPr>
          <p:nvPr/>
        </p:nvPicPr>
        <p:blipFill>
          <a:blip r:embed="rId5"/>
          <a:stretch>
            <a:fillRect/>
          </a:stretch>
        </p:blipFill>
        <p:spPr>
          <a:xfrm>
            <a:off x="4170947" y="1449108"/>
            <a:ext cx="1415225" cy="1593439"/>
          </a:xfrm>
          <a:prstGeom prst="rect">
            <a:avLst/>
          </a:prstGeom>
        </p:spPr>
      </p:pic>
      <p:pic>
        <p:nvPicPr>
          <p:cNvPr id="4" name="Picture 3">
            <a:extLst>
              <a:ext uri="{FF2B5EF4-FFF2-40B4-BE49-F238E27FC236}">
                <a16:creationId xmlns:a16="http://schemas.microsoft.com/office/drawing/2014/main" id="{C3F7722C-77F7-4A27-A9A7-0AD37A9A0655}"/>
              </a:ext>
            </a:extLst>
          </p:cNvPr>
          <p:cNvPicPr>
            <a:picLocks noChangeAspect="1"/>
          </p:cNvPicPr>
          <p:nvPr/>
        </p:nvPicPr>
        <p:blipFill>
          <a:blip r:embed="rId6"/>
          <a:stretch>
            <a:fillRect/>
          </a:stretch>
        </p:blipFill>
        <p:spPr>
          <a:xfrm>
            <a:off x="1534409" y="1457229"/>
            <a:ext cx="3218566" cy="1675874"/>
          </a:xfrm>
          <a:prstGeom prst="rect">
            <a:avLst/>
          </a:prstGeom>
          <a:solidFill>
            <a:schemeClr val="bg1"/>
          </a:solidFill>
        </p:spPr>
      </p:pic>
      <p:sp>
        <p:nvSpPr>
          <p:cNvPr id="6" name="TextBox 5">
            <a:extLst>
              <a:ext uri="{FF2B5EF4-FFF2-40B4-BE49-F238E27FC236}">
                <a16:creationId xmlns:a16="http://schemas.microsoft.com/office/drawing/2014/main" id="{6FE468C0-35DD-14E4-4CEB-E8689968B047}"/>
              </a:ext>
            </a:extLst>
          </p:cNvPr>
          <p:cNvSpPr txBox="1"/>
          <p:nvPr/>
        </p:nvSpPr>
        <p:spPr>
          <a:xfrm>
            <a:off x="293186" y="1060216"/>
            <a:ext cx="5560589" cy="461665"/>
          </a:xfrm>
          <a:prstGeom prst="rect">
            <a:avLst/>
          </a:prstGeom>
          <a:noFill/>
        </p:spPr>
        <p:txBody>
          <a:bodyPr wrap="square" rtlCol="0">
            <a:spAutoFit/>
          </a:bodyPr>
          <a:lstStyle/>
          <a:p>
            <a:r>
              <a:rPr lang="en-AU" sz="1200" b="1" dirty="0"/>
              <a:t>Widening Var Size</a:t>
            </a:r>
            <a:r>
              <a:rPr lang="en-AU" sz="1200" dirty="0"/>
              <a:t>: State wise (IKOS, Clam) &gt; Sparse Abs Interpret(CSA) &gt; Selective Widen(</a:t>
            </a:r>
            <a:r>
              <a:rPr lang="en-AU" sz="1200" dirty="0" err="1"/>
              <a:t>SiftAbs</a:t>
            </a:r>
            <a:r>
              <a:rPr lang="en-AU" sz="1200" dirty="0"/>
              <a:t>)</a:t>
            </a:r>
            <a:endParaRPr lang="en-US" sz="1200" dirty="0"/>
          </a:p>
        </p:txBody>
      </p:sp>
      <p:pic>
        <p:nvPicPr>
          <p:cNvPr id="15" name="Picture 14">
            <a:extLst>
              <a:ext uri="{FF2B5EF4-FFF2-40B4-BE49-F238E27FC236}">
                <a16:creationId xmlns:a16="http://schemas.microsoft.com/office/drawing/2014/main" id="{DEEC1007-261D-8A1A-9B1E-996809E802C3}"/>
              </a:ext>
            </a:extLst>
          </p:cNvPr>
          <p:cNvPicPr>
            <a:picLocks noChangeAspect="1"/>
          </p:cNvPicPr>
          <p:nvPr/>
        </p:nvPicPr>
        <p:blipFill>
          <a:blip r:embed="rId7"/>
          <a:srcRect l="1873" t="1786" r="729" b="14183"/>
          <a:stretch>
            <a:fillRect/>
          </a:stretch>
        </p:blipFill>
        <p:spPr>
          <a:xfrm>
            <a:off x="2466975" y="1583873"/>
            <a:ext cx="1702187" cy="1289502"/>
          </a:xfrm>
          <a:prstGeom prst="rect">
            <a:avLst/>
          </a:prstGeom>
          <a:solidFill>
            <a:schemeClr val="bg1"/>
          </a:solidFill>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5664DD3-2250-796F-B80B-B134963FABC3}"/>
                  </a:ext>
                </a:extLst>
              </p:cNvPr>
              <p:cNvSpPr txBox="1"/>
              <p:nvPr/>
            </p:nvSpPr>
            <p:spPr>
              <a:xfrm>
                <a:off x="293186" y="362873"/>
                <a:ext cx="5859964" cy="276999"/>
              </a:xfrm>
              <a:prstGeom prst="rect">
                <a:avLst/>
              </a:prstGeom>
              <a:noFill/>
            </p:spPr>
            <p:txBody>
              <a:bodyPr wrap="square">
                <a:spAutoFit/>
              </a:bodyPr>
              <a:lstStyle/>
              <a:p>
                <a:pPr>
                  <a:buNone/>
                </a:pPr>
                <a:r>
                  <a:rPr lang="en-AU" sz="1200" dirty="0"/>
                  <a:t>CFG Weak Topological Order(WTO)[1]:</a:t>
                </a:r>
                <a:r>
                  <a:rPr lang="en-AU" sz="1200" dirty="0">
                    <a:ea typeface="Cambria Math" panose="02040503050406030204" pitchFamily="18" charset="0"/>
                    <a:cs typeface="Arial"/>
                  </a:rPr>
                  <a:t> </a:t>
                </a:r>
                <a14:m>
                  <m:oMath xmlns:m="http://schemas.openxmlformats.org/officeDocument/2006/math">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1</m:t>
                    </m:r>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2</m:t>
                    </m:r>
                    <m:r>
                      <m:rPr>
                        <m:nor/>
                      </m:rPr>
                      <a:rPr lang="en-AU" sz="1200" dirty="0"/>
                      <m:t>(</m:t>
                    </m:r>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3</m:t>
                    </m:r>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4</m:t>
                    </m:r>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5</m:t>
                    </m:r>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6</m:t>
                    </m:r>
                    <m:r>
                      <m:rPr>
                        <m:nor/>
                      </m:rPr>
                      <a:rPr lang="en-AU" sz="1200" dirty="0"/>
                      <m:t>)</m:t>
                    </m:r>
                  </m:oMath>
                </a14:m>
                <a:r>
                  <a:rPr lang="en-AU" sz="1200" dirty="0"/>
                  <a:t> , loop header </a:t>
                </a:r>
                <a14:m>
                  <m:oMath xmlns:m="http://schemas.openxmlformats.org/officeDocument/2006/math">
                    <m:r>
                      <a:rPr lang="en-AU" sz="1200" i="1">
                        <a:latin typeface="Cambria Math" panose="02040503050406030204" pitchFamily="18" charset="0"/>
                        <a:ea typeface="Cambria Math" panose="02040503050406030204" pitchFamily="18" charset="0"/>
                        <a:cs typeface="Arial"/>
                      </a:rPr>
                      <m:t>ℓ</m:t>
                    </m:r>
                    <m:r>
                      <a:rPr lang="en-AU" sz="1200" i="1" baseline="-25000">
                        <a:latin typeface="Cambria Math" panose="02040503050406030204" pitchFamily="18" charset="0"/>
                        <a:ea typeface="Cambria Math" panose="02040503050406030204" pitchFamily="18" charset="0"/>
                        <a:cs typeface="Arial"/>
                      </a:rPr>
                      <m:t>3</m:t>
                    </m:r>
                  </m:oMath>
                </a14:m>
                <a:endParaRPr lang="en-AU" sz="1200" dirty="0"/>
              </a:p>
            </p:txBody>
          </p:sp>
        </mc:Choice>
        <mc:Fallback xmlns="">
          <p:sp>
            <p:nvSpPr>
              <p:cNvPr id="21" name="TextBox 20">
                <a:extLst>
                  <a:ext uri="{FF2B5EF4-FFF2-40B4-BE49-F238E27FC236}">
                    <a16:creationId xmlns:a16="http://schemas.microsoft.com/office/drawing/2014/main" id="{25664DD3-2250-796F-B80B-B134963FABC3}"/>
                  </a:ext>
                </a:extLst>
              </p:cNvPr>
              <p:cNvSpPr txBox="1">
                <a:spLocks noRot="1" noChangeAspect="1" noMove="1" noResize="1" noEditPoints="1" noAdjustHandles="1" noChangeArrowheads="1" noChangeShapeType="1" noTextEdit="1"/>
              </p:cNvSpPr>
              <p:nvPr/>
            </p:nvSpPr>
            <p:spPr>
              <a:xfrm>
                <a:off x="293186" y="362873"/>
                <a:ext cx="5859964" cy="276999"/>
              </a:xfrm>
              <a:prstGeom prst="rect">
                <a:avLst/>
              </a:prstGeom>
              <a:blipFill>
                <a:blip r:embed="rId8"/>
                <a:stretch>
                  <a:fillRect b="-1739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8A9B243-1654-EADC-9DA1-1B6D4EB34715}"/>
              </a:ext>
            </a:extLst>
          </p:cNvPr>
          <p:cNvSpPr txBox="1"/>
          <p:nvPr/>
        </p:nvSpPr>
        <p:spPr>
          <a:xfrm>
            <a:off x="200508" y="3134833"/>
            <a:ext cx="4357383" cy="246221"/>
          </a:xfrm>
          <a:prstGeom prst="rect">
            <a:avLst/>
          </a:prstGeom>
          <a:noFill/>
        </p:spPr>
        <p:txBody>
          <a:bodyPr wrap="square">
            <a:spAutoFit/>
          </a:bodyPr>
          <a:lstStyle/>
          <a:p>
            <a:r>
              <a:rPr lang="en-US" sz="500" i="1" dirty="0"/>
              <a:t>[1] François </a:t>
            </a:r>
            <a:r>
              <a:rPr lang="en-US" sz="500" i="1" dirty="0" err="1"/>
              <a:t>Bourdoncle</a:t>
            </a:r>
            <a:r>
              <a:rPr lang="en-US" sz="500" i="1" dirty="0"/>
              <a:t>. 1993. Efficient chaotic iteration strategies with widenings. In Formal Methods in Programming and Their</a:t>
            </a:r>
          </a:p>
          <a:p>
            <a:r>
              <a:rPr lang="en-US" sz="500" i="1" dirty="0"/>
              <a:t>Applications, Dines Bjørner, Manfred Broy, and Igor V. </a:t>
            </a:r>
            <a:r>
              <a:rPr lang="en-US" sz="500" i="1" dirty="0" err="1"/>
              <a:t>Pottosin</a:t>
            </a:r>
            <a:r>
              <a:rPr lang="en-US" sz="500" i="1" dirty="0"/>
              <a:t> (Eds.). Springer Berlin Heidelberg, Berlin, Heidelberg, 128–141.</a:t>
            </a:r>
          </a:p>
        </p:txBody>
      </p:sp>
    </p:spTree>
    <p:extLst>
      <p:ext uri="{BB962C8B-B14F-4D97-AF65-F5344CB8AC3E}">
        <p14:creationId xmlns:p14="http://schemas.microsoft.com/office/powerpoint/2010/main" val="385151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8"/>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A309-683F-6786-316E-377825824BB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BFCA8D2-A239-3512-1B24-DC80E6DC9AE8}"/>
              </a:ext>
            </a:extLst>
          </p:cNvPr>
          <p:cNvSpPr txBox="1">
            <a:spLocks noGrp="1"/>
          </p:cNvSpPr>
          <p:nvPr>
            <p:ph type="title"/>
          </p:nvPr>
        </p:nvSpPr>
        <p:spPr>
          <a:xfrm>
            <a:off x="333375" y="0"/>
            <a:ext cx="4283888" cy="232756"/>
          </a:xfrm>
          <a:prstGeom prst="rect">
            <a:avLst/>
          </a:prstGeom>
        </p:spPr>
        <p:txBody>
          <a:bodyPr vert="horz" wrap="square" lIns="0" tIns="17145" rIns="0" bIns="0" rtlCol="0">
            <a:spAutoFit/>
          </a:bodyPr>
          <a:lstStyle/>
          <a:p>
            <a:pPr marL="12700">
              <a:spcBef>
                <a:spcPts val="135"/>
              </a:spcBef>
            </a:pPr>
            <a:r>
              <a:rPr lang="en-AU" spc="-10" dirty="0"/>
              <a:t>Evaluation</a:t>
            </a:r>
            <a:endParaRPr spc="-30" dirty="0"/>
          </a:p>
        </p:txBody>
      </p:sp>
      <p:pic>
        <p:nvPicPr>
          <p:cNvPr id="6" name="Picture 5">
            <a:extLst>
              <a:ext uri="{FF2B5EF4-FFF2-40B4-BE49-F238E27FC236}">
                <a16:creationId xmlns:a16="http://schemas.microsoft.com/office/drawing/2014/main" id="{EDB5B82C-8ADE-A2A0-2758-70BF74B3DE13}"/>
              </a:ext>
            </a:extLst>
          </p:cNvPr>
          <p:cNvPicPr>
            <a:picLocks noChangeAspect="1"/>
          </p:cNvPicPr>
          <p:nvPr/>
        </p:nvPicPr>
        <p:blipFill>
          <a:blip r:embed="rId3"/>
          <a:stretch>
            <a:fillRect/>
          </a:stretch>
        </p:blipFill>
        <p:spPr>
          <a:xfrm>
            <a:off x="629119" y="968751"/>
            <a:ext cx="4750601" cy="1663568"/>
          </a:xfrm>
          <a:prstGeom prst="rect">
            <a:avLst/>
          </a:prstGeom>
        </p:spPr>
      </p:pic>
      <p:sp>
        <p:nvSpPr>
          <p:cNvPr id="12" name="TextBox 11">
            <a:extLst>
              <a:ext uri="{FF2B5EF4-FFF2-40B4-BE49-F238E27FC236}">
                <a16:creationId xmlns:a16="http://schemas.microsoft.com/office/drawing/2014/main" id="{C9A2BE75-2E52-646B-C0F0-24D1DD333CCF}"/>
              </a:ext>
            </a:extLst>
          </p:cNvPr>
          <p:cNvSpPr txBox="1"/>
          <p:nvPr/>
        </p:nvSpPr>
        <p:spPr>
          <a:xfrm>
            <a:off x="323529" y="348761"/>
            <a:ext cx="5592144" cy="646331"/>
          </a:xfrm>
          <a:prstGeom prst="rect">
            <a:avLst/>
          </a:prstGeom>
          <a:noFill/>
        </p:spPr>
        <p:txBody>
          <a:bodyPr wrap="square">
            <a:spAutoFit/>
          </a:bodyPr>
          <a:lstStyle/>
          <a:p>
            <a:pPr marL="12700">
              <a:spcBef>
                <a:spcPts val="285"/>
              </a:spcBef>
            </a:pPr>
            <a:r>
              <a:rPr lang="en-AU" sz="1200" b="1" spc="-10" dirty="0">
                <a:latin typeface="Arial"/>
                <a:cs typeface="Arial"/>
              </a:rPr>
              <a:t>RQ</a:t>
            </a:r>
            <a:r>
              <a:rPr lang="en-US" altLang="zh-CN" sz="1200" b="1" spc="-10" dirty="0">
                <a:latin typeface="Arial"/>
                <a:cs typeface="Arial"/>
              </a:rPr>
              <a:t>1 </a:t>
            </a:r>
            <a:r>
              <a:rPr lang="en-AU" altLang="zh-CN" sz="1200" b="1" spc="-10" dirty="0">
                <a:latin typeface="Arial"/>
                <a:cs typeface="Arial"/>
              </a:rPr>
              <a:t>Scalability</a:t>
            </a:r>
            <a:r>
              <a:rPr lang="en-AU" altLang="zh-CN" sz="1200" spc="-10" dirty="0">
                <a:latin typeface="Arial"/>
                <a:cs typeface="Arial"/>
              </a:rPr>
              <a:t>: Does our approach improve scalability compared</a:t>
            </a:r>
            <a:r>
              <a:rPr lang="zh-CN" altLang="en-US" sz="1200" spc="-10" dirty="0">
                <a:latin typeface="Arial"/>
                <a:cs typeface="Arial"/>
              </a:rPr>
              <a:t> </a:t>
            </a:r>
            <a:r>
              <a:rPr lang="en-AU" altLang="zh-CN" sz="1200" spc="-10" dirty="0">
                <a:latin typeface="Arial"/>
                <a:cs typeface="Arial"/>
              </a:rPr>
              <a:t>to traditional methods? We measure analysis time and accuracy</a:t>
            </a:r>
            <a:r>
              <a:rPr lang="zh-CN" altLang="en-US" sz="1200" spc="-10" dirty="0">
                <a:latin typeface="Arial"/>
                <a:cs typeface="Arial"/>
              </a:rPr>
              <a:t> </a:t>
            </a:r>
            <a:r>
              <a:rPr lang="en-AU" altLang="zh-CN" sz="1200" spc="-10" dirty="0">
                <a:latin typeface="Arial"/>
                <a:cs typeface="Arial"/>
              </a:rPr>
              <a:t>across programs of varying sizes.</a:t>
            </a:r>
          </a:p>
        </p:txBody>
      </p:sp>
      <p:sp>
        <p:nvSpPr>
          <p:cNvPr id="13" name="TextBox 12">
            <a:extLst>
              <a:ext uri="{FF2B5EF4-FFF2-40B4-BE49-F238E27FC236}">
                <a16:creationId xmlns:a16="http://schemas.microsoft.com/office/drawing/2014/main" id="{CC49C98C-99A8-F865-9736-115F3AF77013}"/>
              </a:ext>
            </a:extLst>
          </p:cNvPr>
          <p:cNvSpPr txBox="1"/>
          <p:nvPr/>
        </p:nvSpPr>
        <p:spPr>
          <a:xfrm>
            <a:off x="333375" y="2719123"/>
            <a:ext cx="5361780" cy="553998"/>
          </a:xfrm>
          <a:prstGeom prst="rect">
            <a:avLst/>
          </a:prstGeom>
          <a:noFill/>
        </p:spPr>
        <p:txBody>
          <a:bodyPr wrap="square" rtlCol="0">
            <a:spAutoFit/>
          </a:bodyPr>
          <a:lstStyle/>
          <a:p>
            <a:r>
              <a:rPr lang="en-AU" sz="1000" dirty="0">
                <a:solidFill>
                  <a:srgbClr val="3333B3"/>
                </a:solidFill>
                <a:latin typeface="Helvetica" pitchFamily="2" charset="0"/>
              </a:rPr>
              <a:t>Table: </a:t>
            </a:r>
            <a:r>
              <a:rPr lang="en-AU" sz="1000" dirty="0"/>
              <a:t>Comparison of tools on open-source projects. The table includes</a:t>
            </a:r>
            <a:r>
              <a:rPr lang="zh-CN" altLang="en-US" sz="1000" dirty="0"/>
              <a:t> </a:t>
            </a:r>
            <a:r>
              <a:rPr lang="en-AU" sz="1000" dirty="0"/>
              <a:t>the number of true positives (#TP), false positives (#FP), and analysis</a:t>
            </a:r>
            <a:r>
              <a:rPr lang="zh-CN" altLang="en-US" sz="1000" dirty="0"/>
              <a:t> </a:t>
            </a:r>
            <a:r>
              <a:rPr lang="en-AU" sz="1000" dirty="0"/>
              <a:t>time in seconds. The - symbol indicates that the tool did not complete</a:t>
            </a:r>
            <a:r>
              <a:rPr lang="zh-CN" altLang="en-US" sz="1000" dirty="0"/>
              <a:t> </a:t>
            </a:r>
            <a:r>
              <a:rPr lang="en-AU" sz="1000" dirty="0"/>
              <a:t>the analysis within the time limit of 4 hours.</a:t>
            </a:r>
          </a:p>
        </p:txBody>
      </p:sp>
      <p:sp>
        <p:nvSpPr>
          <p:cNvPr id="15" name="Slide Number Placeholder 14">
            <a:extLst>
              <a:ext uri="{FF2B5EF4-FFF2-40B4-BE49-F238E27FC236}">
                <a16:creationId xmlns:a16="http://schemas.microsoft.com/office/drawing/2014/main" id="{2CD3A1B2-20EF-C2D9-90FD-8B6CED3724AE}"/>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9</a:t>
            </a:fld>
            <a:endParaRPr lang="en-AU"/>
          </a:p>
        </p:txBody>
      </p:sp>
      <p:cxnSp>
        <p:nvCxnSpPr>
          <p:cNvPr id="16" name="Straight Arrow Connector 15">
            <a:extLst>
              <a:ext uri="{FF2B5EF4-FFF2-40B4-BE49-F238E27FC236}">
                <a16:creationId xmlns:a16="http://schemas.microsoft.com/office/drawing/2014/main" id="{31FBD55E-221C-9689-7F36-B29DECE702E1}"/>
              </a:ext>
            </a:extLst>
          </p:cNvPr>
          <p:cNvCxnSpPr>
            <a:cxnSpLocks/>
            <a:stCxn id="25" idx="2"/>
          </p:cNvCxnSpPr>
          <p:nvPr/>
        </p:nvCxnSpPr>
        <p:spPr>
          <a:xfrm flipH="1">
            <a:off x="4230342" y="1669414"/>
            <a:ext cx="1480516" cy="758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422D148-3222-4DFC-31C1-710C0B768455}"/>
              </a:ext>
            </a:extLst>
          </p:cNvPr>
          <p:cNvCxnSpPr>
            <a:cxnSpLocks/>
            <a:stCxn id="25" idx="2"/>
          </p:cNvCxnSpPr>
          <p:nvPr/>
        </p:nvCxnSpPr>
        <p:spPr>
          <a:xfrm flipH="1">
            <a:off x="4992341" y="1669414"/>
            <a:ext cx="718517" cy="758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636C432-2032-F807-8F69-1F5483CFC561}"/>
              </a:ext>
            </a:extLst>
          </p:cNvPr>
          <p:cNvSpPr txBox="1"/>
          <p:nvPr/>
        </p:nvSpPr>
        <p:spPr>
          <a:xfrm>
            <a:off x="5297141" y="1084639"/>
            <a:ext cx="827434" cy="584775"/>
          </a:xfrm>
          <a:prstGeom prst="rect">
            <a:avLst/>
          </a:prstGeom>
          <a:noFill/>
        </p:spPr>
        <p:txBody>
          <a:bodyPr wrap="square" rtlCol="0">
            <a:spAutoFit/>
          </a:bodyPr>
          <a:lstStyle/>
          <a:p>
            <a:r>
              <a:rPr lang="en-US" sz="800" dirty="0">
                <a:solidFill>
                  <a:srgbClr val="FF0000"/>
                </a:solidFill>
              </a:rPr>
              <a:t>Reduce 37% runtime due to selective widen</a:t>
            </a:r>
          </a:p>
        </p:txBody>
      </p:sp>
      <p:cxnSp>
        <p:nvCxnSpPr>
          <p:cNvPr id="26" name="Straight Arrow Connector 25">
            <a:extLst>
              <a:ext uri="{FF2B5EF4-FFF2-40B4-BE49-F238E27FC236}">
                <a16:creationId xmlns:a16="http://schemas.microsoft.com/office/drawing/2014/main" id="{0C6E1CAF-4B20-01C4-0137-4FEDCA3C7DE5}"/>
              </a:ext>
            </a:extLst>
          </p:cNvPr>
          <p:cNvCxnSpPr>
            <a:cxnSpLocks/>
          </p:cNvCxnSpPr>
          <p:nvPr/>
        </p:nvCxnSpPr>
        <p:spPr>
          <a:xfrm flipH="1">
            <a:off x="3609975" y="1039924"/>
            <a:ext cx="1051228" cy="1401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A3311F-EB28-A874-35B4-16DF43E18C85}"/>
              </a:ext>
            </a:extLst>
          </p:cNvPr>
          <p:cNvCxnSpPr>
            <a:cxnSpLocks/>
          </p:cNvCxnSpPr>
          <p:nvPr/>
        </p:nvCxnSpPr>
        <p:spPr>
          <a:xfrm flipH="1">
            <a:off x="4617263" y="1020945"/>
            <a:ext cx="43940" cy="1444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C62CC4D-E434-6EAC-66CD-DD1B9E64AFCC}"/>
              </a:ext>
            </a:extLst>
          </p:cNvPr>
          <p:cNvSpPr txBox="1"/>
          <p:nvPr/>
        </p:nvSpPr>
        <p:spPr>
          <a:xfrm>
            <a:off x="4313562" y="720930"/>
            <a:ext cx="1231727" cy="338554"/>
          </a:xfrm>
          <a:prstGeom prst="rect">
            <a:avLst/>
          </a:prstGeom>
          <a:noFill/>
        </p:spPr>
        <p:txBody>
          <a:bodyPr wrap="square" rtlCol="0">
            <a:spAutoFit/>
          </a:bodyPr>
          <a:lstStyle/>
          <a:p>
            <a:r>
              <a:rPr lang="en-US" sz="800" dirty="0">
                <a:solidFill>
                  <a:srgbClr val="FF0000"/>
                </a:solidFill>
              </a:rPr>
              <a:t>Preserve precision, same TP &amp; FP</a:t>
            </a:r>
          </a:p>
        </p:txBody>
      </p:sp>
      <p:sp>
        <p:nvSpPr>
          <p:cNvPr id="22" name="Rectangle 21">
            <a:extLst>
              <a:ext uri="{FF2B5EF4-FFF2-40B4-BE49-F238E27FC236}">
                <a16:creationId xmlns:a16="http://schemas.microsoft.com/office/drawing/2014/main" id="{F5B61F1F-1FB5-BBFC-BA80-35241BE4B241}"/>
              </a:ext>
            </a:extLst>
          </p:cNvPr>
          <p:cNvSpPr/>
          <p:nvPr/>
        </p:nvSpPr>
        <p:spPr>
          <a:xfrm>
            <a:off x="3942686" y="2427917"/>
            <a:ext cx="370876" cy="204402"/>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6A23A174-142C-B44A-725B-424B49D8E142}"/>
              </a:ext>
            </a:extLst>
          </p:cNvPr>
          <p:cNvSpPr/>
          <p:nvPr/>
        </p:nvSpPr>
        <p:spPr>
          <a:xfrm>
            <a:off x="4975257" y="2427917"/>
            <a:ext cx="370876" cy="204402"/>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7D2B845E-1E35-0DCF-950E-0B5725AD269B}"/>
              </a:ext>
            </a:extLst>
          </p:cNvPr>
          <p:cNvSpPr/>
          <p:nvPr/>
        </p:nvSpPr>
        <p:spPr>
          <a:xfrm>
            <a:off x="3295921" y="2427917"/>
            <a:ext cx="593571" cy="204402"/>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28" name="Rectangle 27">
            <a:extLst>
              <a:ext uri="{FF2B5EF4-FFF2-40B4-BE49-F238E27FC236}">
                <a16:creationId xmlns:a16="http://schemas.microsoft.com/office/drawing/2014/main" id="{EF33D9B4-A556-A116-9E19-B5BF3FEFF6D7}"/>
              </a:ext>
            </a:extLst>
          </p:cNvPr>
          <p:cNvSpPr/>
          <p:nvPr/>
        </p:nvSpPr>
        <p:spPr>
          <a:xfrm>
            <a:off x="4347624" y="2427917"/>
            <a:ext cx="593571" cy="204402"/>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8038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22"/>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3"/>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32" grpId="0"/>
      <p:bldP spid="22" grpId="0" animBg="1"/>
      <p:bldP spid="22" grpId="1" animBg="1"/>
      <p:bldP spid="23" grpId="0" animBg="1"/>
      <p:bldP spid="23" grpId="1" animBg="1"/>
      <p:bldP spid="24"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5CCE-FB0D-BA0A-30BB-F0162B8CACA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7BE67B9-C1AB-63A8-A8F1-3D57020202EC}"/>
              </a:ext>
            </a:extLst>
          </p:cNvPr>
          <p:cNvPicPr>
            <a:picLocks noChangeAspect="1"/>
          </p:cNvPicPr>
          <p:nvPr/>
        </p:nvPicPr>
        <p:blipFill>
          <a:blip r:embed="rId3"/>
          <a:stretch>
            <a:fillRect/>
          </a:stretch>
        </p:blipFill>
        <p:spPr>
          <a:xfrm>
            <a:off x="1248960" y="871752"/>
            <a:ext cx="3843722" cy="1023795"/>
          </a:xfrm>
          <a:prstGeom prst="rect">
            <a:avLst/>
          </a:prstGeom>
        </p:spPr>
      </p:pic>
      <p:sp>
        <p:nvSpPr>
          <p:cNvPr id="9" name="TextBox 8">
            <a:extLst>
              <a:ext uri="{FF2B5EF4-FFF2-40B4-BE49-F238E27FC236}">
                <a16:creationId xmlns:a16="http://schemas.microsoft.com/office/drawing/2014/main" id="{961823A7-29AD-7116-0A2B-EAF9B11FFF0F}"/>
              </a:ext>
            </a:extLst>
          </p:cNvPr>
          <p:cNvSpPr txBox="1"/>
          <p:nvPr/>
        </p:nvSpPr>
        <p:spPr>
          <a:xfrm>
            <a:off x="365859" y="369995"/>
            <a:ext cx="5377716" cy="461665"/>
          </a:xfrm>
          <a:prstGeom prst="rect">
            <a:avLst/>
          </a:prstGeom>
          <a:noFill/>
        </p:spPr>
        <p:txBody>
          <a:bodyPr wrap="square">
            <a:spAutoFit/>
          </a:bodyPr>
          <a:lstStyle/>
          <a:p>
            <a:r>
              <a:rPr lang="en-AU" sz="1200" b="1" spc="-10" dirty="0">
                <a:latin typeface="Arial"/>
                <a:cs typeface="Arial"/>
              </a:rPr>
              <a:t>RQ</a:t>
            </a:r>
            <a:r>
              <a:rPr lang="en-US" sz="1200" b="1" spc="-10" dirty="0">
                <a:latin typeface="Arial"/>
                <a:cs typeface="Arial"/>
              </a:rPr>
              <a:t>2</a:t>
            </a:r>
            <a:r>
              <a:rPr lang="en-US" altLang="zh-CN" sz="1200" b="1" spc="-10" dirty="0">
                <a:latin typeface="Arial"/>
                <a:cs typeface="Arial"/>
              </a:rPr>
              <a:t> </a:t>
            </a:r>
            <a:r>
              <a:rPr lang="en-AU" altLang="zh-CN" sz="1200" b="1" spc="-10" dirty="0">
                <a:latin typeface="Arial"/>
                <a:cs typeface="Arial"/>
              </a:rPr>
              <a:t>Effectiveness</a:t>
            </a:r>
            <a:r>
              <a:rPr lang="en-AU" altLang="zh-CN" sz="1200" spc="-10" dirty="0">
                <a:latin typeface="Arial"/>
                <a:cs typeface="Arial"/>
              </a:rPr>
              <a:t>: </a:t>
            </a:r>
            <a:r>
              <a:rPr lang="en-AU" sz="1200" dirty="0"/>
              <a:t>Does selective widening maintain or improve</a:t>
            </a:r>
            <a:r>
              <a:rPr lang="zh-CN" altLang="en-US" sz="1200" dirty="0"/>
              <a:t> </a:t>
            </a:r>
            <a:r>
              <a:rPr lang="en-AU" sz="1200" dirty="0"/>
              <a:t>recall and precision? We compare false positive and negative rates</a:t>
            </a:r>
            <a:r>
              <a:rPr lang="zh-CN" altLang="en-US" sz="1200" dirty="0"/>
              <a:t> </a:t>
            </a:r>
            <a:r>
              <a:rPr lang="en-AU" sz="1200" dirty="0"/>
              <a:t>with baselines.</a:t>
            </a:r>
          </a:p>
        </p:txBody>
      </p:sp>
      <p:sp>
        <p:nvSpPr>
          <p:cNvPr id="11" name="TextBox 10">
            <a:extLst>
              <a:ext uri="{FF2B5EF4-FFF2-40B4-BE49-F238E27FC236}">
                <a16:creationId xmlns:a16="http://schemas.microsoft.com/office/drawing/2014/main" id="{9DA531B5-D7D9-7873-A4EE-9059B6C1D927}"/>
              </a:ext>
            </a:extLst>
          </p:cNvPr>
          <p:cNvSpPr txBox="1"/>
          <p:nvPr/>
        </p:nvSpPr>
        <p:spPr>
          <a:xfrm>
            <a:off x="561975" y="1859050"/>
            <a:ext cx="5465803" cy="230832"/>
          </a:xfrm>
          <a:prstGeom prst="rect">
            <a:avLst/>
          </a:prstGeom>
          <a:noFill/>
        </p:spPr>
        <p:txBody>
          <a:bodyPr wrap="square">
            <a:spAutoFit/>
          </a:bodyPr>
          <a:lstStyle/>
          <a:p>
            <a:pPr>
              <a:buNone/>
            </a:pPr>
            <a:r>
              <a:rPr lang="en-AU" sz="900" dirty="0">
                <a:solidFill>
                  <a:srgbClr val="3333B3"/>
                </a:solidFill>
                <a:latin typeface="Helvetica" pitchFamily="2" charset="0"/>
              </a:rPr>
              <a:t>Table: </a:t>
            </a:r>
            <a:r>
              <a:rPr lang="en-AU" sz="900" dirty="0">
                <a:latin typeface="Helvetica" pitchFamily="2" charset="0"/>
              </a:rPr>
              <a:t>Comparison of tools using the NIST benchmark, with Recall and Precision in percentages (%).</a:t>
            </a:r>
          </a:p>
        </p:txBody>
      </p:sp>
      <p:pic>
        <p:nvPicPr>
          <p:cNvPr id="13" name="Picture 12">
            <a:extLst>
              <a:ext uri="{FF2B5EF4-FFF2-40B4-BE49-F238E27FC236}">
                <a16:creationId xmlns:a16="http://schemas.microsoft.com/office/drawing/2014/main" id="{5113CDAF-A75D-0E94-4A5A-36027CE93357}"/>
              </a:ext>
            </a:extLst>
          </p:cNvPr>
          <p:cNvPicPr>
            <a:picLocks noChangeAspect="1"/>
          </p:cNvPicPr>
          <p:nvPr/>
        </p:nvPicPr>
        <p:blipFill>
          <a:blip r:embed="rId4"/>
          <a:stretch>
            <a:fillRect/>
          </a:stretch>
        </p:blipFill>
        <p:spPr>
          <a:xfrm>
            <a:off x="985232" y="2020175"/>
            <a:ext cx="4180581" cy="1314708"/>
          </a:xfrm>
          <a:prstGeom prst="rect">
            <a:avLst/>
          </a:prstGeom>
        </p:spPr>
      </p:pic>
      <p:sp>
        <p:nvSpPr>
          <p:cNvPr id="15" name="Slide Number Placeholder 14">
            <a:extLst>
              <a:ext uri="{FF2B5EF4-FFF2-40B4-BE49-F238E27FC236}">
                <a16:creationId xmlns:a16="http://schemas.microsoft.com/office/drawing/2014/main" id="{179F4A52-B81C-1CC0-CAAB-A03B58877C7F}"/>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10</a:t>
            </a:fld>
            <a:endParaRPr lang="en-AU"/>
          </a:p>
        </p:txBody>
      </p:sp>
      <p:cxnSp>
        <p:nvCxnSpPr>
          <p:cNvPr id="16" name="Straight Arrow Connector 15">
            <a:extLst>
              <a:ext uri="{FF2B5EF4-FFF2-40B4-BE49-F238E27FC236}">
                <a16:creationId xmlns:a16="http://schemas.microsoft.com/office/drawing/2014/main" id="{59338059-06C5-63F5-2C67-001E2B11AFEF}"/>
              </a:ext>
            </a:extLst>
          </p:cNvPr>
          <p:cNvCxnSpPr>
            <a:cxnSpLocks/>
          </p:cNvCxnSpPr>
          <p:nvPr/>
        </p:nvCxnSpPr>
        <p:spPr>
          <a:xfrm flipH="1">
            <a:off x="4574989" y="927120"/>
            <a:ext cx="762000" cy="248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DDB7ED5-31D3-7A12-6248-EAF85BA0DE08}"/>
              </a:ext>
            </a:extLst>
          </p:cNvPr>
          <p:cNvCxnSpPr>
            <a:cxnSpLocks/>
          </p:cNvCxnSpPr>
          <p:nvPr/>
        </p:nvCxnSpPr>
        <p:spPr>
          <a:xfrm flipH="1">
            <a:off x="5010953" y="927124"/>
            <a:ext cx="326036" cy="402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B491963-C680-3864-72BC-DFD46B07A502}"/>
              </a:ext>
            </a:extLst>
          </p:cNvPr>
          <p:cNvSpPr txBox="1"/>
          <p:nvPr/>
        </p:nvSpPr>
        <p:spPr>
          <a:xfrm>
            <a:off x="5258511" y="714344"/>
            <a:ext cx="704687" cy="461665"/>
          </a:xfrm>
          <a:prstGeom prst="rect">
            <a:avLst/>
          </a:prstGeom>
          <a:noFill/>
        </p:spPr>
        <p:txBody>
          <a:bodyPr wrap="square" rtlCol="0">
            <a:spAutoFit/>
          </a:bodyPr>
          <a:lstStyle/>
          <a:p>
            <a:r>
              <a:rPr lang="en-US" sz="800" dirty="0">
                <a:solidFill>
                  <a:srgbClr val="FF0000"/>
                </a:solidFill>
              </a:rPr>
              <a:t>Same recall and precision </a:t>
            </a:r>
          </a:p>
        </p:txBody>
      </p:sp>
      <p:sp>
        <p:nvSpPr>
          <p:cNvPr id="18" name="object 3">
            <a:extLst>
              <a:ext uri="{FF2B5EF4-FFF2-40B4-BE49-F238E27FC236}">
                <a16:creationId xmlns:a16="http://schemas.microsoft.com/office/drawing/2014/main" id="{2FAAADBB-E334-083E-F1E7-CFAEA0A82AAA}"/>
              </a:ext>
            </a:extLst>
          </p:cNvPr>
          <p:cNvSpPr txBox="1">
            <a:spLocks/>
          </p:cNvSpPr>
          <p:nvPr/>
        </p:nvSpPr>
        <p:spPr>
          <a:xfrm>
            <a:off x="333375" y="0"/>
            <a:ext cx="4283888" cy="232756"/>
          </a:xfrm>
          <a:prstGeom prst="rect">
            <a:avLst/>
          </a:prstGeom>
        </p:spPr>
        <p:txBody>
          <a:bodyPr vert="horz" wrap="square" lIns="0" tIns="17145" rIns="0" bIns="0" rtlCol="0">
            <a:spAutoFit/>
          </a:bodyPr>
          <a:lstStyle>
            <a:lvl1pPr>
              <a:defRPr sz="1400" b="0" i="0">
                <a:solidFill>
                  <a:schemeClr val="bg1"/>
                </a:solidFill>
                <a:latin typeface="Arial"/>
                <a:ea typeface="+mj-ea"/>
                <a:cs typeface="Arial"/>
              </a:defRPr>
            </a:lvl1pPr>
          </a:lstStyle>
          <a:p>
            <a:pPr marL="12700">
              <a:spcBef>
                <a:spcPts val="135"/>
              </a:spcBef>
            </a:pPr>
            <a:r>
              <a:rPr lang="en-AU" spc="-10"/>
              <a:t>Evaluation</a:t>
            </a:r>
            <a:endParaRPr lang="en-AU" spc="-30" dirty="0"/>
          </a:p>
        </p:txBody>
      </p:sp>
    </p:spTree>
    <p:extLst>
      <p:ext uri="{BB962C8B-B14F-4D97-AF65-F5344CB8AC3E}">
        <p14:creationId xmlns:p14="http://schemas.microsoft.com/office/powerpoint/2010/main" val="145901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F0E6F-1B92-3D74-6ECD-385A38FB79F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3D72BC-31BB-07D8-B9F8-58DEA9E97732}"/>
              </a:ext>
            </a:extLst>
          </p:cNvPr>
          <p:cNvSpPr txBox="1">
            <a:spLocks noGrp="1"/>
          </p:cNvSpPr>
          <p:nvPr>
            <p:ph type="title"/>
          </p:nvPr>
        </p:nvSpPr>
        <p:spPr>
          <a:xfrm>
            <a:off x="333375" y="1838"/>
            <a:ext cx="4283888" cy="232756"/>
          </a:xfrm>
          <a:prstGeom prst="rect">
            <a:avLst/>
          </a:prstGeom>
        </p:spPr>
        <p:txBody>
          <a:bodyPr vert="horz" wrap="square" lIns="0" tIns="17145" rIns="0" bIns="0" rtlCol="0">
            <a:spAutoFit/>
          </a:bodyPr>
          <a:lstStyle/>
          <a:p>
            <a:pPr marL="12700">
              <a:spcBef>
                <a:spcPts val="135"/>
              </a:spcBef>
            </a:pPr>
            <a:r>
              <a:rPr lang="en-AU" spc="-10" dirty="0"/>
              <a:t>Evaluation</a:t>
            </a:r>
            <a:endParaRPr spc="-30" dirty="0"/>
          </a:p>
        </p:txBody>
      </p:sp>
      <p:pic>
        <p:nvPicPr>
          <p:cNvPr id="4" name="Picture 3">
            <a:extLst>
              <a:ext uri="{FF2B5EF4-FFF2-40B4-BE49-F238E27FC236}">
                <a16:creationId xmlns:a16="http://schemas.microsoft.com/office/drawing/2014/main" id="{D1936D19-AEBF-F995-9589-680977D8B67F}"/>
              </a:ext>
            </a:extLst>
          </p:cNvPr>
          <p:cNvPicPr>
            <a:picLocks noChangeAspect="1"/>
          </p:cNvPicPr>
          <p:nvPr/>
        </p:nvPicPr>
        <p:blipFill>
          <a:blip r:embed="rId3"/>
          <a:stretch>
            <a:fillRect/>
          </a:stretch>
        </p:blipFill>
        <p:spPr>
          <a:xfrm>
            <a:off x="569571" y="667456"/>
            <a:ext cx="5011904" cy="1149992"/>
          </a:xfrm>
          <a:prstGeom prst="rect">
            <a:avLst/>
          </a:prstGeom>
        </p:spPr>
      </p:pic>
      <p:sp>
        <p:nvSpPr>
          <p:cNvPr id="6" name="TextBox 5">
            <a:extLst>
              <a:ext uri="{FF2B5EF4-FFF2-40B4-BE49-F238E27FC236}">
                <a16:creationId xmlns:a16="http://schemas.microsoft.com/office/drawing/2014/main" id="{CA1D7FBC-AE8C-8C6D-4CE8-58D5463C875F}"/>
              </a:ext>
            </a:extLst>
          </p:cNvPr>
          <p:cNvSpPr txBox="1"/>
          <p:nvPr/>
        </p:nvSpPr>
        <p:spPr>
          <a:xfrm>
            <a:off x="265343" y="272260"/>
            <a:ext cx="5638800" cy="461665"/>
          </a:xfrm>
          <a:prstGeom prst="rect">
            <a:avLst/>
          </a:prstGeom>
          <a:noFill/>
        </p:spPr>
        <p:txBody>
          <a:bodyPr wrap="square">
            <a:spAutoFit/>
          </a:bodyPr>
          <a:lstStyle/>
          <a:p>
            <a:r>
              <a:rPr lang="en-AU" sz="1200" b="1" spc="-10" dirty="0">
                <a:latin typeface="Arial"/>
                <a:cs typeface="Arial"/>
              </a:rPr>
              <a:t>RQ</a:t>
            </a:r>
            <a:r>
              <a:rPr lang="en-US" altLang="zh-CN" sz="1200" b="1" spc="-10" dirty="0">
                <a:latin typeface="Arial"/>
                <a:cs typeface="Arial"/>
              </a:rPr>
              <a:t>3</a:t>
            </a:r>
            <a:r>
              <a:rPr lang="zh-CN" altLang="en-US" sz="1200" b="1" spc="-10" dirty="0">
                <a:latin typeface="Arial"/>
                <a:cs typeface="Arial"/>
              </a:rPr>
              <a:t> </a:t>
            </a:r>
            <a:r>
              <a:rPr lang="en-AU" sz="1200" b="1" dirty="0"/>
              <a:t>Component Analysis</a:t>
            </a:r>
            <a:r>
              <a:rPr lang="en-AU" sz="1200" dirty="0"/>
              <a:t>: What is the impact of each</a:t>
            </a:r>
            <a:r>
              <a:rPr lang="zh-CN" altLang="en-US" sz="1200" dirty="0"/>
              <a:t> </a:t>
            </a:r>
            <a:r>
              <a:rPr lang="en-AU" sz="1200" dirty="0"/>
              <a:t>optimization? We use ablation to quantify the contributions of</a:t>
            </a:r>
            <a:r>
              <a:rPr lang="zh-CN" altLang="en-US" sz="1200" dirty="0"/>
              <a:t> </a:t>
            </a:r>
            <a:r>
              <a:rPr lang="en-AU" sz="1200" dirty="0"/>
              <a:t>selective widening and MVFG.</a:t>
            </a:r>
          </a:p>
        </p:txBody>
      </p:sp>
      <p:sp>
        <p:nvSpPr>
          <p:cNvPr id="8" name="TextBox 7">
            <a:extLst>
              <a:ext uri="{FF2B5EF4-FFF2-40B4-BE49-F238E27FC236}">
                <a16:creationId xmlns:a16="http://schemas.microsoft.com/office/drawing/2014/main" id="{38CD4603-B3B2-38D7-9AB7-F424C43EAA3A}"/>
              </a:ext>
            </a:extLst>
          </p:cNvPr>
          <p:cNvSpPr txBox="1"/>
          <p:nvPr/>
        </p:nvSpPr>
        <p:spPr>
          <a:xfrm>
            <a:off x="233072" y="1783323"/>
            <a:ext cx="6088083" cy="246221"/>
          </a:xfrm>
          <a:prstGeom prst="rect">
            <a:avLst/>
          </a:prstGeom>
          <a:noFill/>
        </p:spPr>
        <p:txBody>
          <a:bodyPr wrap="square">
            <a:spAutoFit/>
          </a:bodyPr>
          <a:lstStyle/>
          <a:p>
            <a:pPr>
              <a:buNone/>
            </a:pPr>
            <a:r>
              <a:rPr lang="en-AU" sz="1000" dirty="0">
                <a:solidFill>
                  <a:srgbClr val="3333B3"/>
                </a:solidFill>
                <a:latin typeface="Helvetica" pitchFamily="2" charset="0"/>
              </a:rPr>
              <a:t>Table: </a:t>
            </a:r>
            <a:r>
              <a:rPr lang="en-AU" sz="1000" dirty="0">
                <a:latin typeface="Helvetica" pitchFamily="2" charset="0"/>
              </a:rPr>
              <a:t>Comparison of average widened variables and analysis time for</a:t>
            </a:r>
            <a:r>
              <a:rPr lang="zh-CN" altLang="en-US" sz="1000" dirty="0">
                <a:latin typeface="Helvetica" pitchFamily="2" charset="0"/>
              </a:rPr>
              <a:t> </a:t>
            </a:r>
            <a:r>
              <a:rPr lang="en-AU" sz="1000" dirty="0">
                <a:latin typeface="Helvetica" pitchFamily="2" charset="0"/>
              </a:rPr>
              <a:t>CSA and </a:t>
            </a:r>
            <a:r>
              <a:rPr lang="en-AU" sz="1000" dirty="0" err="1">
                <a:latin typeface="Helvetica" pitchFamily="2" charset="0"/>
              </a:rPr>
              <a:t>SiftAbs</a:t>
            </a:r>
            <a:r>
              <a:rPr lang="en-AU" sz="1000" dirty="0">
                <a:latin typeface="Helvetica" pitchFamily="2" charset="0"/>
              </a:rPr>
              <a:t> across projects.</a:t>
            </a:r>
          </a:p>
        </p:txBody>
      </p:sp>
      <p:pic>
        <p:nvPicPr>
          <p:cNvPr id="10" name="Picture 9" descr="A graph with green and red dots&#10;&#10;AI-generated content may be incorrect.">
            <a:extLst>
              <a:ext uri="{FF2B5EF4-FFF2-40B4-BE49-F238E27FC236}">
                <a16:creationId xmlns:a16="http://schemas.microsoft.com/office/drawing/2014/main" id="{038FCF22-19B9-77E9-6339-4B20B5593D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1414" y="1993085"/>
            <a:ext cx="2068192" cy="1198391"/>
          </a:xfrm>
          <a:prstGeom prst="rect">
            <a:avLst/>
          </a:prstGeom>
        </p:spPr>
      </p:pic>
      <p:pic>
        <p:nvPicPr>
          <p:cNvPr id="12" name="Picture 11" descr="A graph of different colored bars&#10;&#10;AI-generated content may be incorrect.">
            <a:extLst>
              <a:ext uri="{FF2B5EF4-FFF2-40B4-BE49-F238E27FC236}">
                <a16:creationId xmlns:a16="http://schemas.microsoft.com/office/drawing/2014/main" id="{3DEBFFF2-06CB-D473-3D9A-A06112D731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437" y="1974375"/>
            <a:ext cx="2571910" cy="1215050"/>
          </a:xfrm>
          <a:prstGeom prst="rect">
            <a:avLst/>
          </a:prstGeom>
        </p:spPr>
      </p:pic>
      <p:sp>
        <p:nvSpPr>
          <p:cNvPr id="16" name="TextBox 15">
            <a:extLst>
              <a:ext uri="{FF2B5EF4-FFF2-40B4-BE49-F238E27FC236}">
                <a16:creationId xmlns:a16="http://schemas.microsoft.com/office/drawing/2014/main" id="{25A5888B-3C3C-6911-9EBE-44D14A9777B7}"/>
              </a:ext>
            </a:extLst>
          </p:cNvPr>
          <p:cNvSpPr txBox="1"/>
          <p:nvPr/>
        </p:nvSpPr>
        <p:spPr>
          <a:xfrm>
            <a:off x="3909992" y="3136429"/>
            <a:ext cx="2306664" cy="230832"/>
          </a:xfrm>
          <a:prstGeom prst="rect">
            <a:avLst/>
          </a:prstGeom>
          <a:noFill/>
        </p:spPr>
        <p:txBody>
          <a:bodyPr wrap="square">
            <a:spAutoFit/>
          </a:bodyPr>
          <a:lstStyle/>
          <a:p>
            <a:pPr>
              <a:buNone/>
            </a:pPr>
            <a:r>
              <a:rPr lang="en-AU" sz="900" dirty="0">
                <a:solidFill>
                  <a:srgbClr val="3333B3"/>
                </a:solidFill>
                <a:latin typeface="Helvetica" pitchFamily="2" charset="0"/>
              </a:rPr>
              <a:t>Figure: </a:t>
            </a:r>
            <a:r>
              <a:rPr lang="en-AU" sz="900" dirty="0">
                <a:latin typeface="Helvetica" pitchFamily="2" charset="0"/>
              </a:rPr>
              <a:t>Speed-up Ratio</a:t>
            </a:r>
          </a:p>
        </p:txBody>
      </p:sp>
      <p:sp>
        <p:nvSpPr>
          <p:cNvPr id="18" name="Slide Number Placeholder 17">
            <a:extLst>
              <a:ext uri="{FF2B5EF4-FFF2-40B4-BE49-F238E27FC236}">
                <a16:creationId xmlns:a16="http://schemas.microsoft.com/office/drawing/2014/main" id="{5B0A9911-8B5A-9BEF-78E6-67A6B9859945}"/>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11</a:t>
            </a:fld>
            <a:endParaRPr lang="en-AU" dirty="0"/>
          </a:p>
        </p:txBody>
      </p:sp>
      <p:cxnSp>
        <p:nvCxnSpPr>
          <p:cNvPr id="40" name="Straight Arrow Connector 39">
            <a:extLst>
              <a:ext uri="{FF2B5EF4-FFF2-40B4-BE49-F238E27FC236}">
                <a16:creationId xmlns:a16="http://schemas.microsoft.com/office/drawing/2014/main" id="{3B9C79E1-D153-F0DB-E2CE-D7D421A5E9FA}"/>
              </a:ext>
            </a:extLst>
          </p:cNvPr>
          <p:cNvCxnSpPr>
            <a:cxnSpLocks/>
          </p:cNvCxnSpPr>
          <p:nvPr/>
        </p:nvCxnSpPr>
        <p:spPr>
          <a:xfrm flipH="1">
            <a:off x="5286375" y="768737"/>
            <a:ext cx="133936" cy="199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58FAF9F-5F95-F497-4BB4-A6909E3DC2AB}"/>
              </a:ext>
            </a:extLst>
          </p:cNvPr>
          <p:cNvSpPr txBox="1"/>
          <p:nvPr/>
        </p:nvSpPr>
        <p:spPr>
          <a:xfrm>
            <a:off x="5164586" y="496325"/>
            <a:ext cx="1225963" cy="338554"/>
          </a:xfrm>
          <a:prstGeom prst="rect">
            <a:avLst/>
          </a:prstGeom>
          <a:noFill/>
        </p:spPr>
        <p:txBody>
          <a:bodyPr wrap="square" rtlCol="0">
            <a:spAutoFit/>
          </a:bodyPr>
          <a:lstStyle/>
          <a:p>
            <a:r>
              <a:rPr lang="en-US" sz="800" dirty="0">
                <a:solidFill>
                  <a:srgbClr val="FF0000"/>
                </a:solidFill>
              </a:rPr>
              <a:t>MVFG</a:t>
            </a:r>
            <a:r>
              <a:rPr lang="zh-CN" altLang="en-US" sz="800" dirty="0">
                <a:solidFill>
                  <a:srgbClr val="FF0000"/>
                </a:solidFill>
              </a:rPr>
              <a:t> </a:t>
            </a:r>
            <a:r>
              <a:rPr lang="en-US" altLang="zh-CN" sz="800" dirty="0">
                <a:solidFill>
                  <a:srgbClr val="FF0000"/>
                </a:solidFill>
              </a:rPr>
              <a:t>Construction</a:t>
            </a:r>
            <a:r>
              <a:rPr lang="zh-CN" altLang="en-US" sz="800" dirty="0">
                <a:solidFill>
                  <a:srgbClr val="FF0000"/>
                </a:solidFill>
              </a:rPr>
              <a:t> </a:t>
            </a:r>
            <a:r>
              <a:rPr lang="en-US" altLang="zh-CN" sz="800" dirty="0">
                <a:solidFill>
                  <a:srgbClr val="FF0000"/>
                </a:solidFill>
              </a:rPr>
              <a:t>cause overhead</a:t>
            </a:r>
            <a:endParaRPr lang="en-US" sz="800" dirty="0">
              <a:solidFill>
                <a:srgbClr val="FF0000"/>
              </a:solidFill>
            </a:endParaRPr>
          </a:p>
        </p:txBody>
      </p:sp>
      <p:cxnSp>
        <p:nvCxnSpPr>
          <p:cNvPr id="45" name="Straight Arrow Connector 44">
            <a:extLst>
              <a:ext uri="{FF2B5EF4-FFF2-40B4-BE49-F238E27FC236}">
                <a16:creationId xmlns:a16="http://schemas.microsoft.com/office/drawing/2014/main" id="{4D6C2F5B-4585-5C08-2341-F0B46DD9C16A}"/>
              </a:ext>
            </a:extLst>
          </p:cNvPr>
          <p:cNvCxnSpPr>
            <a:cxnSpLocks/>
          </p:cNvCxnSpPr>
          <p:nvPr/>
        </p:nvCxnSpPr>
        <p:spPr>
          <a:xfrm flipH="1">
            <a:off x="5305665" y="1757659"/>
            <a:ext cx="247879" cy="386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099F1744-5568-12A9-109B-7785052F8FED}"/>
              </a:ext>
            </a:extLst>
          </p:cNvPr>
          <p:cNvSpPr/>
          <p:nvPr/>
        </p:nvSpPr>
        <p:spPr>
          <a:xfrm>
            <a:off x="2740676" y="911255"/>
            <a:ext cx="551446" cy="899738"/>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9DE3E02A-DAF0-2A45-CD3F-DD4A8AFAC2F4}"/>
              </a:ext>
            </a:extLst>
          </p:cNvPr>
          <p:cNvSpPr/>
          <p:nvPr/>
        </p:nvSpPr>
        <p:spPr>
          <a:xfrm>
            <a:off x="4190498" y="895840"/>
            <a:ext cx="551446" cy="915153"/>
          </a:xfrm>
          <a:prstGeom prst="rect">
            <a:avLst/>
          </a:prstGeom>
          <a:no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10C81B35-C5E1-AA61-4353-DDC53A2FC94E}"/>
              </a:ext>
            </a:extLst>
          </p:cNvPr>
          <p:cNvSpPr txBox="1"/>
          <p:nvPr/>
        </p:nvSpPr>
        <p:spPr>
          <a:xfrm>
            <a:off x="5274481" y="1355783"/>
            <a:ext cx="1072496" cy="461665"/>
          </a:xfrm>
          <a:prstGeom prst="rect">
            <a:avLst/>
          </a:prstGeom>
          <a:noFill/>
        </p:spPr>
        <p:txBody>
          <a:bodyPr wrap="square" rtlCol="0">
            <a:spAutoFit/>
          </a:bodyPr>
          <a:lstStyle/>
          <a:p>
            <a:r>
              <a:rPr lang="en-US" sz="800" dirty="0">
                <a:solidFill>
                  <a:srgbClr val="FF0000"/>
                </a:solidFill>
              </a:rPr>
              <a:t>Speed up ratio grows with program size</a:t>
            </a:r>
          </a:p>
        </p:txBody>
      </p:sp>
      <p:cxnSp>
        <p:nvCxnSpPr>
          <p:cNvPr id="50" name="Straight Arrow Connector 49">
            <a:extLst>
              <a:ext uri="{FF2B5EF4-FFF2-40B4-BE49-F238E27FC236}">
                <a16:creationId xmlns:a16="http://schemas.microsoft.com/office/drawing/2014/main" id="{9F06B14B-8CA4-411A-57DC-44EB693DBFD3}"/>
              </a:ext>
            </a:extLst>
          </p:cNvPr>
          <p:cNvCxnSpPr>
            <a:cxnSpLocks/>
          </p:cNvCxnSpPr>
          <p:nvPr/>
        </p:nvCxnSpPr>
        <p:spPr>
          <a:xfrm flipH="1" flipV="1">
            <a:off x="2661703" y="3014579"/>
            <a:ext cx="305841" cy="139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723BA648-1E51-DB51-917D-D888C3F07B39}"/>
              </a:ext>
            </a:extLst>
          </p:cNvPr>
          <p:cNvSpPr txBox="1"/>
          <p:nvPr/>
        </p:nvSpPr>
        <p:spPr>
          <a:xfrm>
            <a:off x="2898234" y="2743885"/>
            <a:ext cx="902503" cy="584775"/>
          </a:xfrm>
          <a:prstGeom prst="rect">
            <a:avLst/>
          </a:prstGeom>
          <a:noFill/>
        </p:spPr>
        <p:txBody>
          <a:bodyPr wrap="square" rtlCol="0">
            <a:spAutoFit/>
          </a:bodyPr>
          <a:lstStyle/>
          <a:p>
            <a:r>
              <a:rPr lang="en-US" sz="800" dirty="0">
                <a:solidFill>
                  <a:srgbClr val="FF0000"/>
                </a:solidFill>
              </a:rPr>
              <a:t>Our approach significantly improve runtime</a:t>
            </a:r>
          </a:p>
        </p:txBody>
      </p:sp>
      <p:sp>
        <p:nvSpPr>
          <p:cNvPr id="21" name="TextBox 20">
            <a:extLst>
              <a:ext uri="{FF2B5EF4-FFF2-40B4-BE49-F238E27FC236}">
                <a16:creationId xmlns:a16="http://schemas.microsoft.com/office/drawing/2014/main" id="{3C626FBF-A317-CE97-3317-BAD635E48EDD}"/>
              </a:ext>
            </a:extLst>
          </p:cNvPr>
          <p:cNvSpPr txBox="1"/>
          <p:nvPr/>
        </p:nvSpPr>
        <p:spPr>
          <a:xfrm>
            <a:off x="1031863" y="3136429"/>
            <a:ext cx="2306664" cy="230832"/>
          </a:xfrm>
          <a:prstGeom prst="rect">
            <a:avLst/>
          </a:prstGeom>
          <a:noFill/>
        </p:spPr>
        <p:txBody>
          <a:bodyPr wrap="square">
            <a:spAutoFit/>
          </a:bodyPr>
          <a:lstStyle/>
          <a:p>
            <a:pPr>
              <a:buNone/>
            </a:pPr>
            <a:r>
              <a:rPr lang="en-AU" sz="900" dirty="0">
                <a:solidFill>
                  <a:srgbClr val="3333B3"/>
                </a:solidFill>
                <a:latin typeface="Helvetica" pitchFamily="2" charset="0"/>
              </a:rPr>
              <a:t>Figure: </a:t>
            </a:r>
            <a:r>
              <a:rPr lang="en-AU" sz="900" dirty="0">
                <a:latin typeface="Helvetica" pitchFamily="2" charset="0"/>
              </a:rPr>
              <a:t>Analysis</a:t>
            </a:r>
            <a:r>
              <a:rPr lang="zh-CN" altLang="en-US" sz="900" dirty="0">
                <a:latin typeface="Helvetica" pitchFamily="2" charset="0"/>
              </a:rPr>
              <a:t> </a:t>
            </a:r>
            <a:r>
              <a:rPr lang="en-US" altLang="zh-CN" sz="900" dirty="0">
                <a:latin typeface="Helvetica" pitchFamily="2" charset="0"/>
              </a:rPr>
              <a:t>Time</a:t>
            </a:r>
            <a:endParaRPr lang="en-AU" sz="900" dirty="0">
              <a:latin typeface="Helvetica" pitchFamily="2" charset="0"/>
            </a:endParaRPr>
          </a:p>
        </p:txBody>
      </p:sp>
    </p:spTree>
    <p:extLst>
      <p:ext uri="{BB962C8B-B14F-4D97-AF65-F5344CB8AC3E}">
        <p14:creationId xmlns:p14="http://schemas.microsoft.com/office/powerpoint/2010/main" val="215728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0"/>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42"/>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47" grpId="0" animBg="1"/>
      <p:bldP spid="48" grpId="0" animBg="1"/>
      <p:bldP spid="49"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3375" y="16042"/>
            <a:ext cx="3568149" cy="232756"/>
          </a:xfrm>
          <a:prstGeom prst="rect">
            <a:avLst/>
          </a:prstGeom>
        </p:spPr>
        <p:txBody>
          <a:bodyPr vert="horz" wrap="square" lIns="0" tIns="17145" rIns="0" bIns="0" rtlCol="0">
            <a:spAutoFit/>
          </a:bodyPr>
          <a:lstStyle/>
          <a:p>
            <a:pPr marL="12700">
              <a:spcBef>
                <a:spcPts val="135"/>
              </a:spcBef>
            </a:pPr>
            <a:r>
              <a:rPr spc="-65" dirty="0"/>
              <a:t>Conclusion</a:t>
            </a:r>
          </a:p>
        </p:txBody>
      </p:sp>
      <p:sp>
        <p:nvSpPr>
          <p:cNvPr id="5" name="object 5"/>
          <p:cNvSpPr txBox="1">
            <a:spLocks noGrp="1"/>
          </p:cNvSpPr>
          <p:nvPr>
            <p:ph type="body" idx="1"/>
          </p:nvPr>
        </p:nvSpPr>
        <p:spPr>
          <a:xfrm>
            <a:off x="866775" y="797987"/>
            <a:ext cx="4724400" cy="1631409"/>
          </a:xfrm>
          <a:prstGeom prst="rect">
            <a:avLst/>
          </a:prstGeom>
        </p:spPr>
        <p:txBody>
          <a:bodyPr vert="horz" wrap="square" lIns="0" tIns="6985" rIns="0" bIns="0" rtlCol="0">
            <a:spAutoFit/>
          </a:bodyPr>
          <a:lstStyle/>
          <a:p>
            <a:pPr marL="184142" marR="234940" indent="-171442">
              <a:lnSpc>
                <a:spcPct val="102600"/>
              </a:lnSpc>
              <a:spcBef>
                <a:spcPts val="55"/>
              </a:spcBef>
              <a:buFont typeface="Wingdings" pitchFamily="2" charset="2"/>
              <a:buChar char="v"/>
            </a:pPr>
            <a:r>
              <a:rPr sz="1200" spc="-50" dirty="0"/>
              <a:t>Selective</a:t>
            </a:r>
            <a:r>
              <a:rPr sz="1200" spc="-25" dirty="0"/>
              <a:t> </a:t>
            </a:r>
            <a:r>
              <a:rPr sz="1200" spc="-40" dirty="0"/>
              <a:t>widening</a:t>
            </a:r>
            <a:r>
              <a:rPr sz="1200" spc="-35" dirty="0"/>
              <a:t> </a:t>
            </a:r>
            <a:r>
              <a:rPr sz="1200" spc="-45" dirty="0"/>
              <a:t>guided</a:t>
            </a:r>
            <a:r>
              <a:rPr sz="1200" spc="-25" dirty="0"/>
              <a:t> </a:t>
            </a:r>
            <a:r>
              <a:rPr sz="1200" spc="-10" dirty="0"/>
              <a:t>by</a:t>
            </a:r>
            <a:r>
              <a:rPr sz="1200" spc="-20" dirty="0"/>
              <a:t> </a:t>
            </a:r>
            <a:r>
              <a:rPr sz="1200" spc="-60" dirty="0"/>
              <a:t>value-</a:t>
            </a:r>
            <a:r>
              <a:rPr sz="1200" spc="-10" dirty="0"/>
              <a:t>flow</a:t>
            </a:r>
            <a:r>
              <a:rPr sz="1200" spc="-25" dirty="0"/>
              <a:t> </a:t>
            </a:r>
            <a:r>
              <a:rPr sz="1200" spc="-60" dirty="0"/>
              <a:t>analysis</a:t>
            </a:r>
            <a:r>
              <a:rPr sz="1200" spc="-15" dirty="0"/>
              <a:t> </a:t>
            </a:r>
            <a:r>
              <a:rPr sz="1200" spc="-50" dirty="0"/>
              <a:t>improves </a:t>
            </a:r>
            <a:r>
              <a:rPr lang="en-AU" sz="1200" dirty="0"/>
              <a:t>efficiency</a:t>
            </a:r>
            <a:r>
              <a:rPr sz="1200" spc="10" dirty="0"/>
              <a:t> </a:t>
            </a:r>
            <a:r>
              <a:rPr sz="1200" spc="-45" dirty="0"/>
              <a:t>and</a:t>
            </a:r>
            <a:r>
              <a:rPr sz="1200" spc="15" dirty="0"/>
              <a:t> </a:t>
            </a:r>
            <a:r>
              <a:rPr lang="en-AU" sz="1200" spc="15" dirty="0"/>
              <a:t>preserve </a:t>
            </a:r>
            <a:r>
              <a:rPr sz="1200" spc="-50" dirty="0"/>
              <a:t>precision</a:t>
            </a:r>
            <a:r>
              <a:rPr sz="1200" spc="15" dirty="0"/>
              <a:t> </a:t>
            </a:r>
            <a:r>
              <a:rPr sz="1200" dirty="0"/>
              <a:t>in</a:t>
            </a:r>
            <a:r>
              <a:rPr sz="1200" spc="15" dirty="0"/>
              <a:t> </a:t>
            </a:r>
            <a:r>
              <a:rPr sz="1200" spc="-25" dirty="0"/>
              <a:t>abstract</a:t>
            </a:r>
            <a:r>
              <a:rPr sz="1200" spc="15" dirty="0"/>
              <a:t> </a:t>
            </a:r>
            <a:r>
              <a:rPr sz="1200" spc="-10" dirty="0"/>
              <a:t>interpretation.</a:t>
            </a:r>
          </a:p>
          <a:p>
            <a:pPr marL="184142" marR="278118" indent="-171442">
              <a:lnSpc>
                <a:spcPct val="102699"/>
              </a:lnSpc>
              <a:spcBef>
                <a:spcPts val="300"/>
              </a:spcBef>
              <a:buFont typeface="Wingdings" pitchFamily="2" charset="2"/>
              <a:buChar char="v"/>
            </a:pPr>
            <a:r>
              <a:rPr sz="1200" spc="-20" dirty="0"/>
              <a:t>Modular</a:t>
            </a:r>
            <a:r>
              <a:rPr sz="1200" spc="5" dirty="0"/>
              <a:t> </a:t>
            </a:r>
            <a:r>
              <a:rPr lang="en-AU" sz="1200" spc="-60" dirty="0"/>
              <a:t>V</a:t>
            </a:r>
            <a:r>
              <a:rPr sz="1200" spc="-60" dirty="0" err="1"/>
              <a:t>alue</a:t>
            </a:r>
            <a:r>
              <a:rPr sz="1200" spc="-60" dirty="0"/>
              <a:t>-</a:t>
            </a:r>
            <a:r>
              <a:rPr lang="en-AU" sz="1200" spc="-10" dirty="0"/>
              <a:t>F</a:t>
            </a:r>
            <a:r>
              <a:rPr sz="1200" spc="-10" dirty="0"/>
              <a:t>low</a:t>
            </a:r>
            <a:r>
              <a:rPr sz="1200" spc="5" dirty="0"/>
              <a:t> </a:t>
            </a:r>
            <a:r>
              <a:rPr lang="en-AU" sz="1200" spc="-35" dirty="0"/>
              <a:t>G</a:t>
            </a:r>
            <a:r>
              <a:rPr sz="1200" spc="-35" dirty="0" err="1"/>
              <a:t>raph</a:t>
            </a:r>
            <a:r>
              <a:rPr lang="en-AU" sz="1200" spc="-35" dirty="0"/>
              <a:t> (MVFG)</a:t>
            </a:r>
            <a:r>
              <a:rPr sz="1200" spc="10" dirty="0"/>
              <a:t> </a:t>
            </a:r>
            <a:r>
              <a:rPr sz="1200" spc="-85" dirty="0"/>
              <a:t>enables</a:t>
            </a:r>
            <a:r>
              <a:rPr sz="1200" spc="10" dirty="0"/>
              <a:t> </a:t>
            </a:r>
            <a:r>
              <a:rPr sz="1200" spc="-75" dirty="0"/>
              <a:t>precise</a:t>
            </a:r>
            <a:r>
              <a:rPr sz="1200" spc="5" dirty="0"/>
              <a:t> </a:t>
            </a:r>
            <a:r>
              <a:rPr sz="1200" spc="-45" dirty="0"/>
              <a:t>cycle</a:t>
            </a:r>
            <a:r>
              <a:rPr sz="1200" spc="10" dirty="0"/>
              <a:t> </a:t>
            </a:r>
            <a:r>
              <a:rPr sz="1200" spc="-25" dirty="0"/>
              <a:t>detection </a:t>
            </a:r>
            <a:r>
              <a:rPr sz="1200" spc="-80" dirty="0"/>
              <a:t>across</a:t>
            </a:r>
            <a:r>
              <a:rPr sz="1200" spc="35" dirty="0"/>
              <a:t> </a:t>
            </a:r>
            <a:r>
              <a:rPr sz="1200" spc="-10" dirty="0"/>
              <a:t>procedures.</a:t>
            </a:r>
          </a:p>
          <a:p>
            <a:pPr marL="184142" marR="5080" indent="-171442">
              <a:lnSpc>
                <a:spcPct val="102600"/>
              </a:lnSpc>
              <a:spcBef>
                <a:spcPts val="300"/>
              </a:spcBef>
              <a:buFont typeface="Wingdings" pitchFamily="2" charset="2"/>
              <a:buChar char="v"/>
            </a:pPr>
            <a:r>
              <a:rPr sz="1200" dirty="0"/>
              <a:t>Our</a:t>
            </a:r>
            <a:r>
              <a:rPr sz="1200" spc="5" dirty="0"/>
              <a:t> </a:t>
            </a:r>
            <a:r>
              <a:rPr sz="1200" spc="-55" dirty="0"/>
              <a:t>approach</a:t>
            </a:r>
            <a:r>
              <a:rPr sz="1200" spc="5" dirty="0"/>
              <a:t> </a:t>
            </a:r>
            <a:r>
              <a:rPr sz="1200" spc="-80" dirty="0"/>
              <a:t>reduces</a:t>
            </a:r>
            <a:r>
              <a:rPr sz="1200" spc="5" dirty="0"/>
              <a:t> </a:t>
            </a:r>
            <a:r>
              <a:rPr sz="1200" spc="-30" dirty="0"/>
              <a:t>computational</a:t>
            </a:r>
            <a:r>
              <a:rPr sz="1200" spc="5" dirty="0"/>
              <a:t> </a:t>
            </a:r>
            <a:r>
              <a:rPr sz="1200" spc="-65" dirty="0"/>
              <a:t>overhead</a:t>
            </a:r>
            <a:r>
              <a:rPr sz="1200" spc="5" dirty="0"/>
              <a:t> </a:t>
            </a:r>
            <a:r>
              <a:rPr sz="1200" spc="-45" dirty="0"/>
              <a:t>and</a:t>
            </a:r>
            <a:r>
              <a:rPr sz="1200" spc="5" dirty="0"/>
              <a:t> </a:t>
            </a:r>
            <a:r>
              <a:rPr sz="1200" spc="-25" dirty="0"/>
              <a:t>maintains </a:t>
            </a:r>
            <a:r>
              <a:rPr sz="1200" spc="-70" dirty="0"/>
              <a:t>analysis</a:t>
            </a:r>
            <a:r>
              <a:rPr sz="1200" spc="60" dirty="0"/>
              <a:t> </a:t>
            </a:r>
            <a:r>
              <a:rPr sz="1200" spc="-10" dirty="0"/>
              <a:t>accuracy.</a:t>
            </a:r>
          </a:p>
          <a:p>
            <a:pPr marL="184142" marR="160013" indent="-171442">
              <a:lnSpc>
                <a:spcPct val="102600"/>
              </a:lnSpc>
              <a:spcBef>
                <a:spcPts val="295"/>
              </a:spcBef>
              <a:buFont typeface="Wingdings" pitchFamily="2" charset="2"/>
              <a:buChar char="v"/>
            </a:pPr>
            <a:r>
              <a:rPr sz="1200" spc="-25" dirty="0"/>
              <a:t>Future</a:t>
            </a:r>
            <a:r>
              <a:rPr sz="1200" spc="-30" dirty="0"/>
              <a:t> </a:t>
            </a:r>
            <a:r>
              <a:rPr sz="1200" spc="-10" dirty="0"/>
              <a:t>work:</a:t>
            </a:r>
            <a:r>
              <a:rPr sz="1200" spc="85" dirty="0"/>
              <a:t> </a:t>
            </a:r>
            <a:r>
              <a:rPr sz="1200" spc="-40" dirty="0"/>
              <a:t>extend</a:t>
            </a:r>
            <a:r>
              <a:rPr sz="1200" spc="-10" dirty="0"/>
              <a:t> </a:t>
            </a:r>
            <a:r>
              <a:rPr sz="1200" dirty="0"/>
              <a:t>to</a:t>
            </a:r>
            <a:r>
              <a:rPr sz="1200" spc="-10" dirty="0"/>
              <a:t> </a:t>
            </a:r>
            <a:r>
              <a:rPr sz="1200" spc="-25" dirty="0"/>
              <a:t>relational</a:t>
            </a:r>
            <a:r>
              <a:rPr sz="1200" spc="-10" dirty="0"/>
              <a:t> </a:t>
            </a:r>
            <a:r>
              <a:rPr sz="1200" spc="-55" dirty="0"/>
              <a:t>domains</a:t>
            </a:r>
            <a:r>
              <a:rPr sz="1200" spc="-10" dirty="0"/>
              <a:t> </a:t>
            </a:r>
            <a:r>
              <a:rPr sz="1200" dirty="0"/>
              <a:t>for</a:t>
            </a:r>
            <a:r>
              <a:rPr sz="1200" spc="-10" dirty="0"/>
              <a:t> </a:t>
            </a:r>
            <a:r>
              <a:rPr sz="1200" spc="-80" dirty="0"/>
              <a:t>even</a:t>
            </a:r>
            <a:r>
              <a:rPr sz="1200" spc="5" dirty="0"/>
              <a:t> </a:t>
            </a:r>
            <a:r>
              <a:rPr sz="1200" spc="-20" dirty="0"/>
              <a:t>greater </a:t>
            </a:r>
            <a:r>
              <a:rPr sz="1200" spc="-10" dirty="0"/>
              <a:t>precision.</a:t>
            </a:r>
          </a:p>
        </p:txBody>
      </p:sp>
      <p:sp>
        <p:nvSpPr>
          <p:cNvPr id="16" name="Slide Number Placeholder 15">
            <a:extLst>
              <a:ext uri="{FF2B5EF4-FFF2-40B4-BE49-F238E27FC236}">
                <a16:creationId xmlns:a16="http://schemas.microsoft.com/office/drawing/2014/main" id="{8AA06F56-837F-8D59-DE0D-3B16B8C08E5B}"/>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12</a:t>
            </a:fld>
            <a:endParaRPr lang="en-A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8118-C586-ECCF-581B-75A68838682B}"/>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5E25D03F-5B5E-AE84-F44F-191B4612FBBC}"/>
              </a:ext>
            </a:extLst>
          </p:cNvPr>
          <p:cNvSpPr>
            <a:spLocks noGrp="1"/>
          </p:cNvSpPr>
          <p:nvPr>
            <p:ph type="body" idx="1"/>
          </p:nvPr>
        </p:nvSpPr>
        <p:spPr>
          <a:xfrm>
            <a:off x="1905393" y="739775"/>
            <a:ext cx="2595055" cy="615553"/>
          </a:xfrm>
        </p:spPr>
        <p:txBody>
          <a:bodyPr/>
          <a:lstStyle/>
          <a:p>
            <a:r>
              <a:rPr lang="en-US" sz="4000" dirty="0"/>
              <a:t>Thank you</a:t>
            </a:r>
          </a:p>
        </p:txBody>
      </p:sp>
      <p:sp>
        <p:nvSpPr>
          <p:cNvPr id="19" name="Slide Number Placeholder 18">
            <a:extLst>
              <a:ext uri="{FF2B5EF4-FFF2-40B4-BE49-F238E27FC236}">
                <a16:creationId xmlns:a16="http://schemas.microsoft.com/office/drawing/2014/main" id="{AD863F8A-E016-1B24-8CE8-F6C6CF088194}"/>
              </a:ext>
            </a:extLst>
          </p:cNvPr>
          <p:cNvSpPr>
            <a:spLocks noGrp="1"/>
          </p:cNvSpPr>
          <p:nvPr>
            <p:ph type="sldNum" sz="quarter" idx="7"/>
          </p:nvPr>
        </p:nvSpPr>
        <p:spPr>
          <a:xfrm>
            <a:off x="4500448" y="2969774"/>
            <a:ext cx="1415225" cy="184666"/>
          </a:xfrm>
        </p:spPr>
        <p:txBody>
          <a:bodyPr/>
          <a:lstStyle/>
          <a:p>
            <a:fld id="{B6F15528-21DE-4FAA-801E-634DDDAF4B2B}" type="slidenum">
              <a:rPr lang="en-AU" smtClean="0"/>
              <a:t>13</a:t>
            </a:fld>
            <a:endParaRPr lang="en-AU"/>
          </a:p>
        </p:txBody>
      </p:sp>
      <p:pic>
        <p:nvPicPr>
          <p:cNvPr id="2" name="Picture 1">
            <a:extLst>
              <a:ext uri="{FF2B5EF4-FFF2-40B4-BE49-F238E27FC236}">
                <a16:creationId xmlns:a16="http://schemas.microsoft.com/office/drawing/2014/main" id="{839A19E8-173A-72DD-C609-431DEC8BF147}"/>
              </a:ext>
            </a:extLst>
          </p:cNvPr>
          <p:cNvPicPr>
            <a:picLocks noChangeAspect="1"/>
          </p:cNvPicPr>
          <p:nvPr/>
        </p:nvPicPr>
        <p:blipFill>
          <a:blip r:embed="rId3"/>
          <a:stretch>
            <a:fillRect/>
          </a:stretch>
        </p:blipFill>
        <p:spPr>
          <a:xfrm>
            <a:off x="257175" y="1757566"/>
            <a:ext cx="1094968" cy="1350021"/>
          </a:xfrm>
          <a:prstGeom prst="rect">
            <a:avLst/>
          </a:prstGeom>
        </p:spPr>
      </p:pic>
      <p:pic>
        <p:nvPicPr>
          <p:cNvPr id="3" name="Picture 2">
            <a:extLst>
              <a:ext uri="{FF2B5EF4-FFF2-40B4-BE49-F238E27FC236}">
                <a16:creationId xmlns:a16="http://schemas.microsoft.com/office/drawing/2014/main" id="{EF1432D5-3414-98C7-3C8F-9E685A271260}"/>
              </a:ext>
            </a:extLst>
          </p:cNvPr>
          <p:cNvPicPr>
            <a:picLocks noChangeAspect="1"/>
          </p:cNvPicPr>
          <p:nvPr/>
        </p:nvPicPr>
        <p:blipFill>
          <a:blip r:embed="rId4"/>
          <a:stretch>
            <a:fillRect/>
          </a:stretch>
        </p:blipFill>
        <p:spPr>
          <a:xfrm>
            <a:off x="1697175" y="1757566"/>
            <a:ext cx="1108161" cy="1350021"/>
          </a:xfrm>
          <a:prstGeom prst="rect">
            <a:avLst/>
          </a:prstGeom>
        </p:spPr>
      </p:pic>
      <p:pic>
        <p:nvPicPr>
          <p:cNvPr id="5" name="Picture 4">
            <a:extLst>
              <a:ext uri="{FF2B5EF4-FFF2-40B4-BE49-F238E27FC236}">
                <a16:creationId xmlns:a16="http://schemas.microsoft.com/office/drawing/2014/main" id="{7C36F2B3-C79B-EE55-DBEC-2BC7A3D6A613}"/>
              </a:ext>
            </a:extLst>
          </p:cNvPr>
          <p:cNvPicPr>
            <a:picLocks noChangeAspect="1"/>
          </p:cNvPicPr>
          <p:nvPr/>
        </p:nvPicPr>
        <p:blipFill>
          <a:blip r:embed="rId5"/>
          <a:stretch>
            <a:fillRect/>
          </a:stretch>
        </p:blipFill>
        <p:spPr>
          <a:xfrm>
            <a:off x="3137175" y="1757566"/>
            <a:ext cx="1110791" cy="1344410"/>
          </a:xfrm>
          <a:prstGeom prst="rect">
            <a:avLst/>
          </a:prstGeom>
        </p:spPr>
      </p:pic>
      <p:pic>
        <p:nvPicPr>
          <p:cNvPr id="6" name="Picture 5">
            <a:extLst>
              <a:ext uri="{FF2B5EF4-FFF2-40B4-BE49-F238E27FC236}">
                <a16:creationId xmlns:a16="http://schemas.microsoft.com/office/drawing/2014/main" id="{E58B9222-6E89-ED6F-3FBE-D30A66D18123}"/>
              </a:ext>
            </a:extLst>
          </p:cNvPr>
          <p:cNvPicPr>
            <a:picLocks noChangeAspect="1"/>
          </p:cNvPicPr>
          <p:nvPr/>
        </p:nvPicPr>
        <p:blipFill>
          <a:blip r:embed="rId6"/>
          <a:stretch>
            <a:fillRect/>
          </a:stretch>
        </p:blipFill>
        <p:spPr>
          <a:xfrm>
            <a:off x="4577175" y="1730375"/>
            <a:ext cx="1123763" cy="1383437"/>
          </a:xfrm>
          <a:prstGeom prst="rect">
            <a:avLst/>
          </a:prstGeom>
        </p:spPr>
      </p:pic>
    </p:spTree>
    <p:extLst>
      <p:ext uri="{BB962C8B-B14F-4D97-AF65-F5344CB8AC3E}">
        <p14:creationId xmlns:p14="http://schemas.microsoft.com/office/powerpoint/2010/main" val="3658869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32869</TotalTime>
  <Words>2722</Words>
  <Application>Microsoft Macintosh PowerPoint</Application>
  <PresentationFormat>Custom</PresentationFormat>
  <Paragraphs>182</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Cambria Math</vt:lpstr>
      <vt:lpstr>Helvetica</vt:lpstr>
      <vt:lpstr>Wingdings</vt:lpstr>
      <vt:lpstr>Office Theme</vt:lpstr>
      <vt:lpstr>PowerPoint Presentation</vt:lpstr>
      <vt:lpstr>Background: Abstract Interpretation &amp; Widening</vt:lpstr>
      <vt:lpstr>PowerPoint Presentation</vt:lpstr>
      <vt:lpstr>Insight: Value-Flow Cycle &amp; Selective Widening</vt:lpstr>
      <vt:lpstr>Insight: Value-Flow Cycle &amp; Selective Widening</vt:lpstr>
      <vt:lpstr>Challenge 1: Spurious Inter-procedural Value-Flow Cycle</vt:lpstr>
      <vt:lpstr>Approach 1: Modular Value-Flow Graph (MVFG) Construction</vt:lpstr>
      <vt:lpstr>Implementation: Widening variables identification on MVFG</vt:lpstr>
      <vt:lpstr>Evaluation</vt:lpstr>
      <vt:lpstr>PowerPoint Presentation</vt:lpstr>
      <vt:lpstr>Evaluation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Abstract Interpretation via Selective Widening</dc:title>
  <dc:subject>Instructions, Tutorials, Guidelines</dc:subject>
  <dc:creator>Jiawei Wang  Xiao Cheng  Yulei Sui</dc:creator>
  <cp:lastModifiedBy>Jiawei Wang</cp:lastModifiedBy>
  <cp:revision>58</cp:revision>
  <dcterms:created xsi:type="dcterms:W3CDTF">2025-09-22T11:00:22Z</dcterms:created>
  <dcterms:modified xsi:type="dcterms:W3CDTF">2025-10-18T08:18:01Z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2025-09-22T00:00:00Z</vt:filetime>
  </property>
  <property fmtid="{D5CDD505-2E9C-101B-9397-08002B2CF9AE}" pid="3" name="Creator">
    <vt:lpwstr>LaTeX with Beamer class</vt:lpwstr>
  </property>
  <property fmtid="{D5CDD505-2E9C-101B-9397-08002B2CF9AE}" pid="4" name="LastSaved">
    <vt:filetime>2025-09-22T00:00:00Z</vt:filetime>
  </property>
  <property fmtid="{D5CDD505-2E9C-101B-9397-08002B2CF9AE}" pid="5" name="Producer">
    <vt:lpwstr>macOS Version 15.7 (Build 24G222) Quartz PDFContext</vt:lpwstr>
  </property>
</Properties>
</file>